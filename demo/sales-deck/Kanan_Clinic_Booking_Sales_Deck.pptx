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them nod. Don't oversell. Ask: "Which of these sounds like your Tuesday?"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Personalize. Use first names. Don't say 'we leverage AI' — say 'we built a thing that does X'.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30-second product. Three audiences, three views.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live demo here if there's bandwidth.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the audit log angle — owners love that they can verify.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Doctors get value too — less admin interruptions during chair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where upgrade pressure to Premium happens organically.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Reception runs on one device. Nobody shares passwords — the kiosk is signed in as 'terminal' and every booking-changing action requires a 6-digit PIN from a real nurse or doctor. Capture: open /home on a touchscreen and tap Pending to show the PIN modal.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with finger on screen: 'Nurse — doctor — done.' Sell the visibility: owner can see at a glance which rooms are busy. Capture: open the lockscreen + tap Check in on a pending row to show the room picker.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Before this redesign, owners had to click 'Working hours', 'My account', 'Doctors &amp; nurses' — three pages. Now it's one card per person. Capture: open /owner/staff and click a doctor card to expand the Working hours + Leave entitlement sections.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PDPA + SSM both ask 'who did this and when?' — your answer is one filter + a screenshot. Lean on this slide for multi-doctor clinics worried about discipline or disputes. Capture: /owner/hr-approvals with at least one pending row visible, and /owner/audit showing a few booking rows with patient names + status transitions.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them stare at this for 10 seconds. Don't talk through it line by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8 is the differentiator. Lead with it: 'We don't ghost you after launch.'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Don't ask for the sale here. Ask if they have 30 seconds to try the demo on their phone right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011680"/>
            <a:ext cx="121916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0" b="1" i="0">
                <a:solidFill>
                  <a:srgbClr val="1B2A4A"/>
                </a:solidFill>
                <a:latin typeface="Georgia"/>
              </a:rPr>
              <a:t>kanan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92608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 i="1">
                <a:solidFill>
                  <a:srgbClr val="C9A227"/>
                </a:solidFill>
                <a:latin typeface="Helvetica"/>
              </a:rPr>
              <a:t>your trusted right hand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749039"/>
            <a:ext cx="121916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 i="0">
                <a:solidFill>
                  <a:srgbClr val="1B2A4A"/>
                </a:solidFill>
                <a:latin typeface="Helvetica"/>
              </a:rPr>
              <a:t>A booking system built for Malaysian dental clinics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389120"/>
            <a:ext cx="121916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6B7280"/>
                </a:solidFill>
                <a:latin typeface="Helvetica"/>
              </a:rPr>
              <a:t>by Kanan Digital Enterprise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537960"/>
            <a:ext cx="121916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F4F1EA"/>
                </a:solidFill>
                <a:latin typeface="Helvetica"/>
              </a:rPr>
              <a:t>kanan.my · hello@kanan.my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45720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B2A4A"/>
                </a:solidFill>
                <a:latin typeface="Helvetica"/>
              </a:rPr>
              <a:t>Short-staffed and stretched thin?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1">
                <a:solidFill>
                  <a:srgbClr val="2E4374"/>
                </a:solidFill>
                <a:latin typeface="Helvetica"/>
              </a:rPr>
              <a:t>Most days end the same way at a small dental clinic: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Helvetica"/>
              </a:rPr>
              <a:t>Kanan Digital Enterprise · kanan.my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Helvetica"/>
              </a:rPr>
              <a:t>2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94560"/>
            <a:ext cx="1109441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800" b="1">
                <a:solidFill>
                  <a:srgbClr val="C9A227"/>
                </a:solidFill>
                <a:latin typeface="Helvetica"/>
              </a:rPr>
              <a:t>●  </a:t>
            </a:r>
            <a:r>
              <a:rPr sz="1800">
                <a:solidFill>
                  <a:srgbClr val="1B2A4A"/>
                </a:solidFill>
                <a:latin typeface="Helvetica"/>
              </a:rPr>
              <a:t>50+ WhatsApp messages a day — just to confirm and remind appointments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C9A227"/>
                </a:solidFill>
                <a:latin typeface="Helvetica"/>
              </a:rPr>
              <a:t>●  </a:t>
            </a:r>
            <a:r>
              <a:rPr sz="1800">
                <a:solidFill>
                  <a:srgbClr val="1B2A4A"/>
                </a:solidFill>
                <a:latin typeface="Helvetica"/>
              </a:rPr>
              <a:t>A no-show wastes a whole 1-hour slot, and the patient never paid a deposit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C9A227"/>
                </a:solidFill>
                <a:latin typeface="Helvetica"/>
              </a:rPr>
              <a:t>●  </a:t>
            </a:r>
            <a:r>
              <a:rPr sz="1800">
                <a:solidFill>
                  <a:srgbClr val="1B2A4A"/>
                </a:solidFill>
                <a:latin typeface="Helvetica"/>
              </a:rPr>
              <a:t>The owner has no idea who's actually busy and who's coasting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C9A227"/>
                </a:solidFill>
                <a:latin typeface="Helvetica"/>
              </a:rPr>
              <a:t>●  </a:t>
            </a:r>
            <a:r>
              <a:rPr sz="1800">
                <a:solidFill>
                  <a:srgbClr val="1B2A4A"/>
                </a:solidFill>
                <a:latin typeface="Helvetica"/>
              </a:rPr>
              <a:t>Patient records live half in a notebook, half in a Google Sheet, half in someone's head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C9A227"/>
                </a:solidFill>
                <a:latin typeface="Helvetica"/>
              </a:rPr>
              <a:t>●  </a:t>
            </a:r>
            <a:r>
              <a:rPr sz="1800">
                <a:solidFill>
                  <a:srgbClr val="1B2A4A"/>
                </a:solidFill>
                <a:latin typeface="Helvetica"/>
              </a:rPr>
              <a:t>When a doctor or nurse takes leave, the schedule unravels for a week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45720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B2A4A"/>
                </a:solidFill>
                <a:latin typeface="Helvetica"/>
              </a:rPr>
              <a:t>We've been there. So we built the right hand.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Helvetica"/>
              </a:rPr>
              <a:t>Kanan Digital Enterprise · kanan.my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Helvetica"/>
              </a:rPr>
              <a:t>3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1109441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1">
                <a:solidFill>
                  <a:srgbClr val="2E4374"/>
                </a:solidFill>
                <a:latin typeface="Helvetica"/>
              </a:rPr>
              <a:t>Kanan ("KAH-nahn") means right in Malay — as in right hand. The dependable hand on the right side of your business.</a:t>
            </a:r>
          </a:p>
        </p:txBody>
      </p:sp>
      <p:sp>
        <p:nvSpPr>
          <p:cNvPr id="8" name="Rectangle 7"/>
          <p:cNvSpPr/>
          <p:nvPr/>
        </p:nvSpPr>
        <p:spPr>
          <a:xfrm>
            <a:off x="929487" y="2926080"/>
            <a:ext cx="502920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9487" y="329184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1">
                <a:solidFill>
                  <a:srgbClr val="6B7280"/>
                </a:solidFill>
                <a:latin typeface="Helvetica"/>
              </a:rPr>
              <a:t>[photo]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9487" y="393192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1B2A4A"/>
                </a:solidFill>
                <a:latin typeface="Helvetica"/>
              </a:rPr>
              <a:t>[Founder name 1]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9487" y="438912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6B7280"/>
                </a:solidFill>
                <a:latin typeface="Helvetica"/>
              </a:rPr>
              <a:t>Co-founder · [role]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7" y="2926080"/>
            <a:ext cx="502920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3007" y="329184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1">
                <a:solidFill>
                  <a:srgbClr val="6B7280"/>
                </a:solidFill>
                <a:latin typeface="Helvetica"/>
              </a:rPr>
              <a:t>[photo]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3007" y="393192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1B2A4A"/>
                </a:solidFill>
                <a:latin typeface="Helvetica"/>
              </a:rPr>
              <a:t>[Founder name 2]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3007" y="438912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6B7280"/>
                </a:solidFill>
                <a:latin typeface="Helvetica"/>
              </a:rPr>
              <a:t>Co-founder · [role]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212080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1">
                <a:solidFill>
                  <a:srgbClr val="1B2A4A"/>
                </a:solidFill>
                <a:latin typeface="Helvetica"/>
              </a:rPr>
              <a:t>A Malaysian software studio. We build for the businesses around us — not for venture capital.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45720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B2A4A"/>
                </a:solidFill>
                <a:latin typeface="Helvetica"/>
              </a:rPr>
              <a:t>One product. The whole booking lifecycle.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Helvetica"/>
              </a:rPr>
              <a:t>Kanan Digital Enterprise · kanan.my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Helvetica"/>
              </a:rPr>
              <a:t>4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3515258" cy="2286000"/>
          </a:xfrm>
          <a:prstGeom prst="rect">
            <a:avLst/>
          </a:prstGeom>
          <a:solidFill>
            <a:srgbClr val="FFFFFF"/>
          </a:solidFill>
          <a:ln>
            <a:solidFill>
              <a:srgbClr val="2E4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240280"/>
            <a:ext cx="351525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0" i="0">
                <a:solidFill>
                  <a:srgbClr val="1B2A4A"/>
                </a:solidFill>
                <a:latin typeface="Helvetica"/>
              </a:rPr>
              <a:t>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26080"/>
            <a:ext cx="35152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1B2A4A"/>
                </a:solidFill>
                <a:latin typeface="Helvetica"/>
              </a:rPr>
              <a:t>Patient self-books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74720"/>
            <a:ext cx="351525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  <a:latin typeface="Helvetica"/>
              </a:rPr>
              <a:t>via your /book page. Language toggle EN · 中文 · BM.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38218" y="2103120"/>
            <a:ext cx="3515258" cy="2286000"/>
          </a:xfrm>
          <a:prstGeom prst="rect">
            <a:avLst/>
          </a:prstGeom>
          <a:solidFill>
            <a:srgbClr val="FFFFFF"/>
          </a:solidFill>
          <a:ln>
            <a:solidFill>
              <a:srgbClr val="2E4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38218" y="2240280"/>
            <a:ext cx="351525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0" i="0">
                <a:solidFill>
                  <a:srgbClr val="1B2A4A"/>
                </a:solidFill>
                <a:latin typeface="Helvetica"/>
              </a:rPr>
              <a:t>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8218" y="2926080"/>
            <a:ext cx="35152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1B2A4A"/>
                </a:solidFill>
                <a:latin typeface="Helvetica"/>
              </a:rPr>
              <a:t>Nurse runs the day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8218" y="3474720"/>
            <a:ext cx="351525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  <a:latin typeface="Helvetica"/>
              </a:rPr>
              <a:t>Pending queue, WhatsApp confirmation, reminders, recall.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27796" y="2103120"/>
            <a:ext cx="3515258" cy="2286000"/>
          </a:xfrm>
          <a:prstGeom prst="rect">
            <a:avLst/>
          </a:prstGeom>
          <a:solidFill>
            <a:srgbClr val="FFFFFF"/>
          </a:solidFill>
          <a:ln>
            <a:solidFill>
              <a:srgbClr val="2E4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7796" y="2240280"/>
            <a:ext cx="351525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0" i="0">
                <a:solidFill>
                  <a:srgbClr val="1B2A4A"/>
                </a:solidFill>
                <a:latin typeface="Helvetica"/>
              </a:rPr>
              <a:t>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7796" y="2926080"/>
            <a:ext cx="35152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1B2A4A"/>
                </a:solidFill>
                <a:latin typeface="Helvetica"/>
              </a:rPr>
              <a:t>Owner sees everything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7796" y="3474720"/>
            <a:ext cx="351525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  <a:latin typeface="Helvetica"/>
              </a:rPr>
              <a:t>Bookings, doctor + nurse performance, audit log.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663440"/>
            <a:ext cx="11094415" cy="1463040"/>
          </a:xfrm>
          <a:prstGeom prst="rect">
            <a:avLst/>
          </a:prstGeom>
          <a:solidFill>
            <a:srgbClr val="F4F1EA"/>
          </a:solidFill>
          <a:ln w="19050">
            <a:solidFill>
              <a:srgbClr val="E3C7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663440"/>
            <a:ext cx="11094415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Helvetica"/>
              </a:rPr>
              <a:t>[ screenshot 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172200"/>
            <a:ext cx="1109441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1">
                <a:solidFill>
                  <a:srgbClr val="6B7280"/>
                </a:solidFill>
                <a:latin typeface="Helvetica"/>
              </a:rPr>
              <a:t>Screenshot collage: /book mobile · /nurse desktop · /owner 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45720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B2A4A"/>
                </a:solidFill>
                <a:latin typeface="Helvetica"/>
              </a:rPr>
              <a:t>Bookings without phone tag.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1">
                <a:solidFill>
                  <a:srgbClr val="2E4374"/>
                </a:solidFill>
                <a:latin typeface="Helvetica"/>
              </a:rPr>
              <a:t>Your patient opens your /book page on their phone. 4 taps to a request.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Helvetica"/>
              </a:rPr>
              <a:t>Kanan Digital Enterprise · kanan.my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Helvetica"/>
              </a:rPr>
              <a:t>5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7744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500" b="1">
                <a:solidFill>
                  <a:srgbClr val="C9A227"/>
                </a:solidFill>
                <a:latin typeface="Helvetica"/>
              </a:rPr>
              <a:t>●  </a:t>
            </a:r>
            <a:r>
              <a:rPr sz="1500">
                <a:solidFill>
                  <a:srgbClr val="1B2A4A"/>
                </a:solidFill>
                <a:latin typeface="Helvetica"/>
              </a:rPr>
              <a:t>Identity first (IC/passport + WhatsApp), THEN pick what they want — book / reschedule / cancel</a:t>
            </a:r>
          </a:p>
          <a:p>
            <a:pPr>
              <a:spcBef>
                <a:spcPts val="1000"/>
              </a:spcBef>
            </a:pPr>
            <a:r>
              <a:rPr sz="1500" b="1">
                <a:solidFill>
                  <a:srgbClr val="C9A227"/>
                </a:solidFill>
                <a:latin typeface="Helvetica"/>
              </a:rPr>
              <a:t>●  </a:t>
            </a:r>
            <a:r>
              <a:rPr sz="1500">
                <a:solidFill>
                  <a:srgbClr val="1B2A4A"/>
                </a:solidFill>
                <a:latin typeface="Helvetica"/>
              </a:rPr>
              <a:t>Language toggle: EN · 中文 · BM (name input stays Romanized for IC)</a:t>
            </a:r>
          </a:p>
          <a:p>
            <a:pPr>
              <a:spcBef>
                <a:spcPts val="1000"/>
              </a:spcBef>
            </a:pPr>
            <a:r>
              <a:rPr sz="1500" b="1">
                <a:solidFill>
                  <a:srgbClr val="C9A227"/>
                </a:solidFill>
                <a:latin typeface="Helvetica"/>
              </a:rPr>
              <a:t>●  </a:t>
            </a:r>
            <a:r>
              <a:rPr sz="1500">
                <a:solidFill>
                  <a:srgbClr val="1B2A4A"/>
                </a:solidFill>
                <a:latin typeface="Helvetica"/>
              </a:rPr>
              <a:t>5-week future window. Real slot availability — no requests for slots that aren't free</a:t>
            </a:r>
          </a:p>
          <a:p>
            <a:pPr>
              <a:spcBef>
                <a:spcPts val="1000"/>
              </a:spcBef>
            </a:pPr>
            <a:r>
              <a:rPr sz="1500" b="1">
                <a:solidFill>
                  <a:srgbClr val="C9A227"/>
                </a:solidFill>
                <a:latin typeface="Helvetica"/>
              </a:rPr>
              <a:t>●  </a:t>
            </a:r>
            <a:r>
              <a:rPr sz="1500">
                <a:solidFill>
                  <a:srgbClr val="1B2A4A"/>
                </a:solidFill>
                <a:latin typeface="Helvetica"/>
              </a:rPr>
              <a:t>Submitted requests land in your nurse's queue, never directly on the calendar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0" y="2286000"/>
            <a:ext cx="4297680" cy="3657600"/>
          </a:xfrm>
          <a:prstGeom prst="rect">
            <a:avLst/>
          </a:prstGeom>
          <a:solidFill>
            <a:srgbClr val="F4F1EA"/>
          </a:solidFill>
          <a:ln w="19050">
            <a:solidFill>
              <a:srgbClr val="E3C7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2286000"/>
            <a:ext cx="429768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Helvetica"/>
              </a:rPr>
              <a:t>[ screenshot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5989320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1">
                <a:solidFill>
                  <a:srgbClr val="6B7280"/>
                </a:solidFill>
                <a:latin typeface="Helvetica"/>
              </a:rPr>
              <a:t>/book mobile screenshot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45720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B2A4A"/>
                </a:solidFill>
                <a:latin typeface="Helvetica"/>
              </a:rPr>
              <a:t>Your nurse stops being a router.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1">
                <a:solidFill>
                  <a:srgbClr val="2E4374"/>
                </a:solidFill>
                <a:latin typeface="Helvetica"/>
              </a:rPr>
              <a:t>Every patient is one click away from confirmed, with the WhatsApp message pre-written.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Helvetica"/>
              </a:rPr>
              <a:t>Kanan Digital Enterprise · kanan.my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Helvetica"/>
              </a:rPr>
              <a:t>6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7744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500" b="1">
                <a:solidFill>
                  <a:srgbClr val="C9A227"/>
                </a:solidFill>
                <a:latin typeface="Helvetica"/>
              </a:rPr>
              <a:t>●  </a:t>
            </a:r>
            <a:r>
              <a:rPr sz="1500">
                <a:solidFill>
                  <a:srgbClr val="1B2A4A"/>
                </a:solidFill>
                <a:latin typeface="Helvetica"/>
              </a:rPr>
              <a:t>6 WhatsApp templates editable by owner — check / confirm / cancel / reject / reminder / recall</a:t>
            </a:r>
          </a:p>
          <a:p>
            <a:pPr>
              <a:spcBef>
                <a:spcPts val="1000"/>
              </a:spcBef>
            </a:pPr>
            <a:r>
              <a:rPr sz="1500" b="1">
                <a:solidFill>
                  <a:srgbClr val="C9A227"/>
                </a:solidFill>
                <a:latin typeface="Helvetica"/>
              </a:rPr>
              <a:t>●  </a:t>
            </a:r>
            <a:r>
              <a:rPr sz="1500">
                <a:solidFill>
                  <a:srgbClr val="1B2A4A"/>
                </a:solidFill>
                <a:latin typeface="Helvetica"/>
              </a:rPr>
              <a:t>Click 'Send' → WhatsApp opens with the message + slot pre-filled, zero retyping</a:t>
            </a:r>
          </a:p>
          <a:p>
            <a:pPr>
              <a:spcBef>
                <a:spcPts val="1000"/>
              </a:spcBef>
            </a:pPr>
            <a:r>
              <a:rPr sz="1500" b="1">
                <a:solidFill>
                  <a:srgbClr val="C9A227"/>
                </a:solidFill>
                <a:latin typeface="Helvetica"/>
              </a:rPr>
              <a:t>●  </a:t>
            </a:r>
            <a:r>
              <a:rPr sz="1500">
                <a:solidFill>
                  <a:srgbClr val="1B2A4A"/>
                </a:solidFill>
                <a:latin typeface="Helvetica"/>
              </a:rPr>
              <a:t>Recall worklist surfaces patients overdue for 6-month checkup automatically</a:t>
            </a:r>
          </a:p>
          <a:p>
            <a:pPr>
              <a:spcBef>
                <a:spcPts val="1000"/>
              </a:spcBef>
            </a:pPr>
            <a:r>
              <a:rPr sz="1500" b="1">
                <a:solidFill>
                  <a:srgbClr val="C9A227"/>
                </a:solidFill>
                <a:latin typeface="Helvetica"/>
              </a:rPr>
              <a:t>●  </a:t>
            </a:r>
            <a:r>
              <a:rPr sz="1500">
                <a:solidFill>
                  <a:srgbClr val="1B2A4A"/>
                </a:solidFill>
                <a:latin typeface="Helvetica"/>
              </a:rPr>
              <a:t>Every action audit-logged with the nurse's name + timestamp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0" y="2286000"/>
            <a:ext cx="4297680" cy="3657600"/>
          </a:xfrm>
          <a:prstGeom prst="rect">
            <a:avLst/>
          </a:prstGeom>
          <a:solidFill>
            <a:srgbClr val="F4F1EA"/>
          </a:solidFill>
          <a:ln w="19050">
            <a:solidFill>
              <a:srgbClr val="E3C7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2286000"/>
            <a:ext cx="429768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Helvetica"/>
              </a:rPr>
              <a:t>[ screenshot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5989320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1">
                <a:solidFill>
                  <a:srgbClr val="6B7280"/>
                </a:solidFill>
                <a:latin typeface="Helvetica"/>
              </a:rPr>
              <a:t>/nurse pending queue screenshot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45720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B2A4A"/>
                </a:solidFill>
                <a:latin typeface="Helvetica"/>
              </a:rPr>
              <a:t>Your doctor sees the day, marks attendance, that's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Helvetica"/>
              </a:rPr>
              <a:t>Kanan Digital Enterprise · kanan.my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Helvetica"/>
              </a:rPr>
              <a:t>7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500" b="1">
                <a:solidFill>
                  <a:srgbClr val="C9A227"/>
                </a:solidFill>
                <a:latin typeface="Helvetica"/>
              </a:rPr>
              <a:t>●  </a:t>
            </a:r>
            <a:r>
              <a:rPr sz="1500">
                <a:solidFill>
                  <a:srgbClr val="1B2A4A"/>
                </a:solidFill>
                <a:latin typeface="Helvetica"/>
              </a:rPr>
              <a:t>Clean today view of their bookings, on a 9-9 grid</a:t>
            </a:r>
          </a:p>
          <a:p>
            <a:pPr>
              <a:spcBef>
                <a:spcPts val="1000"/>
              </a:spcBef>
            </a:pPr>
            <a:r>
              <a:rPr sz="1500" b="1">
                <a:solidFill>
                  <a:srgbClr val="C9A227"/>
                </a:solidFill>
                <a:latin typeface="Helvetica"/>
              </a:rPr>
              <a:t>●  </a:t>
            </a:r>
            <a:r>
              <a:rPr sz="1500">
                <a:solidFill>
                  <a:srgbClr val="1B2A4A"/>
                </a:solidFill>
                <a:latin typeface="Helvetica"/>
              </a:rPr>
              <a:t>One-tap Attended or No-show after each patient</a:t>
            </a:r>
          </a:p>
          <a:p>
            <a:pPr>
              <a:spcBef>
                <a:spcPts val="1000"/>
              </a:spcBef>
            </a:pPr>
            <a:r>
              <a:rPr sz="1500" b="1">
                <a:solidFill>
                  <a:srgbClr val="C9A227"/>
                </a:solidFill>
                <a:latin typeface="Helvetica"/>
              </a:rPr>
              <a:t>●  </a:t>
            </a:r>
            <a:r>
              <a:rPr sz="1500">
                <a:solidFill>
                  <a:srgbClr val="1B2A4A"/>
                </a:solidFill>
                <a:latin typeface="Helvetica"/>
              </a:rPr>
              <a:t>Block time (lunch / surgery prep / personal) without bothering the nurse</a:t>
            </a:r>
          </a:p>
          <a:p>
            <a:pPr>
              <a:spcBef>
                <a:spcPts val="1000"/>
              </a:spcBef>
            </a:pPr>
            <a:r>
              <a:rPr sz="1500" b="1">
                <a:solidFill>
                  <a:srgbClr val="C9A227"/>
                </a:solidFill>
                <a:latin typeface="Helvetica"/>
              </a:rPr>
              <a:t>●  </a:t>
            </a:r>
            <a:r>
              <a:rPr sz="1500">
                <a:solidFill>
                  <a:srgbClr val="1B2A4A"/>
                </a:solidFill>
                <a:latin typeface="Helvetica"/>
              </a:rPr>
              <a:t>Their own utilization heatmap on Premium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2103120"/>
            <a:ext cx="4297680" cy="3840480"/>
          </a:xfrm>
          <a:prstGeom prst="rect">
            <a:avLst/>
          </a:prstGeom>
          <a:solidFill>
            <a:srgbClr val="F4F1EA"/>
          </a:solidFill>
          <a:ln w="19050">
            <a:solidFill>
              <a:srgbClr val="E3C7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0" y="2103120"/>
            <a:ext cx="4297680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Helvetica"/>
              </a:rPr>
              <a:t>[ screenshot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5989320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1">
                <a:solidFill>
                  <a:srgbClr val="6B7280"/>
                </a:solidFill>
                <a:latin typeface="Helvetica"/>
              </a:rPr>
              <a:t>/doctor today view screenshot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45720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B2A4A"/>
                </a:solidFill>
                <a:latin typeface="Helvetica"/>
              </a:rPr>
              <a:t>Finally, you can see the clinic.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Helvetica"/>
              </a:rPr>
              <a:t>Kanan Digital Enterprise · kanan.my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Helvetica"/>
              </a:rPr>
              <a:t>8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109441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500" b="1">
                <a:solidFill>
                  <a:srgbClr val="C9A227"/>
                </a:solidFill>
                <a:latin typeface="Helvetica"/>
              </a:rPr>
              <a:t>●  </a:t>
            </a:r>
            <a:r>
              <a:rPr sz="1500">
                <a:solidFill>
                  <a:srgbClr val="1B2A4A"/>
                </a:solidFill>
                <a:latin typeface="Helvetica"/>
              </a:rPr>
              <a:t>This week's bookings + repeat rate + pending count — at a glance</a:t>
            </a:r>
          </a:p>
          <a:p>
            <a:pPr>
              <a:spcBef>
                <a:spcPts val="1000"/>
              </a:spcBef>
            </a:pPr>
            <a:r>
              <a:rPr sz="1500" b="1">
                <a:solidFill>
                  <a:srgbClr val="C9A227"/>
                </a:solidFill>
                <a:latin typeface="Helvetica"/>
              </a:rPr>
              <a:t>●  </a:t>
            </a:r>
            <a:r>
              <a:rPr sz="1500">
                <a:solidFill>
                  <a:srgbClr val="1B2A4A"/>
                </a:solidFill>
                <a:latin typeface="Helvetica"/>
              </a:rPr>
              <a:t>Doctor performance (Premium): bookings, attended, no-show, attendance % — per doctor</a:t>
            </a:r>
          </a:p>
          <a:p>
            <a:pPr>
              <a:spcBef>
                <a:spcPts val="1000"/>
              </a:spcBef>
            </a:pPr>
            <a:r>
              <a:rPr sz="1500" b="1">
                <a:solidFill>
                  <a:srgbClr val="C9A227"/>
                </a:solidFill>
                <a:latin typeface="Helvetica"/>
              </a:rPr>
              <a:t>●  </a:t>
            </a:r>
            <a:r>
              <a:rPr sz="1500">
                <a:solidFill>
                  <a:srgbClr val="1B2A4A"/>
                </a:solidFill>
                <a:latin typeface="Helvetica"/>
              </a:rPr>
              <a:t>Nurse performance (Premium): bookings created, approvals, reminders + recalls, attendance marks</a:t>
            </a:r>
          </a:p>
          <a:p>
            <a:pPr>
              <a:spcBef>
                <a:spcPts val="1000"/>
              </a:spcBef>
            </a:pPr>
            <a:r>
              <a:rPr sz="1500" b="1">
                <a:solidFill>
                  <a:srgbClr val="C9A227"/>
                </a:solidFill>
                <a:latin typeface="Helvetica"/>
              </a:rPr>
              <a:t>●  </a:t>
            </a:r>
            <a:r>
              <a:rPr sz="1500">
                <a:solidFill>
                  <a:srgbClr val="1B2A4A"/>
                </a:solidFill>
                <a:latin typeface="Helvetica"/>
              </a:rPr>
              <a:t>Chair utilization heatmap (Premium): which chair-hours are actually filled</a:t>
            </a:r>
          </a:p>
          <a:p>
            <a:pPr>
              <a:spcBef>
                <a:spcPts val="1000"/>
              </a:spcBef>
            </a:pPr>
            <a:r>
              <a:rPr sz="1500" b="1">
                <a:solidFill>
                  <a:srgbClr val="C9A227"/>
                </a:solidFill>
                <a:latin typeface="Helvetica"/>
              </a:rPr>
              <a:t>●  </a:t>
            </a:r>
            <a:r>
              <a:rPr sz="1500">
                <a:solidFill>
                  <a:srgbClr val="1B2A4A"/>
                </a:solidFill>
                <a:latin typeface="Helvetica"/>
              </a:rPr>
              <a:t>Full audit log — who did what, when, with before/after snapshots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572000"/>
            <a:ext cx="11094415" cy="1554480"/>
          </a:xfrm>
          <a:prstGeom prst="rect">
            <a:avLst/>
          </a:prstGeom>
          <a:solidFill>
            <a:srgbClr val="F4F1EA"/>
          </a:solidFill>
          <a:ln w="19050">
            <a:solidFill>
              <a:srgbClr val="E3C7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572000"/>
            <a:ext cx="11094415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Helvetica"/>
              </a:rPr>
              <a:t>[ screenshot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172200"/>
            <a:ext cx="1109441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1">
                <a:solidFill>
                  <a:srgbClr val="6B7280"/>
                </a:solidFill>
                <a:latin typeface="Helvetica"/>
              </a:rPr>
              <a:t>Screenshot grid: doctor-perf + nurse-perf + utilization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45720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B2A4A"/>
                </a:solidFill>
                <a:latin typeface="Helvetica"/>
              </a:rPr>
              <a:t>One tablet at the front desk runs the whole day.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1">
                <a:solidFill>
                  <a:srgbClr val="2E4374"/>
                </a:solidFill>
                <a:latin typeface="Helvetica"/>
              </a:rPr>
              <a:t>Plug in a cheap Android or iPad at reception — anyone uses it, every action is PIN-locked.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Helvetica"/>
              </a:rPr>
              <a:t>Kanan Digital Enterprise · kanan.my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Helvetica"/>
              </a:rPr>
              <a:t>9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9456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400" b="1">
                <a:solidFill>
                  <a:srgbClr val="C9A227"/>
                </a:solidFill>
                <a:latin typeface="Helvetica"/>
              </a:rPr>
              <a:t>●  </a:t>
            </a:r>
            <a:r>
              <a:rPr sz="1400">
                <a:solidFill>
                  <a:srgbClr val="1B2A4A"/>
                </a:solidFill>
                <a:latin typeface="Helvetica"/>
              </a:rPr>
              <a:t>Big clock + branded background (matches your theme)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C9A227"/>
                </a:solidFill>
                <a:latin typeface="Helvetica"/>
              </a:rPr>
              <a:t>●  </a:t>
            </a:r>
            <a:r>
              <a:rPr sz="1400">
                <a:solidFill>
                  <a:srgbClr val="1B2A4A"/>
                </a:solidFill>
                <a:latin typeface="Helvetica"/>
              </a:rPr>
              <a:t>Upcoming patients panel — next 48 hours, time + name + IC + doctor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C9A227"/>
                </a:solidFill>
                <a:latin typeface="Helvetica"/>
              </a:rPr>
              <a:t>●  </a:t>
            </a:r>
            <a:r>
              <a:rPr sz="1400">
                <a:solidFill>
                  <a:srgbClr val="1B2A4A"/>
                </a:solidFill>
                <a:latin typeface="Helvetica"/>
              </a:rPr>
              <a:t>Live count tiles: Pending · Recalls · Today · Reminders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C9A227"/>
                </a:solidFill>
                <a:latin typeface="Helvetica"/>
              </a:rPr>
              <a:t>●  </a:t>
            </a:r>
            <a:r>
              <a:rPr sz="1400">
                <a:solidFill>
                  <a:srgbClr val="1B2A4A"/>
                </a:solidFill>
                <a:latin typeface="Helvetica"/>
              </a:rPr>
              <a:t>Mark attended / no-show inline — one PIN, one tap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C9A227"/>
                </a:solidFill>
                <a:latin typeface="Helvetica"/>
              </a:rPr>
              <a:t>●  </a:t>
            </a:r>
            <a:r>
              <a:rPr sz="1400">
                <a:solidFill>
                  <a:srgbClr val="1B2A4A"/>
                </a:solidFill>
                <a:latin typeface="Helvetica"/>
              </a:rPr>
              <a:t>Marked patients collapse under a 'Marked · 5 attended · 1 no-show' bar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C9A227"/>
                </a:solidFill>
                <a:latin typeface="Helvetica"/>
              </a:rPr>
              <a:t>●  </a:t>
            </a:r>
            <a:r>
              <a:rPr sz="1400">
                <a:solidFill>
                  <a:srgbClr val="1B2A4A"/>
                </a:solidFill>
                <a:latin typeface="Helvetica"/>
              </a:rPr>
              <a:t>Doctors can also PIN in to view their own day + check-out + submit HR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3760" y="2103120"/>
            <a:ext cx="4389120" cy="4023360"/>
          </a:xfrm>
          <a:prstGeom prst="rect">
            <a:avLst/>
          </a:prstGeom>
          <a:solidFill>
            <a:srgbClr val="F4F1EA"/>
          </a:solidFill>
          <a:ln w="19050">
            <a:solidFill>
              <a:srgbClr val="E3C7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0" y="2103120"/>
            <a:ext cx="438912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Helvetica"/>
              </a:rPr>
              <a:t>[ screenshot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617220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1">
                <a:solidFill>
                  <a:srgbClr val="6B7280"/>
                </a:solidFill>
                <a:latin typeface="Helvetica"/>
              </a:rPr>
              <a:t>/home — lockscreen with upcoming-patients panel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45720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B2A4A"/>
                </a:solidFill>
                <a:latin typeface="Helvetica"/>
              </a:rPr>
              <a:t>Premium room flow — patient arrives → treatment done.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1">
                <a:solidFill>
                  <a:srgbClr val="2E4374"/>
                </a:solidFill>
                <a:latin typeface="Helvetica"/>
              </a:rPr>
              <a:t>Three taps, two PINs, zero paper. Every step audit-logged.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Helvetica"/>
              </a:rPr>
              <a:t>Kanan Digital Enterprise · kanan.my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Helvetica"/>
              </a:rPr>
              <a:t>10 / 18</a:t>
            </a:r>
          </a:p>
        </p:txBody>
      </p:sp>
      <p:sp>
        <p:nvSpPr>
          <p:cNvPr id="8" name="Rectangle 7"/>
          <p:cNvSpPr/>
          <p:nvPr/>
        </p:nvSpPr>
        <p:spPr>
          <a:xfrm>
            <a:off x="540867" y="2194560"/>
            <a:ext cx="3611880" cy="2377440"/>
          </a:xfrm>
          <a:prstGeom prst="rect">
            <a:avLst/>
          </a:prstGeom>
          <a:solidFill>
            <a:srgbClr val="FFFFFF"/>
          </a:solidFill>
          <a:ln>
            <a:solidFill>
              <a:srgbClr val="2E4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0867" y="2194560"/>
            <a:ext cx="3611880" cy="137160"/>
          </a:xfrm>
          <a:prstGeom prst="rect">
            <a:avLst/>
          </a:prstGeom>
          <a:solidFill>
            <a:srgbClr val="2E4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9467" y="2514600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Georg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9467" y="3063240"/>
            <a:ext cx="3154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Helvetica"/>
              </a:rPr>
              <a:t>Patient arrives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9467" y="3474720"/>
            <a:ext cx="3154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Helvetica"/>
              </a:rPr>
              <a:t>Nurse taps Check in → picks room → Nurse PIN → ✓ In Room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89907" y="2194560"/>
            <a:ext cx="3611880" cy="2377440"/>
          </a:xfrm>
          <a:prstGeom prst="rect">
            <a:avLst/>
          </a:prstGeom>
          <a:solidFill>
            <a:srgbClr val="FFFFFF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89907" y="2194560"/>
            <a:ext cx="3611880" cy="13716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8507" y="2514600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Georg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8507" y="3063240"/>
            <a:ext cx="3154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Helvetica"/>
              </a:rPr>
              <a:t>Doctor's turn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8507" y="3474720"/>
            <a:ext cx="3154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Helvetica"/>
              </a:rPr>
              <a:t>Doctor PIN at lockscreen → sees 'In Room 2' badge on their booking row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38947" y="2194560"/>
            <a:ext cx="3611880" cy="2377440"/>
          </a:xfrm>
          <a:prstGeom prst="rect">
            <a:avLst/>
          </a:prstGeom>
          <a:solidFill>
            <a:srgbClr val="FFFFFF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38947" y="2194560"/>
            <a:ext cx="3611880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67547" y="2514600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Georg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7547" y="3063240"/>
            <a:ext cx="3154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Helvetica"/>
              </a:rPr>
              <a:t>After the visit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67547" y="3474720"/>
            <a:ext cx="3154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Helvetica"/>
              </a:rPr>
              <a:t>Doctor taps Check out → picks treatment done → Doctor PIN → ✓ Done · Crown fitting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846320"/>
            <a:ext cx="110944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 b="1">
                <a:solidFill>
                  <a:srgbClr val="C9A227"/>
                </a:solidFill>
                <a:latin typeface="Helvetica"/>
              </a:rPr>
              <a:t>●  </a:t>
            </a:r>
            <a:r>
              <a:rPr sz="1200">
                <a:solidFill>
                  <a:srgbClr val="1B2A4A"/>
                </a:solidFill>
                <a:latin typeface="Helvetica"/>
              </a:rPr>
              <a:t>Rooms list editable by owner — 'Surgery', 'Hygiene bay 2', whatever your clinic uses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C9A227"/>
                </a:solidFill>
                <a:latin typeface="Helvetica"/>
              </a:rPr>
              <a:t>●  </a:t>
            </a:r>
            <a:r>
              <a:rPr sz="1200">
                <a:solidFill>
                  <a:srgbClr val="1B2A4A"/>
                </a:solidFill>
                <a:latin typeface="Helvetica"/>
              </a:rPr>
              <a:t>Treatment-done text travels into the visit history + audit log automatically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C9A227"/>
                </a:solidFill>
                <a:latin typeface="Helvetica"/>
              </a:rPr>
              <a:t>●  </a:t>
            </a:r>
            <a:r>
              <a:rPr sz="1200">
                <a:solidFill>
                  <a:srgbClr val="1B2A4A"/>
                </a:solidFill>
                <a:latin typeface="Helvetica"/>
              </a:rPr>
              <a:t>Auto-marks attended + bumps visit_count + resets the recall timer on check-out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0" y="4846320"/>
            <a:ext cx="2926080" cy="1371600"/>
          </a:xfrm>
          <a:prstGeom prst="rect">
            <a:avLst/>
          </a:prstGeom>
          <a:solidFill>
            <a:srgbClr val="F4F1EA"/>
          </a:solidFill>
          <a:ln w="19050">
            <a:solidFill>
              <a:srgbClr val="E3C7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0" y="4846320"/>
            <a:ext cx="292608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Helvetica"/>
              </a:rPr>
              <a:t>[ screenshot 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626364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1">
                <a:solidFill>
                  <a:srgbClr val="6B7280"/>
                </a:solidFill>
                <a:latin typeface="Helvetica"/>
              </a:rPr>
              <a:t>Optional: room picker / treatment picker modal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45720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B2A4A"/>
                </a:solidFill>
                <a:latin typeface="Helvetica"/>
              </a:rPr>
              <a:t>Manage your team from one place.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1">
                <a:solidFill>
                  <a:srgbClr val="2E4374"/>
                </a:solidFill>
                <a:latin typeface="Helvetica"/>
              </a:rPr>
              <a:t>Doctors and nurses — one card each. Expand, edit, save inline.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Helvetica"/>
              </a:rPr>
              <a:t>Kanan Digital Enterprise · kanan.my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Helvetica"/>
              </a:rPr>
              <a:t>11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300" b="1">
                <a:solidFill>
                  <a:srgbClr val="C9A227"/>
                </a:solidFill>
                <a:latin typeface="Helvetica"/>
              </a:rPr>
              <a:t>●  </a:t>
            </a:r>
            <a:r>
              <a:rPr sz="1300">
                <a:solidFill>
                  <a:srgbClr val="1B2A4A"/>
                </a:solidFill>
                <a:latin typeface="Helvetica"/>
              </a:rPr>
              <a:t>Working hours — per-weekday editor (both doctors AND nurses)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C9A227"/>
                </a:solidFill>
                <a:latin typeface="Helvetica"/>
              </a:rPr>
              <a:t>●  </a:t>
            </a:r>
            <a:r>
              <a:rPr sz="1300">
                <a:solidFill>
                  <a:srgbClr val="1B2A4A"/>
                </a:solidFill>
                <a:latin typeface="Helvetica"/>
              </a:rPr>
              <a:t>Leave entitlement — Annual / MC / Emergency days, owner sets per person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C9A227"/>
                </a:solidFill>
                <a:latin typeface="Helvetica"/>
              </a:rPr>
              <a:t>●  </a:t>
            </a:r>
            <a:r>
              <a:rPr sz="1300">
                <a:solidFill>
                  <a:srgbClr val="1B2A4A"/>
                </a:solidFill>
                <a:latin typeface="Helvetica"/>
              </a:rPr>
              <a:t>Doctor profile (Premium) — expertise tags + bio + ★ rating for /book cards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C9A227"/>
                </a:solidFill>
                <a:latin typeface="Helvetica"/>
              </a:rPr>
              <a:t>●  </a:t>
            </a:r>
            <a:r>
              <a:rPr sz="1300">
                <a:solidFill>
                  <a:srgbClr val="1B2A4A"/>
                </a:solidFill>
                <a:latin typeface="Helvetica"/>
              </a:rPr>
              <a:t>Recent activity — last 5 leave + shift events with status pills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C9A227"/>
                </a:solidFill>
                <a:latin typeface="Helvetica"/>
              </a:rPr>
              <a:t>●  </a:t>
            </a:r>
            <a:r>
              <a:rPr sz="1300">
                <a:solidFill>
                  <a:srgbClr val="1B2A4A"/>
                </a:solidFill>
                <a:latin typeface="Helvetica"/>
              </a:rPr>
              <a:t>Account actions — PIN reset / password reset / deactivate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C9A227"/>
                </a:solidFill>
                <a:latin typeface="Helvetica"/>
              </a:rPr>
              <a:t>●  </a:t>
            </a:r>
            <a:r>
              <a:rPr sz="1300">
                <a:solidFill>
                  <a:srgbClr val="1B2A4A"/>
                </a:solidFill>
                <a:latin typeface="Helvetica"/>
              </a:rPr>
              <a:t>Cards collapsed by default — header shows '5 days/wk · custom' summary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3760" y="2103120"/>
            <a:ext cx="4389120" cy="4023360"/>
          </a:xfrm>
          <a:prstGeom prst="rect">
            <a:avLst/>
          </a:prstGeom>
          <a:solidFill>
            <a:srgbClr val="F4F1EA"/>
          </a:solidFill>
          <a:ln w="19050">
            <a:solidFill>
              <a:srgbClr val="E3C7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0" y="2103120"/>
            <a:ext cx="438912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Helvetica"/>
              </a:rPr>
              <a:t>[ screenshot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617220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1">
                <a:solidFill>
                  <a:srgbClr val="6B7280"/>
                </a:solidFill>
                <a:latin typeface="Helvetica"/>
              </a:rPr>
              <a:t>/owner/staff — one card expanded, one collapsed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45720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B2A4A"/>
                </a:solidFill>
                <a:latin typeface="Helvetica"/>
              </a:rPr>
              <a:t>Compliance without the paperwork.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1">
                <a:solidFill>
                  <a:srgbClr val="2E4374"/>
                </a:solidFill>
                <a:latin typeface="Helvetica"/>
              </a:rPr>
              <a:t>Every HR decision and every booking action — on the record.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Helvetica"/>
              </a:rPr>
              <a:t>Kanan Digital Enterprise · kanan.my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Helvetica"/>
              </a:rPr>
              <a:t>12 / 18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5410047" cy="4023360"/>
          </a:xfrm>
          <a:prstGeom prst="rect">
            <a:avLst/>
          </a:prstGeom>
          <a:solidFill>
            <a:srgbClr val="FFFFFF"/>
          </a:solidFill>
          <a:ln>
            <a:solidFill>
              <a:srgbClr val="2E4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103120"/>
            <a:ext cx="5410047" cy="137160"/>
          </a:xfrm>
          <a:prstGeom prst="rect">
            <a:avLst/>
          </a:prstGeom>
          <a:solidFill>
            <a:srgbClr val="2E4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77440"/>
            <a:ext cx="486140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B2A4A"/>
                </a:solidFill>
                <a:latin typeface="Helvetica"/>
              </a:rPr>
              <a:t>Approvals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26080"/>
            <a:ext cx="4861407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 b="1">
                <a:solidFill>
                  <a:srgbClr val="C9A227"/>
                </a:solidFill>
                <a:latin typeface="Helvetica"/>
              </a:rPr>
              <a:t>●  </a:t>
            </a:r>
            <a:r>
              <a:rPr sz="1200">
                <a:solidFill>
                  <a:srgbClr val="1B2A4A"/>
                </a:solidFill>
                <a:latin typeface="Helvetica"/>
              </a:rPr>
              <a:t>Pending leave + pending shift changes side-by-side</a:t>
            </a:r>
          </a:p>
          <a:p>
            <a:pPr>
              <a:spcBef>
                <a:spcPts val="600"/>
              </a:spcBef>
            </a:pPr>
            <a:r>
              <a:rPr sz="1200" b="1">
                <a:solidFill>
                  <a:srgbClr val="C9A227"/>
                </a:solidFill>
                <a:latin typeface="Helvetica"/>
              </a:rPr>
              <a:t>●  </a:t>
            </a:r>
            <a:r>
              <a:rPr sz="1200">
                <a:solidFill>
                  <a:srgbClr val="1B2A4A"/>
                </a:solidFill>
                <a:latin typeface="Helvetica"/>
              </a:rPr>
              <a:t>One-tap Approve / Reject with optional reviewer note</a:t>
            </a:r>
          </a:p>
          <a:p>
            <a:pPr>
              <a:spcBef>
                <a:spcPts val="600"/>
              </a:spcBef>
            </a:pPr>
            <a:r>
              <a:rPr sz="1200" b="1">
                <a:solidFill>
                  <a:srgbClr val="C9A227"/>
                </a:solidFill>
                <a:latin typeface="Helvetica"/>
              </a:rPr>
              <a:t>●  </a:t>
            </a:r>
            <a:r>
              <a:rPr sz="1200">
                <a:solidFill>
                  <a:srgbClr val="1B2A4A"/>
                </a:solidFill>
                <a:latin typeface="Helvetica"/>
              </a:rPr>
              <a:t>Approved leave auto-blocks the doctor calendar</a:t>
            </a:r>
          </a:p>
          <a:p>
            <a:pPr>
              <a:spcBef>
                <a:spcPts val="600"/>
              </a:spcBef>
            </a:pPr>
            <a:r>
              <a:rPr sz="1200" b="1">
                <a:solidFill>
                  <a:srgbClr val="C9A227"/>
                </a:solidFill>
                <a:latin typeface="Helvetica"/>
              </a:rPr>
              <a:t>●  </a:t>
            </a:r>
            <a:r>
              <a:rPr sz="1200">
                <a:solidFill>
                  <a:srgbClr val="1B2A4A"/>
                </a:solidFill>
                <a:latin typeface="Helvetica"/>
              </a:rPr>
              <a:t>Permanent shift changes auto-update working hours on approval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7" y="2103120"/>
            <a:ext cx="5410047" cy="4023360"/>
          </a:xfrm>
          <a:prstGeom prst="rect">
            <a:avLst/>
          </a:prstGeom>
          <a:solidFill>
            <a:srgbClr val="FFFFFF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3007" y="2103120"/>
            <a:ext cx="5410047" cy="13716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7327" y="2377440"/>
            <a:ext cx="486140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B2A4A"/>
                </a:solidFill>
                <a:latin typeface="Helvetica"/>
              </a:rPr>
              <a:t>Audit log (Premium)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7327" y="2926080"/>
            <a:ext cx="4861407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 b="1">
                <a:solidFill>
                  <a:srgbClr val="C9A227"/>
                </a:solidFill>
                <a:latin typeface="Helvetica"/>
              </a:rPr>
              <a:t>●  </a:t>
            </a:r>
            <a:r>
              <a:rPr sz="1200">
                <a:solidFill>
                  <a:srgbClr val="1B2A4A"/>
                </a:solidFill>
                <a:latin typeface="Helvetica"/>
              </a:rPr>
              <a:t>Last 500 actions — actor, time, patient, 'X → Y' transition</a:t>
            </a:r>
          </a:p>
          <a:p>
            <a:pPr>
              <a:spcBef>
                <a:spcPts val="600"/>
              </a:spcBef>
            </a:pPr>
            <a:r>
              <a:rPr sz="1200" b="1">
                <a:solidFill>
                  <a:srgbClr val="C9A227"/>
                </a:solidFill>
                <a:latin typeface="Helvetica"/>
              </a:rPr>
              <a:t>●  </a:t>
            </a:r>
            <a:r>
              <a:rPr sz="1200">
                <a:solidFill>
                  <a:srgbClr val="1B2A4A"/>
                </a:solidFill>
                <a:latin typeface="Helvetica"/>
              </a:rPr>
              <a:t>Filter by action / actor / entity + free-text search</a:t>
            </a:r>
          </a:p>
          <a:p>
            <a:pPr>
              <a:spcBef>
                <a:spcPts val="600"/>
              </a:spcBef>
            </a:pPr>
            <a:r>
              <a:rPr sz="1200" b="1">
                <a:solidFill>
                  <a:srgbClr val="C9A227"/>
                </a:solidFill>
                <a:latin typeface="Helvetica"/>
              </a:rPr>
              <a:t>●  </a:t>
            </a:r>
            <a:r>
              <a:rPr sz="1200">
                <a:solidFill>
                  <a:srgbClr val="1B2A4A"/>
                </a:solidFill>
                <a:latin typeface="Helvetica"/>
              </a:rPr>
              <a:t>'Show raw JSON' expander for the full payload</a:t>
            </a:r>
          </a:p>
          <a:p>
            <a:pPr>
              <a:spcBef>
                <a:spcPts val="600"/>
              </a:spcBef>
            </a:pPr>
            <a:r>
              <a:rPr sz="1200" b="1">
                <a:solidFill>
                  <a:srgbClr val="C9A227"/>
                </a:solidFill>
                <a:latin typeface="Helvetica"/>
              </a:rPr>
              <a:t>●  </a:t>
            </a:r>
            <a:r>
              <a:rPr sz="1200">
                <a:solidFill>
                  <a:srgbClr val="1B2A4A"/>
                </a:solidFill>
                <a:latin typeface="Helvetica"/>
              </a:rPr>
              <a:t>Covers: bookings, PINs, leave, theme, rooms, WhatsApp sends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solidFill>
            <a:srgbClr val="F4F1EA"/>
          </a:solidFill>
          <a:ln w="19050">
            <a:solidFill>
              <a:srgbClr val="E3C7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Helvetica"/>
              </a:rPr>
              <a:t>[ screenshot 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675120"/>
            <a:ext cx="1109441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1">
                <a:solidFill>
                  <a:srgbClr val="6B7280"/>
                </a:solidFill>
                <a:latin typeface="Helvetica"/>
              </a:rPr>
              <a:t>Optional: /owner/hr-approvals + /owner/audit screenshots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45720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B2A4A"/>
                </a:solidFill>
                <a:latin typeface="Helvetica"/>
              </a:rPr>
              <a:t>Standard — RM 150 / month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1">
                <a:solidFill>
                  <a:srgbClr val="2E4374"/>
                </a:solidFill>
                <a:latin typeface="Helvetica"/>
              </a:rPr>
              <a:t>Everything you need to run a single dental clinic that's drowning in WhatsApp.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Helvetica"/>
              </a:rPr>
              <a:t>Kanan Digital Enterprise · kanan.my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Helvetica"/>
              </a:rPr>
              <a:t>13 / 18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94560"/>
            <a:ext cx="11094415" cy="4023360"/>
          </a:xfrm>
          <a:prstGeom prst="rect">
            <a:avLst/>
          </a:prstGeom>
          <a:solidFill>
            <a:srgbClr val="FFFFFF"/>
          </a:solidFill>
          <a:ln>
            <a:solidFill>
              <a:srgbClr val="2E4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194560"/>
            <a:ext cx="11094415" cy="137160"/>
          </a:xfrm>
          <a:prstGeom prst="rect">
            <a:avLst/>
          </a:prstGeom>
          <a:solidFill>
            <a:srgbClr val="2E4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4688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1B2A4A"/>
                </a:solidFill>
                <a:latin typeface="Helvetica"/>
              </a:rPr>
              <a:t>Standard tier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63240"/>
            <a:ext cx="105457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C9A227"/>
                </a:solidFill>
                <a:latin typeface="Helvetica"/>
              </a:rPr>
              <a:t>RM 150 / month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566160"/>
            <a:ext cx="105457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Helvetica"/>
              </a:rPr>
              <a:t>1 owner  ·  2 doctors  ·  3 nurses (top-up on WhatsApp)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023360"/>
            <a:ext cx="1054577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00" b="1">
                <a:solidFill>
                  <a:srgbClr val="059669"/>
                </a:solidFill>
                <a:latin typeface="Helvetica"/>
              </a:rPr>
              <a:t>✓  </a:t>
            </a:r>
            <a:r>
              <a:rPr sz="1100">
                <a:solidFill>
                  <a:srgbClr val="1B2A4A"/>
                </a:solidFill>
                <a:latin typeface="Helvetica"/>
              </a:rPr>
              <a:t>Patient self-book + reschedule + cancel  (with EN / CH / BM toggle)</a:t>
            </a:r>
          </a:p>
          <a:p>
            <a:pPr>
              <a:spcBef>
                <a:spcPts val="500"/>
              </a:spcBef>
            </a:pPr>
            <a:r>
              <a:rPr sz="1100" b="1">
                <a:solidFill>
                  <a:srgbClr val="059669"/>
                </a:solidFill>
                <a:latin typeface="Helvetica"/>
              </a:rPr>
              <a:t>✓  </a:t>
            </a:r>
            <a:r>
              <a:rPr sz="1100">
                <a:solidFill>
                  <a:srgbClr val="1B2A4A"/>
                </a:solidFill>
                <a:latin typeface="Helvetica"/>
              </a:rPr>
              <a:t>Nurse pending queue + 6 editable WhatsApp templates</a:t>
            </a:r>
          </a:p>
          <a:p>
            <a:pPr>
              <a:spcBef>
                <a:spcPts val="500"/>
              </a:spcBef>
            </a:pPr>
            <a:r>
              <a:rPr sz="1100" b="1">
                <a:solidFill>
                  <a:srgbClr val="059669"/>
                </a:solidFill>
                <a:latin typeface="Helvetica"/>
              </a:rPr>
              <a:t>✓  </a:t>
            </a:r>
            <a:r>
              <a:rPr sz="1100">
                <a:solidFill>
                  <a:srgbClr val="1B2A4A"/>
                </a:solidFill>
                <a:latin typeface="Helvetica"/>
              </a:rPr>
              <a:t>Recall reminders (every 6 months, configurable)</a:t>
            </a:r>
          </a:p>
          <a:p>
            <a:pPr>
              <a:spcBef>
                <a:spcPts val="500"/>
              </a:spcBef>
            </a:pPr>
            <a:r>
              <a:rPr sz="1100" b="1">
                <a:solidFill>
                  <a:srgbClr val="059669"/>
                </a:solidFill>
                <a:latin typeface="Helvetica"/>
              </a:rPr>
              <a:t>✓  </a:t>
            </a:r>
            <a:r>
              <a:rPr sz="1100">
                <a:solidFill>
                  <a:srgbClr val="1B2A4A"/>
                </a:solidFill>
                <a:latin typeface="Helvetica"/>
              </a:rPr>
              <a:t>Duty calendar — doctor schedules</a:t>
            </a:r>
          </a:p>
          <a:p>
            <a:pPr>
              <a:spcBef>
                <a:spcPts val="500"/>
              </a:spcBef>
            </a:pPr>
            <a:r>
              <a:rPr sz="1100" b="1">
                <a:solidFill>
                  <a:srgbClr val="059669"/>
                </a:solidFill>
                <a:latin typeface="Helvetica"/>
              </a:rPr>
              <a:t>✓  </a:t>
            </a:r>
            <a:r>
              <a:rPr sz="1100">
                <a:solidFill>
                  <a:srgbClr val="1B2A4A"/>
                </a:solidFill>
                <a:latin typeface="Helvetica"/>
              </a:rPr>
              <a:t>Clinical calendar + per-doctor working hours editor</a:t>
            </a:r>
          </a:p>
          <a:p>
            <a:pPr>
              <a:spcBef>
                <a:spcPts val="500"/>
              </a:spcBef>
            </a:pPr>
            <a:r>
              <a:rPr sz="1100" b="1">
                <a:solidFill>
                  <a:srgbClr val="059669"/>
                </a:solidFill>
                <a:latin typeface="Helvetica"/>
              </a:rPr>
              <a:t>✓  </a:t>
            </a:r>
            <a:r>
              <a:rPr sz="1100">
                <a:solidFill>
                  <a:srgbClr val="1B2A4A"/>
                </a:solidFill>
                <a:latin typeface="Helvetica"/>
              </a:rPr>
              <a:t>Branding (your logo, brand color, font, button shape)</a:t>
            </a:r>
          </a:p>
          <a:p>
            <a:pPr>
              <a:spcBef>
                <a:spcPts val="500"/>
              </a:spcBef>
            </a:pPr>
            <a:r>
              <a:rPr sz="1100" b="1">
                <a:solidFill>
                  <a:srgbClr val="059669"/>
                </a:solidFill>
                <a:latin typeface="Helvetica"/>
              </a:rPr>
              <a:t>✓  </a:t>
            </a:r>
            <a:r>
              <a:rPr sz="1100">
                <a:solidFill>
                  <a:srgbClr val="1B2A4A"/>
                </a:solidFill>
                <a:latin typeface="Helvetica"/>
              </a:rPr>
              <a:t>Daily / weekly / monthly CSV email backup</a:t>
            </a:r>
          </a:p>
          <a:p>
            <a:pPr>
              <a:spcBef>
                <a:spcPts val="500"/>
              </a:spcBef>
            </a:pPr>
            <a:r>
              <a:rPr sz="1100" b="1">
                <a:solidFill>
                  <a:srgbClr val="059669"/>
                </a:solidFill>
                <a:latin typeface="Helvetica"/>
              </a:rPr>
              <a:t>✓  </a:t>
            </a:r>
            <a:r>
              <a:rPr sz="1100">
                <a:solidFill>
                  <a:srgbClr val="1B2A4A"/>
                </a:solidFill>
                <a:latin typeface="Helvetica"/>
              </a:rPr>
              <a:t>Overview dashboard (basic) + mobile-friendly throughout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35508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Helvetica"/>
              </a:rPr>
              <a:t>Need more seats? WhatsApp us — we top up without forcing an upgrade.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45720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B2A4A"/>
                </a:solidFill>
                <a:latin typeface="Helvetica"/>
              </a:rPr>
              <a:t>Premium — RM 280 / month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1">
                <a:solidFill>
                  <a:srgbClr val="2E4374"/>
                </a:solidFill>
                <a:latin typeface="Helvetica"/>
              </a:rPr>
              <a:t>Everything in Standard, plus the visibility you stop being able to live without.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Helvetica"/>
              </a:rPr>
              <a:t>Kanan Digital Enterprise · kanan.my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Helvetica"/>
              </a:rPr>
              <a:t>14 / 18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94560"/>
            <a:ext cx="11094415" cy="4023360"/>
          </a:xfrm>
          <a:prstGeom prst="rect">
            <a:avLst/>
          </a:prstGeom>
          <a:solidFill>
            <a:srgbClr val="FFFFFF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194560"/>
            <a:ext cx="11094415" cy="13716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4688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1B2A4A"/>
                </a:solidFill>
                <a:latin typeface="Helvetica"/>
              </a:rPr>
              <a:t>Premium tier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63240"/>
            <a:ext cx="105457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C9A227"/>
                </a:solidFill>
                <a:latin typeface="Helvetica"/>
              </a:rPr>
              <a:t>RM 280 / month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566160"/>
            <a:ext cx="105457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Helvetica"/>
              </a:rPr>
              <a:t>1 owner  ·  4 doctors  ·  6 nurses (top-up on WhatsApp)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023360"/>
            <a:ext cx="1054577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00" b="1">
                <a:solidFill>
                  <a:srgbClr val="059669"/>
                </a:solidFill>
                <a:latin typeface="Helvetica"/>
              </a:rPr>
              <a:t>✓  </a:t>
            </a:r>
            <a:r>
              <a:rPr sz="1100">
                <a:solidFill>
                  <a:srgbClr val="1B2A4A"/>
                </a:solidFill>
                <a:latin typeface="Helvetica"/>
              </a:rPr>
              <a:t>Room flow — nurse check-in to room, doctor check-out + treatment-done</a:t>
            </a:r>
          </a:p>
          <a:p>
            <a:pPr>
              <a:spcBef>
                <a:spcPts val="500"/>
              </a:spcBef>
            </a:pPr>
            <a:r>
              <a:rPr sz="1100" b="1">
                <a:solidFill>
                  <a:srgbClr val="059669"/>
                </a:solidFill>
                <a:latin typeface="Helvetica"/>
              </a:rPr>
              <a:t>✓  </a:t>
            </a:r>
            <a:r>
              <a:rPr sz="1100">
                <a:solidFill>
                  <a:srgbClr val="1B2A4A"/>
                </a:solidFill>
                <a:latin typeface="Helvetica"/>
              </a:rPr>
              <a:t>Patient-facing doctor cards on /book — expertise + ★ rating</a:t>
            </a:r>
          </a:p>
          <a:p>
            <a:pPr>
              <a:spcBef>
                <a:spcPts val="500"/>
              </a:spcBef>
            </a:pPr>
            <a:r>
              <a:rPr sz="1100" b="1">
                <a:solidFill>
                  <a:srgbClr val="059669"/>
                </a:solidFill>
                <a:latin typeface="Helvetica"/>
              </a:rPr>
              <a:t>✓  </a:t>
            </a:r>
            <a:r>
              <a:rPr sz="1100">
                <a:solidFill>
                  <a:srgbClr val="1B2A4A"/>
                </a:solidFill>
                <a:latin typeface="Helvetica"/>
              </a:rPr>
              <a:t>Rooms editor — owner names the operatories your clinic uses</a:t>
            </a:r>
          </a:p>
          <a:p>
            <a:pPr>
              <a:spcBef>
                <a:spcPts val="500"/>
              </a:spcBef>
            </a:pPr>
            <a:r>
              <a:rPr sz="1100" b="1">
                <a:solidFill>
                  <a:srgbClr val="059669"/>
                </a:solidFill>
                <a:latin typeface="Helvetica"/>
              </a:rPr>
              <a:t>✓  </a:t>
            </a:r>
            <a:r>
              <a:rPr sz="1100">
                <a:solidFill>
                  <a:srgbClr val="1B2A4A"/>
                </a:solidFill>
                <a:latin typeface="Helvetica"/>
              </a:rPr>
              <a:t>Doctor + nurse performance dashboards — attendance, no-shows, activity</a:t>
            </a:r>
          </a:p>
          <a:p>
            <a:pPr>
              <a:spcBef>
                <a:spcPts val="500"/>
              </a:spcBef>
            </a:pPr>
            <a:r>
              <a:rPr sz="1100" b="1">
                <a:solidFill>
                  <a:srgbClr val="059669"/>
                </a:solidFill>
                <a:latin typeface="Helvetica"/>
              </a:rPr>
              <a:t>✓  </a:t>
            </a:r>
            <a:r>
              <a:rPr sz="1100">
                <a:solidFill>
                  <a:srgbClr val="1B2A4A"/>
                </a:solidFill>
                <a:latin typeface="Helvetica"/>
              </a:rPr>
              <a:t>Chair utilization heatmap — which chair-hours are actually filled</a:t>
            </a:r>
          </a:p>
          <a:p>
            <a:pPr>
              <a:spcBef>
                <a:spcPts val="500"/>
              </a:spcBef>
            </a:pPr>
            <a:r>
              <a:rPr sz="1100" b="1">
                <a:solidFill>
                  <a:srgbClr val="059669"/>
                </a:solidFill>
                <a:latin typeface="Helvetica"/>
              </a:rPr>
              <a:t>✓  </a:t>
            </a:r>
            <a:r>
              <a:rPr sz="1100">
                <a:solidFill>
                  <a:srgbClr val="1B2A4A"/>
                </a:solidFill>
                <a:latin typeface="Helvetica"/>
              </a:rPr>
              <a:t>Duty calendar includes nurses, not just doctors</a:t>
            </a:r>
          </a:p>
          <a:p>
            <a:pPr>
              <a:spcBef>
                <a:spcPts val="500"/>
              </a:spcBef>
            </a:pPr>
            <a:r>
              <a:rPr sz="1100" b="1">
                <a:solidFill>
                  <a:srgbClr val="059669"/>
                </a:solidFill>
                <a:latin typeface="Helvetica"/>
              </a:rPr>
              <a:t>✓  </a:t>
            </a:r>
            <a:r>
              <a:rPr sz="1100">
                <a:solidFill>
                  <a:srgbClr val="1B2A4A"/>
                </a:solidFill>
                <a:latin typeface="Helvetica"/>
              </a:rPr>
              <a:t>Audit log — patient name + 'X → Y' transitions, search + filter</a:t>
            </a:r>
          </a:p>
          <a:p>
            <a:pPr>
              <a:spcBef>
                <a:spcPts val="500"/>
              </a:spcBef>
            </a:pPr>
            <a:r>
              <a:rPr sz="1100" b="1">
                <a:solidFill>
                  <a:srgbClr val="059669"/>
                </a:solidFill>
                <a:latin typeface="Helvetica"/>
              </a:rPr>
              <a:t>✓  </a:t>
            </a:r>
            <a:r>
              <a:rPr sz="1100">
                <a:solidFill>
                  <a:srgbClr val="1B2A4A"/>
                </a:solidFill>
                <a:latin typeface="Helvetica"/>
              </a:rPr>
              <a:t>Roadmap: review system + payroll handoff (PayrollPanda)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35508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Helvetica"/>
              </a:rPr>
              <a:t>Seat cap reached? WhatsApp us — we top up without forcing a Franchise upgrade.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45720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B2A4A"/>
                </a:solidFill>
                <a:latin typeface="Helvetica"/>
              </a:rPr>
              <a:t>Standard vs Premium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Helvetica"/>
              </a:rPr>
              <a:t>Kanan Digital Enterprise · kanan.my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Helvetica"/>
              </a:rPr>
              <a:t>15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5029200" cy="2926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5029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4F1EA"/>
                </a:solidFill>
                <a:latin typeface="Helvetica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5577840" y="1828800"/>
            <a:ext cx="2926080" cy="2926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0" y="1828800"/>
            <a:ext cx="29260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4F1EA"/>
                </a:solidFill>
                <a:latin typeface="Helvetica"/>
              </a:rPr>
              <a:t>Standard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03920" y="1828800"/>
            <a:ext cx="2926080" cy="2926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1828800"/>
            <a:ext cx="29260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4F1EA"/>
                </a:solidFill>
                <a:latin typeface="Helvetica"/>
              </a:rPr>
              <a:t>Premium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121408"/>
            <a:ext cx="5029200" cy="292608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121408"/>
            <a:ext cx="47548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Helvetica"/>
              </a:rPr>
              <a:t>Monthly price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77840" y="2121408"/>
            <a:ext cx="2926080" cy="292608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15000" y="2121408"/>
            <a:ext cx="2651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i="0">
                <a:solidFill>
                  <a:srgbClr val="1B2A4A"/>
                </a:solidFill>
                <a:latin typeface="Helvetica"/>
              </a:rPr>
              <a:t>RM 150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03920" y="2121408"/>
            <a:ext cx="2926080" cy="292608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41080" y="2121408"/>
            <a:ext cx="2651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i="0">
                <a:solidFill>
                  <a:srgbClr val="1B2A4A"/>
                </a:solidFill>
                <a:latin typeface="Helvetica"/>
              </a:rPr>
              <a:t>RM 280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414016"/>
            <a:ext cx="50292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2414016"/>
            <a:ext cx="47548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Helvetica"/>
              </a:rPr>
              <a:t>Owner / Doctor / Nurse seats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77840" y="2414016"/>
            <a:ext cx="29260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5000" y="2414016"/>
            <a:ext cx="2651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i="0">
                <a:solidFill>
                  <a:srgbClr val="1B2A4A"/>
                </a:solidFill>
                <a:latin typeface="Helvetica"/>
              </a:rPr>
              <a:t>1 / 2 / 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03920" y="2414016"/>
            <a:ext cx="29260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41080" y="2414016"/>
            <a:ext cx="2651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i="0">
                <a:solidFill>
                  <a:srgbClr val="1B2A4A"/>
                </a:solidFill>
                <a:latin typeface="Helvetica"/>
              </a:rPr>
              <a:t>1 / 4 / 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2706624"/>
            <a:ext cx="5029200" cy="292608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2706624"/>
            <a:ext cx="47548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Helvetica"/>
              </a:rPr>
              <a:t>Booking + WhatsApp templates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77840" y="2706624"/>
            <a:ext cx="2926080" cy="292608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15000" y="2706624"/>
            <a:ext cx="2651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059669"/>
                </a:solidFill>
                <a:latin typeface="Helvetica"/>
              </a:rPr>
              <a:t>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03920" y="2706624"/>
            <a:ext cx="2926080" cy="292608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41080" y="2706624"/>
            <a:ext cx="2651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059669"/>
                </a:solidFill>
                <a:latin typeface="Helvetica"/>
              </a:rPr>
              <a:t>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2999232"/>
            <a:ext cx="50292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2999232"/>
            <a:ext cx="47548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Helvetica"/>
              </a:rPr>
              <a:t>Recall reminders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77840" y="2999232"/>
            <a:ext cx="29260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15000" y="2999232"/>
            <a:ext cx="2651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059669"/>
                </a:solidFill>
                <a:latin typeface="Helvetica"/>
              </a:rPr>
              <a:t>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03920" y="2999232"/>
            <a:ext cx="29260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41080" y="2999232"/>
            <a:ext cx="2651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059669"/>
                </a:solidFill>
                <a:latin typeface="Helvetica"/>
              </a:rPr>
              <a:t>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3291840"/>
            <a:ext cx="5029200" cy="292608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3291840"/>
            <a:ext cx="47548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Helvetica"/>
              </a:rPr>
              <a:t>Terminal lockscreen + nurse PIN flow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577840" y="3291840"/>
            <a:ext cx="2926080" cy="292608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715000" y="3291840"/>
            <a:ext cx="2651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059669"/>
                </a:solidFill>
                <a:latin typeface="Helvetica"/>
              </a:rPr>
              <a:t>✓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503920" y="3291840"/>
            <a:ext cx="2926080" cy="292608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41080" y="3291840"/>
            <a:ext cx="2651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059669"/>
                </a:solidFill>
                <a:latin typeface="Helvetica"/>
              </a:rPr>
              <a:t>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3584448"/>
            <a:ext cx="50292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" y="3584448"/>
            <a:ext cx="47548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Helvetica"/>
              </a:rPr>
              <a:t>Staff cards (collapsible per-person editor)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77840" y="3584448"/>
            <a:ext cx="29260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715000" y="3584448"/>
            <a:ext cx="2651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059669"/>
                </a:solidFill>
                <a:latin typeface="Helvetica"/>
              </a:rPr>
              <a:t>✓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03920" y="3584448"/>
            <a:ext cx="29260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641080" y="3584448"/>
            <a:ext cx="2651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059669"/>
                </a:solidFill>
                <a:latin typeface="Helvetica"/>
              </a:rPr>
              <a:t>✓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3877056"/>
            <a:ext cx="5029200" cy="292608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5800" y="3877056"/>
            <a:ext cx="47548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Helvetica"/>
              </a:rPr>
              <a:t>Approvals (leave + shift in one place)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577840" y="3877056"/>
            <a:ext cx="2926080" cy="292608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715000" y="3877056"/>
            <a:ext cx="2651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059669"/>
                </a:solidFill>
                <a:latin typeface="Helvetica"/>
              </a:rPr>
              <a:t>✓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503920" y="3877056"/>
            <a:ext cx="2926080" cy="292608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641080" y="3877056"/>
            <a:ext cx="2651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059669"/>
                </a:solidFill>
                <a:latin typeface="Helvetica"/>
              </a:rPr>
              <a:t>✓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" y="4169664"/>
            <a:ext cx="50292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5800" y="4169664"/>
            <a:ext cx="47548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Helvetica"/>
              </a:rPr>
              <a:t>CSV backup (folder + auto-email)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577840" y="4169664"/>
            <a:ext cx="29260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715000" y="4169664"/>
            <a:ext cx="2651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059669"/>
                </a:solidFill>
                <a:latin typeface="Helvetica"/>
              </a:rPr>
              <a:t>✓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503920" y="4169664"/>
            <a:ext cx="29260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641080" y="4169664"/>
            <a:ext cx="2651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059669"/>
                </a:solidFill>
                <a:latin typeface="Helvetica"/>
              </a:rPr>
              <a:t>✓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8640" y="4462272"/>
            <a:ext cx="5029200" cy="292608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85800" y="4462272"/>
            <a:ext cx="47548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Helvetica"/>
              </a:rPr>
              <a:t>Room flow — check-in / out / treatment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577840" y="4462272"/>
            <a:ext cx="2926080" cy="292608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715000" y="4462272"/>
            <a:ext cx="2651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  <a:latin typeface="Helvetica"/>
              </a:rPr>
              <a:t>—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503920" y="4462272"/>
            <a:ext cx="2926080" cy="292608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641080" y="4462272"/>
            <a:ext cx="2651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059669"/>
                </a:solidFill>
                <a:latin typeface="Helvetica"/>
              </a:rPr>
              <a:t>✓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48640" y="4754880"/>
            <a:ext cx="50292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85800" y="4754880"/>
            <a:ext cx="47548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Helvetica"/>
              </a:rPr>
              <a:t>Patient-facing doctor cards on /book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577840" y="4754880"/>
            <a:ext cx="29260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715000" y="4754880"/>
            <a:ext cx="2651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  <a:latin typeface="Helvetica"/>
              </a:rPr>
              <a:t>—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503920" y="4754880"/>
            <a:ext cx="29260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641080" y="4754880"/>
            <a:ext cx="2651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059669"/>
                </a:solidFill>
                <a:latin typeface="Helvetica"/>
              </a:rPr>
              <a:t>✓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48640" y="5047488"/>
            <a:ext cx="5029200" cy="292608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85800" y="5047488"/>
            <a:ext cx="47548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Helvetica"/>
              </a:rPr>
              <a:t>Duty calendar — nurses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577840" y="5047488"/>
            <a:ext cx="2926080" cy="292608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715000" y="5047488"/>
            <a:ext cx="2651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  <a:latin typeface="Helvetica"/>
              </a:rPr>
              <a:t>—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503920" y="5047488"/>
            <a:ext cx="2926080" cy="292608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641080" y="5047488"/>
            <a:ext cx="2651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059669"/>
                </a:solidFill>
                <a:latin typeface="Helvetica"/>
              </a:rPr>
              <a:t>✓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48640" y="5340096"/>
            <a:ext cx="50292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85800" y="5340096"/>
            <a:ext cx="47548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Helvetica"/>
              </a:rPr>
              <a:t>Doctor + nurse performance analytics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577840" y="5340096"/>
            <a:ext cx="29260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715000" y="5340096"/>
            <a:ext cx="2651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  <a:latin typeface="Helvetica"/>
              </a:rPr>
              <a:t>—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503920" y="5340096"/>
            <a:ext cx="29260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641080" y="5340096"/>
            <a:ext cx="2651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059669"/>
                </a:solidFill>
                <a:latin typeface="Helvetica"/>
              </a:rPr>
              <a:t>✓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48640" y="5632704"/>
            <a:ext cx="5029200" cy="292608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85800" y="5632704"/>
            <a:ext cx="47548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Helvetica"/>
              </a:rPr>
              <a:t>Chair utilization heatmap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577840" y="5632704"/>
            <a:ext cx="2926080" cy="292608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715000" y="5632704"/>
            <a:ext cx="2651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  <a:latin typeface="Helvetica"/>
              </a:rPr>
              <a:t>—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503920" y="5632704"/>
            <a:ext cx="2926080" cy="292608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641080" y="5632704"/>
            <a:ext cx="2651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059669"/>
                </a:solidFill>
                <a:latin typeface="Helvetica"/>
              </a:rPr>
              <a:t>✓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48640" y="5925312"/>
            <a:ext cx="50292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85800" y="5925312"/>
            <a:ext cx="47548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Helvetica"/>
              </a:rPr>
              <a:t>Audit log (full PII + transitions)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577840" y="5925312"/>
            <a:ext cx="29260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715000" y="5925312"/>
            <a:ext cx="2651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  <a:latin typeface="Helvetica"/>
              </a:rPr>
              <a:t>—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503920" y="5925312"/>
            <a:ext cx="29260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641080" y="5925312"/>
            <a:ext cx="2651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059669"/>
                </a:solidFill>
                <a:latin typeface="Helvetica"/>
              </a:rPr>
              <a:t>✓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45720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B2A4A"/>
                </a:solidFill>
                <a:latin typeface="Helvetica"/>
              </a:rPr>
              <a:t>Start to finish — no surprises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Helvetica"/>
              </a:rPr>
              <a:t>Kanan Digital Enterprise · kanan.my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Helvetica"/>
              </a:rPr>
              <a:t>16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2567863" cy="1920240"/>
          </a:xfrm>
          <a:prstGeom prst="rect">
            <a:avLst/>
          </a:prstGeom>
          <a:solidFill>
            <a:srgbClr val="FFFFFF"/>
          </a:solidFill>
          <a:ln>
            <a:solidFill>
              <a:srgbClr val="2E4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057400"/>
            <a:ext cx="45720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211066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97480"/>
            <a:ext cx="2110663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Helvetica"/>
              </a:rPr>
              <a:t>Talk to our 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108960"/>
            <a:ext cx="2110663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Helvetica"/>
              </a:rPr>
              <a:t>WhatsApp or quick call. Tell us what's slowing you down.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90823" y="1828800"/>
            <a:ext cx="2567863" cy="1920240"/>
          </a:xfrm>
          <a:prstGeom prst="rect">
            <a:avLst/>
          </a:prstGeom>
          <a:solidFill>
            <a:srgbClr val="FFFFFF"/>
          </a:solidFill>
          <a:ln>
            <a:solidFill>
              <a:srgbClr val="2E4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19423" y="2057400"/>
            <a:ext cx="45720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9423" y="2194560"/>
            <a:ext cx="211066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Georg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9423" y="2697480"/>
            <a:ext cx="2110663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Helvetica"/>
              </a:rPr>
              <a:t>Schedule a discussion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9423" y="3108960"/>
            <a:ext cx="2110663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Helvetica"/>
              </a:rPr>
              <a:t>Longer working session. No sales deck.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006" y="1828800"/>
            <a:ext cx="2567863" cy="1920240"/>
          </a:xfrm>
          <a:prstGeom prst="rect">
            <a:avLst/>
          </a:prstGeom>
          <a:solidFill>
            <a:srgbClr val="FFFFFF"/>
          </a:solidFill>
          <a:ln>
            <a:solidFill>
              <a:srgbClr val="2E4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61606" y="2057400"/>
            <a:ext cx="45720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1606" y="2194560"/>
            <a:ext cx="211066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Georg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1606" y="2697480"/>
            <a:ext cx="2110663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Helvetica"/>
              </a:rPr>
              <a:t>Workflow &amp; framework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6" y="3108960"/>
            <a:ext cx="2110663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Helvetica"/>
              </a:rPr>
              <a:t>Map your current ops + where software fits.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75189" y="1828800"/>
            <a:ext cx="2567863" cy="1920240"/>
          </a:xfrm>
          <a:prstGeom prst="rect">
            <a:avLst/>
          </a:prstGeom>
          <a:solidFill>
            <a:srgbClr val="FFFFFF"/>
          </a:solidFill>
          <a:ln>
            <a:solidFill>
              <a:srgbClr val="2E4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303789" y="2057400"/>
            <a:ext cx="45720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03789" y="2194560"/>
            <a:ext cx="211066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03789" y="2697480"/>
            <a:ext cx="2110663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Helvetica"/>
              </a:rPr>
              <a:t>Proposal &amp; strategic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03789" y="3108960"/>
            <a:ext cx="2110663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Helvetica"/>
              </a:rPr>
              <a:t>1-page scope, timeline, price. Push back where it doesn't fit.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023360"/>
            <a:ext cx="2567863" cy="1920240"/>
          </a:xfrm>
          <a:prstGeom prst="rect">
            <a:avLst/>
          </a:prstGeom>
          <a:solidFill>
            <a:srgbClr val="FFFFFF"/>
          </a:solidFill>
          <a:ln>
            <a:solidFill>
              <a:srgbClr val="2E4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251960"/>
            <a:ext cx="45720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389120"/>
            <a:ext cx="211066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Georgia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892040"/>
            <a:ext cx="2110663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Helvetica"/>
              </a:rPr>
              <a:t>Demo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303520"/>
            <a:ext cx="2110663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Helvetica"/>
              </a:rPr>
              <a:t>Working prototype on your real data, in weeks not months.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90823" y="4023360"/>
            <a:ext cx="2567863" cy="1920240"/>
          </a:xfrm>
          <a:prstGeom prst="rect">
            <a:avLst/>
          </a:prstGeom>
          <a:solidFill>
            <a:srgbClr val="FFFFFF"/>
          </a:solidFill>
          <a:ln>
            <a:solidFill>
              <a:srgbClr val="2E4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19423" y="4251960"/>
            <a:ext cx="45720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19423" y="4389120"/>
            <a:ext cx="211066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Georgia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19423" y="4892040"/>
            <a:ext cx="2110663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Helvetica"/>
              </a:rPr>
              <a:t>Commercial discussion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19423" y="5303520"/>
            <a:ext cx="2110663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Helvetica"/>
              </a:rPr>
              <a:t>Full commercial agreed once the demo proves out.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33006" y="4023360"/>
            <a:ext cx="2567863" cy="1920240"/>
          </a:xfrm>
          <a:prstGeom prst="rect">
            <a:avLst/>
          </a:prstGeom>
          <a:solidFill>
            <a:srgbClr val="FFFFFF"/>
          </a:solidFill>
          <a:ln>
            <a:solidFill>
              <a:srgbClr val="2E4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61606" y="4251960"/>
            <a:ext cx="45720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61606" y="4389120"/>
            <a:ext cx="211066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Georgia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61606" y="4892040"/>
            <a:ext cx="2110663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Helvetica"/>
              </a:rPr>
              <a:t>Setup &amp; training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61606" y="5303520"/>
            <a:ext cx="2110663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Helvetica"/>
              </a:rPr>
              <a:t>Go-live, team trained, real users on the system. WhatsApp throughout.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075189" y="4023360"/>
            <a:ext cx="2567863" cy="1920240"/>
          </a:xfrm>
          <a:prstGeom prst="rect">
            <a:avLst/>
          </a:prstGeom>
          <a:solidFill>
            <a:srgbClr val="FFFFFF"/>
          </a:solidFill>
          <a:ln>
            <a:solidFill>
              <a:srgbClr val="2E4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303789" y="4251960"/>
            <a:ext cx="45720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03789" y="4389120"/>
            <a:ext cx="211066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Georgia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03789" y="4892040"/>
            <a:ext cx="2110663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Helvetica"/>
              </a:rPr>
              <a:t>Done — and still here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03789" y="5303520"/>
            <a:ext cx="2110663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Helvetica"/>
              </a:rPr>
              <a:t>Support continues. We don't disappear after handover.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45720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B2A4A"/>
                </a:solidFill>
                <a:latin typeface="Helvetica"/>
              </a:rPr>
              <a:t>Your data stays yours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1">
                <a:solidFill>
                  <a:srgbClr val="2E4374"/>
                </a:solidFill>
                <a:latin typeface="Helvetica"/>
              </a:rPr>
              <a:t>Trust before technology.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Helvetica"/>
              </a:rPr>
              <a:t>Kanan Digital Enterprise · kanan.my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Helvetica"/>
              </a:rPr>
              <a:t>17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94560"/>
            <a:ext cx="1109441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500" b="1">
                <a:solidFill>
                  <a:srgbClr val="C9A227"/>
                </a:solidFill>
                <a:latin typeface="Helvetica"/>
              </a:rPr>
              <a:t>●  </a:t>
            </a:r>
            <a:r>
              <a:rPr sz="1500">
                <a:solidFill>
                  <a:srgbClr val="1B2A4A"/>
                </a:solidFill>
                <a:latin typeface="Helvetica"/>
              </a:rPr>
              <a:t>Hosted in Malaysia wherever possible (Supabase + Vercel)</a:t>
            </a:r>
          </a:p>
          <a:p>
            <a:pPr>
              <a:spcBef>
                <a:spcPts val="1000"/>
              </a:spcBef>
            </a:pPr>
            <a:r>
              <a:rPr sz="1500" b="1">
                <a:solidFill>
                  <a:srgbClr val="C9A227"/>
                </a:solidFill>
                <a:latin typeface="Helvetica"/>
              </a:rPr>
              <a:t>●  </a:t>
            </a:r>
            <a:r>
              <a:rPr sz="1500">
                <a:solidFill>
                  <a:srgbClr val="1B2A4A"/>
                </a:solidFill>
                <a:latin typeface="Helvetica"/>
              </a:rPr>
              <a:t>PDPA-aware — patient data export any time, schema visible on request</a:t>
            </a:r>
          </a:p>
          <a:p>
            <a:pPr>
              <a:spcBef>
                <a:spcPts val="1000"/>
              </a:spcBef>
            </a:pPr>
            <a:r>
              <a:rPr sz="1500" b="1">
                <a:solidFill>
                  <a:srgbClr val="C9A227"/>
                </a:solidFill>
                <a:latin typeface="Helvetica"/>
              </a:rPr>
              <a:t>●  </a:t>
            </a:r>
            <a:r>
              <a:rPr sz="1500">
                <a:solidFill>
                  <a:srgbClr val="1B2A4A"/>
                </a:solidFill>
                <a:latin typeface="Helvetica"/>
              </a:rPr>
              <a:t>We don't train external AI models on your operational data</a:t>
            </a:r>
          </a:p>
          <a:p>
            <a:pPr>
              <a:spcBef>
                <a:spcPts val="1000"/>
              </a:spcBef>
            </a:pPr>
            <a:r>
              <a:rPr sz="1500" b="1">
                <a:solidFill>
                  <a:srgbClr val="C9A227"/>
                </a:solidFill>
                <a:latin typeface="Helvetica"/>
              </a:rPr>
              <a:t>●  </a:t>
            </a:r>
            <a:r>
              <a:rPr sz="1500">
                <a:solidFill>
                  <a:srgbClr val="1B2A4A"/>
                </a:solidFill>
                <a:latin typeface="Helvetica"/>
              </a:rPr>
              <a:t>Owner downloads a full CSV backup any day. Daily auto-email backup if you want it.</a:t>
            </a:r>
          </a:p>
          <a:p>
            <a:pPr>
              <a:spcBef>
                <a:spcPts val="1000"/>
              </a:spcBef>
            </a:pPr>
            <a:r>
              <a:rPr sz="1500" b="1">
                <a:solidFill>
                  <a:srgbClr val="C9A227"/>
                </a:solidFill>
                <a:latin typeface="Helvetica"/>
              </a:rPr>
              <a:t>●  </a:t>
            </a:r>
            <a:r>
              <a:rPr sz="1500">
                <a:solidFill>
                  <a:srgbClr val="1B2A4A"/>
                </a:solidFill>
                <a:latin typeface="Helvetica"/>
              </a:rPr>
              <a:t>Sterilization log, X-rays, clinical treatment notes stay in your EMR — not in our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Helvetica"/>
              </a:rPr>
              <a:t>Kanan Digital Enterprise (SSM Enterprise registration in progress) · Kuala Lumpur, Malaysia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45720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B2A4A"/>
                </a:solidFill>
                <a:latin typeface="Helvetica"/>
              </a:rPr>
              <a:t>Try the demos. Get set up in 4 weeks.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Helvetica"/>
              </a:rPr>
              <a:t>Kanan Digital Enterprise · kanan.my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Helvetica"/>
              </a:rPr>
              <a:t>18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929487" y="2011680"/>
            <a:ext cx="5029200" cy="2103120"/>
          </a:xfrm>
          <a:prstGeom prst="rect">
            <a:avLst/>
          </a:prstGeom>
          <a:solidFill>
            <a:srgbClr val="FFFFFF"/>
          </a:solidFill>
          <a:ln>
            <a:solidFill>
              <a:srgbClr val="2E4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29487" y="2011680"/>
            <a:ext cx="5029200" cy="137160"/>
          </a:xfrm>
          <a:prstGeom prst="rect">
            <a:avLst/>
          </a:prstGeom>
          <a:solidFill>
            <a:srgbClr val="2E4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9487" y="237744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1B2A4A"/>
                </a:solidFill>
                <a:latin typeface="Helvetica"/>
              </a:rPr>
              <a:t>Standard 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9487" y="292608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C9A227"/>
                </a:solidFill>
                <a:latin typeface="Helvetica"/>
              </a:rPr>
              <a:t>standard-demo.kanan.my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9487" y="3383280"/>
            <a:ext cx="5029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Helvetica"/>
              </a:rPr>
              <a:t>RM 150/month · 2 doctors · 3 nurses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7" y="2011680"/>
            <a:ext cx="5029200" cy="2103120"/>
          </a:xfrm>
          <a:prstGeom prst="rect">
            <a:avLst/>
          </a:prstGeom>
          <a:solidFill>
            <a:srgbClr val="FFFFFF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3007" y="2011680"/>
            <a:ext cx="5029200" cy="13716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3007" y="237744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1B2A4A"/>
                </a:solidFill>
                <a:latin typeface="Helvetica"/>
              </a:rPr>
              <a:t>Premium demo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3007" y="292608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C9A227"/>
                </a:solidFill>
                <a:latin typeface="Helvetica"/>
              </a:rPr>
              <a:t>premium-demo.kanan.my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3007" y="3383280"/>
            <a:ext cx="5029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Helvetica"/>
              </a:rPr>
              <a:t>RM 280/month · 4 doctors · 6 nurses · analytics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4846320"/>
            <a:ext cx="12191695" cy="1463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0" y="507492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1">
                <a:solidFill>
                  <a:srgbClr val="F4F1EA"/>
                </a:solidFill>
                <a:latin typeface="Helvetica"/>
              </a:rPr>
              <a:t>Hi Kanan team — I'd like to enquire.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0" y="5623560"/>
            <a:ext cx="121916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E3C76A"/>
                </a:solidFill>
                <a:latin typeface="Helvetica"/>
              </a:rPr>
              <a:t>WhatsApp +60 12-347 8126   ·   hello@kanan.my   ·   kanan.my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