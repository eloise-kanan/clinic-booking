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them nod. Don't oversell. Ask: 'Which of these sounds like your Tuesday?'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Highlight: nurse audit trail visible — owner can verify who sent what.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is the most reliable revenue lever in dentistry. Until now, it was a nurse's memory + a sticky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Attendance % colour-coded: green ≥85, amber ≥70, red below. Surfaces underperformance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Owners love this. They finally know who's actually working vs who's coasting.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to decide working-hour changes or which doctor needs a Saturday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them stare for 10 seconds. Don't walk through line by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close on this slide. Ask if they have 30 seconds to try the demo on their phone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0" b="1" i="0">
                <a:solidFill>
                  <a:srgbClr val="1B2A4A"/>
                </a:solidFill>
                <a:latin typeface="Georgia"/>
              </a:rPr>
              <a:t>kanan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4320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C9A227"/>
                </a:solidFill>
                <a:latin typeface="Helvetica"/>
              </a:rPr>
              <a:t>your trusted right hand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1B2A4A"/>
                </a:solidFill>
                <a:latin typeface="Helvetica"/>
              </a:rPr>
              <a:t>A booking system built for Malaysian dental clinics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29768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Helvetica"/>
              </a:rPr>
              <a:t>by Kanan Digital Enterprise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4F1EA"/>
                </a:solidFill>
                <a:latin typeface="Helvetica"/>
              </a:rPr>
              <a:t>kanan.my   ·   hello@kanan.my   ·   WhatsApp +60 12-347 8126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Helvetica"/>
              </a:rPr>
              <a:t>Short-staffed and stretched thin?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94484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2E4374"/>
                </a:solidFill>
                <a:latin typeface="Helvetica"/>
              </a:rPr>
              <a:t>Most days end the same way at a small dental clinic.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"/>
              </a:rPr>
              <a:t>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7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700">
                <a:solidFill>
                  <a:srgbClr val="1B2A4A"/>
                </a:solidFill>
                <a:latin typeface="Helvetica"/>
              </a:rPr>
              <a:t>50+ WhatsApp messages a day — just to confirm and remind appointments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700">
                <a:solidFill>
                  <a:srgbClr val="1B2A4A"/>
                </a:solidFill>
                <a:latin typeface="Helvetica"/>
              </a:rPr>
              <a:t>A no-show wastes a 1-hour slot, and the patient never paid a deposit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700">
                <a:solidFill>
                  <a:srgbClr val="1B2A4A"/>
                </a:solidFill>
                <a:latin typeface="Helvetica"/>
              </a:rPr>
              <a:t>The owner has no idea who's busy and who's coasting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700">
                <a:solidFill>
                  <a:srgbClr val="1B2A4A"/>
                </a:solidFill>
                <a:latin typeface="Helvetica"/>
              </a:rPr>
              <a:t>Patient records: half in a notebook, half in a Sheet, half in someone's head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700">
                <a:solidFill>
                  <a:srgbClr val="1B2A4A"/>
                </a:solidFill>
                <a:latin typeface="Helvetica"/>
              </a:rPr>
              <a:t>When anyone takes leave, the schedule unravels for a week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Helvetica"/>
              </a:rPr>
              <a:t>We've been there. So we built the right hand.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"/>
              </a:rPr>
              <a:t>3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2E4374"/>
                </a:solidFill>
                <a:latin typeface="Helvetica"/>
              </a:rPr>
              <a:t>Kanan ("KAH-nahn") means right in Malay — as in right hand. The dependable hand on the right side of your business.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6687" y="3291840"/>
            <a:ext cx="45720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6687" y="37490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Helvetica"/>
              </a:rPr>
              <a:t>[photo]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6687" y="44805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B2A4A"/>
                </a:solidFill>
                <a:latin typeface="Helvetica"/>
              </a:rPr>
              <a:t>[Founder name 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6687" y="49834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Helvetica"/>
              </a:rPr>
              <a:t>Co-founder · [role]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3291840"/>
            <a:ext cx="45720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37490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Helvetica"/>
              </a:rPr>
              <a:t>[photo]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44805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B2A4A"/>
                </a:solidFill>
                <a:latin typeface="Helvetica"/>
              </a:rPr>
              <a:t>[Founder name 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49834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Helvetica"/>
              </a:rPr>
              <a:t>Co-founder · [role]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52160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1B2A4A"/>
                </a:solidFill>
                <a:latin typeface="Helvetica"/>
              </a:rPr>
              <a:t>A Malaysian software studio. We build for the businesses around us — not for venture capital.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Helvetica"/>
              </a:rPr>
              <a:t>One product. The whole booking lifecycle.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"/>
              </a:rPr>
              <a:t>4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576218" cy="228600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357621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 i="0">
                <a:solidFill>
                  <a:srgbClr val="1B2A4A"/>
                </a:solidFill>
                <a:latin typeface="Helvetica"/>
              </a:rP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35762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  <a:latin typeface="Helvetica"/>
              </a:rPr>
              <a:t>Patient self-books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357621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Helvetica"/>
              </a:rPr>
              <a:t>via your /book page. EN · 中文 · BM.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7738" y="2011680"/>
            <a:ext cx="3576218" cy="228600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7738" y="2148840"/>
            <a:ext cx="357621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 i="0">
                <a:solidFill>
                  <a:srgbClr val="1B2A4A"/>
                </a:solidFill>
                <a:latin typeface="Helvetica"/>
              </a:rPr>
              <a:t>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7738" y="2926080"/>
            <a:ext cx="35762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  <a:latin typeface="Helvetica"/>
              </a:rPr>
              <a:t>Nurse runs the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7738" y="3520440"/>
            <a:ext cx="357621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Helvetica"/>
              </a:rPr>
              <a:t>Pending queue, WhatsApp, reminders, recall.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8276" y="2011680"/>
            <a:ext cx="3576218" cy="228600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148840"/>
            <a:ext cx="357621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 i="0">
                <a:solidFill>
                  <a:srgbClr val="1B2A4A"/>
                </a:solidFill>
                <a:latin typeface="Helvetica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8276" y="2926080"/>
            <a:ext cx="35762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  <a:latin typeface="Helvetica"/>
              </a:rPr>
              <a:t>Owner sees everything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8276" y="3520440"/>
            <a:ext cx="357621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Helvetica"/>
              </a:rPr>
              <a:t>Bookings, performance, audit log.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1B2A4A"/>
                </a:solidFill>
                <a:latin typeface="Helvetica"/>
              </a:rPr>
              <a:t>All three views, one shared database. No double entry, no copy-paste between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Helvetica"/>
              </a:rPr>
              <a:t>Patient self-books, no phone tag.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94484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2E4374"/>
                </a:solidFill>
                <a:latin typeface="Helvetica"/>
              </a:rPr>
              <a:t>Identity first, then they pick book / reschedule / cancel.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"/>
              </a:rPr>
              <a:t>5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300">
                <a:solidFill>
                  <a:srgbClr val="1B2A4A"/>
                </a:solidFill>
                <a:latin typeface="Helvetica"/>
              </a:rPr>
              <a:t>Mobile-first form. 4 taps to a request.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300">
                <a:solidFill>
                  <a:srgbClr val="1B2A4A"/>
                </a:solidFill>
                <a:latin typeface="Helvetica"/>
              </a:rPr>
              <a:t>Language toggle: EN · 中文 · BM (name input stays Romanized for IC)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300">
                <a:solidFill>
                  <a:srgbClr val="1B2A4A"/>
                </a:solidFill>
                <a:latin typeface="Helvetica"/>
              </a:rPr>
              <a:t>5-week future window. Real-time slot availability — no fake slots.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300">
                <a:solidFill>
                  <a:srgbClr val="1B2A4A"/>
                </a:solidFill>
                <a:latin typeface="Helvetica"/>
              </a:rPr>
              <a:t>Submissions land in your nurse's queue, never directly on the calendar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300">
                <a:solidFill>
                  <a:srgbClr val="1B2A4A"/>
                </a:solidFill>
                <a:latin typeface="Helvetica"/>
              </a:rPr>
              <a:t>Branded with your clinic's logo + colours, not Kanan's</a:t>
            </a:r>
          </a:p>
        </p:txBody>
      </p:sp>
      <p:pic>
        <p:nvPicPr>
          <p:cNvPr id="9" name="Picture 8" descr="mock_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4572000"/>
          </a:xfrm>
          <a:prstGeom prst="rect">
            <a:avLst/>
          </a:prstGeom>
          <a:ln w="9525">
            <a:solidFill>
              <a:srgbClr val="2E4374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Helvetica"/>
              </a:rPr>
              <a:t>Owner dashboard — a clinic you can actually see.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94484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2E4374"/>
                </a:solidFill>
                <a:latin typeface="Helvetica"/>
              </a:rPr>
              <a:t>This week + today's bookings + recent activity, one screen.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"/>
              </a:rPr>
              <a:t>6 / 22</a:t>
            </a:r>
          </a:p>
        </p:txBody>
      </p:sp>
      <p:pic>
        <p:nvPicPr>
          <p:cNvPr id="8" name="Picture 7" descr="mock_overview_prem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11277295" cy="4572000"/>
          </a:xfrm>
          <a:prstGeom prst="rect">
            <a:avLst/>
          </a:prstGeom>
          <a:ln w="9525">
            <a:solidFill>
              <a:srgbClr val="2E4374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Helvetica"/>
              </a:rPr>
              <a:t>Staff management with hard seat caps.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94484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2E4374"/>
                </a:solidFill>
                <a:latin typeface="Helvetica"/>
              </a:rPr>
              <a:t>Your plan defines what you can grow to. Top-up out-of-band when you need more.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"/>
              </a:rPr>
              <a:t>7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300">
                <a:solidFill>
                  <a:srgbClr val="1B2A4A"/>
                </a:solidFill>
                <a:latin typeface="Helvetica"/>
              </a:rPr>
              <a:t>Live seat meters show capacity at a glance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300">
                <a:solidFill>
                  <a:srgbClr val="1B2A4A"/>
                </a:solidFill>
                <a:latin typeface="Helvetica"/>
              </a:rPr>
              <a:t>Server-side enforcement — adding a 3rd doctor on Standard fails with a clear message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300">
                <a:solidFill>
                  <a:srgbClr val="1B2A4A"/>
                </a:solidFill>
                <a:latin typeface="Helvetica"/>
              </a:rPr>
              <a:t>Deactivated staff don't consume seats — leave handling is free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300">
                <a:solidFill>
                  <a:srgbClr val="1B2A4A"/>
                </a:solidFill>
                <a:latin typeface="Helvetica"/>
              </a:rPr>
              <a:t>Top-up via WhatsApp: 'Add 2 more nurses' — no forced tier upgrade</a:t>
            </a:r>
          </a:p>
        </p:txBody>
      </p:sp>
      <p:pic>
        <p:nvPicPr>
          <p:cNvPr id="9" name="Picture 8" descr="mock_staff_stand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4572000"/>
          </a:xfrm>
          <a:prstGeom prst="rect">
            <a:avLst/>
          </a:prstGeom>
          <a:ln w="9525">
            <a:solidFill>
              <a:srgbClr val="2E4374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Helvetica"/>
              </a:rPr>
              <a:t>Pending queue — one click to confirm.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94484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2E4374"/>
                </a:solidFill>
                <a:latin typeface="Helvetica"/>
              </a:rPr>
              <a:t>Patient requests land here for nurse review. Never directly on the calendar.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"/>
              </a:rPr>
              <a:t>8 / 22</a:t>
            </a:r>
          </a:p>
        </p:txBody>
      </p:sp>
      <p:pic>
        <p:nvPicPr>
          <p:cNvPr id="8" name="Picture 7" descr="mock_pe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11277295" cy="4572000"/>
          </a:xfrm>
          <a:prstGeom prst="rect">
            <a:avLst/>
          </a:prstGeom>
          <a:ln w="9525">
            <a:solidFill>
              <a:srgbClr val="2E4374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Helvetica"/>
              </a:rPr>
              <a:t>Tomorrow's reminders, pre-written.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94484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2E4374"/>
                </a:solidFill>
                <a:latin typeface="Helvetica"/>
              </a:rPr>
              <a:t>Click 'Send' — WhatsApp opens with the message + slot already in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"/>
              </a:rPr>
              <a:t>9 / 22</a:t>
            </a:r>
          </a:p>
        </p:txBody>
      </p:sp>
      <p:pic>
        <p:nvPicPr>
          <p:cNvPr id="8" name="Picture 7" descr="mock_remin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11277295" cy="4572000"/>
          </a:xfrm>
          <a:prstGeom prst="rect">
            <a:avLst/>
          </a:prstGeom>
          <a:ln w="9525">
            <a:solidFill>
              <a:srgbClr val="2E4374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Helvetica"/>
              </a:rPr>
              <a:t>6-month recall — automatically surfaced.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94484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2E4374"/>
                </a:solidFill>
                <a:latin typeface="Helvetica"/>
              </a:rPr>
              <a:t>Every patient overdue for a checkup appears here, sorted by how overdue.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"/>
              </a:rPr>
              <a:t>10 / 22</a:t>
            </a:r>
          </a:p>
        </p:txBody>
      </p:sp>
      <p:pic>
        <p:nvPicPr>
          <p:cNvPr id="8" name="Picture 7" descr="mock_reca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11277295" cy="4572000"/>
          </a:xfrm>
          <a:prstGeom prst="rect">
            <a:avLst/>
          </a:prstGeom>
          <a:ln w="9525">
            <a:solidFill>
              <a:srgbClr val="2E4374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Helvetica"/>
              </a:rPr>
              <a:t>WhatsApp templates — owner-editable.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94484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2E4374"/>
                </a:solidFill>
                <a:latin typeface="Helvetica"/>
              </a:rPr>
              <a:t>6 templates: check, confirm, reject, cancel, reminder, recall.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"/>
              </a:rPr>
              <a:t>11 / 22</a:t>
            </a:r>
          </a:p>
        </p:txBody>
      </p:sp>
      <p:pic>
        <p:nvPicPr>
          <p:cNvPr id="8" name="Picture 7" descr="mock_temp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11277295" cy="4572000"/>
          </a:xfrm>
          <a:prstGeom prst="rect">
            <a:avLst/>
          </a:prstGeom>
          <a:ln w="9525">
            <a:solidFill>
              <a:srgbClr val="2E4374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Helvetica"/>
              </a:rPr>
              <a:t>Duty calendar — Standard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94484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2E4374"/>
                </a:solidFill>
                <a:latin typeface="Helvetica"/>
              </a:rPr>
              <a:t>Doctor schedules at a glance. Leaves shown in 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"/>
              </a:rPr>
              <a:t>12 / 22</a:t>
            </a:r>
          </a:p>
        </p:txBody>
      </p:sp>
      <p:pic>
        <p:nvPicPr>
          <p:cNvPr id="8" name="Picture 7" descr="mock_duty_stand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11277295" cy="4572000"/>
          </a:xfrm>
          <a:prstGeom prst="rect">
            <a:avLst/>
          </a:prstGeom>
          <a:ln w="9525">
            <a:solidFill>
              <a:srgbClr val="2E4374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916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4F1EA"/>
                </a:solidFill>
                <a:latin typeface="Helvetica"/>
              </a:rPr>
              <a:t>What you unlock with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C9A227"/>
                </a:solidFill>
                <a:latin typeface="Helvetica"/>
              </a:rPr>
              <a:t>Nurse duty · doctor + nurse performance · utilization · audit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0624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F4F1EA"/>
                </a:solidFill>
                <a:latin typeface="Helvetica"/>
              </a:rPr>
              <a:t>+ larger seat caps · roadmap items below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E3C76A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E3C76A"/>
                </a:solidFill>
                <a:latin typeface="Helvetica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Helvetica"/>
              </a:rPr>
              <a:t>Duty calendar —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94484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2E4374"/>
                </a:solidFill>
                <a:latin typeface="Helvetica"/>
              </a:rPr>
              <a:t>Both doctors AND nurses on one calendar. Role badges for clarity.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54335" y="685800"/>
            <a:ext cx="1280160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54335" y="6858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Helvetica"/>
              </a:rPr>
              <a:t>Premium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"/>
              </a:rPr>
              <a:t>14 / 22</a:t>
            </a:r>
          </a:p>
        </p:txBody>
      </p:sp>
      <p:pic>
        <p:nvPicPr>
          <p:cNvPr id="10" name="Picture 9" descr="mock_duty_prem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11277295" cy="4572000"/>
          </a:xfrm>
          <a:prstGeom prst="rect">
            <a:avLst/>
          </a:prstGeom>
          <a:ln w="9525">
            <a:solidFill>
              <a:srgbClr val="2E4374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Helvetica"/>
              </a:rPr>
              <a:t>Doctor performance — who's earning your chair-time.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94484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2E4374"/>
                </a:solidFill>
                <a:latin typeface="Helvetica"/>
              </a:rPr>
              <a:t>Per-doctor attendance + no-show metrics, last 7 / 30 / 90 / 180 days.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54335" y="685800"/>
            <a:ext cx="1280160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54335" y="6858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Helvetica"/>
              </a:rPr>
              <a:t>Premium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"/>
              </a:rPr>
              <a:t>15 / 22</a:t>
            </a:r>
          </a:p>
        </p:txBody>
      </p:sp>
      <p:pic>
        <p:nvPicPr>
          <p:cNvPr id="10" name="Picture 9" descr="mock_doctor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11277295" cy="4572000"/>
          </a:xfrm>
          <a:prstGeom prst="rect">
            <a:avLst/>
          </a:prstGeom>
          <a:ln w="9525">
            <a:solidFill>
              <a:srgbClr val="2E4374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Helvetica"/>
              </a:rPr>
              <a:t>Nurse performance — derived from the audit 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94484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2E4374"/>
                </a:solidFill>
                <a:latin typeface="Helvetica"/>
              </a:rPr>
              <a:t>Every approval, reminder, recall and attendance mark, attributed.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54335" y="685800"/>
            <a:ext cx="1280160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54335" y="6858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Helvetica"/>
              </a:rPr>
              <a:t>Premium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"/>
              </a:rPr>
              <a:t>16 / 22</a:t>
            </a:r>
          </a:p>
        </p:txBody>
      </p:sp>
      <p:pic>
        <p:nvPicPr>
          <p:cNvPr id="10" name="Picture 9" descr="mock_nurse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11277295" cy="4572000"/>
          </a:xfrm>
          <a:prstGeom prst="rect">
            <a:avLst/>
          </a:prstGeom>
          <a:ln w="9525">
            <a:solidFill>
              <a:srgbClr val="2E4374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Helvetica"/>
              </a:rPr>
              <a:t>Chair utilization — when are you actually full?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94484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2E4374"/>
                </a:solidFill>
                <a:latin typeface="Helvetica"/>
              </a:rPr>
              <a:t>Heatmap of confirmed bookings by weekday × hour.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54335" y="685800"/>
            <a:ext cx="1280160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54335" y="6858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Helvetica"/>
              </a:rPr>
              <a:t>Premium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"/>
              </a:rPr>
              <a:t>17 / 22</a:t>
            </a:r>
          </a:p>
        </p:txBody>
      </p:sp>
      <p:pic>
        <p:nvPicPr>
          <p:cNvPr id="10" name="Picture 9" descr="mock_uti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11277295" cy="4572000"/>
          </a:xfrm>
          <a:prstGeom prst="rect">
            <a:avLst/>
          </a:prstGeom>
          <a:ln w="9525">
            <a:solidFill>
              <a:srgbClr val="2E4374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Helvetica"/>
              </a:rPr>
              <a:t>Seat top-ups — when you grow within your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94484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2E4374"/>
                </a:solidFill>
                <a:latin typeface="Helvetica"/>
              </a:rPr>
              <a:t>You don't have to upgrade to add one more doctor or nurse.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"/>
              </a:rPr>
              <a:t>18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567" y="2011680"/>
            <a:ext cx="365760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887" y="219456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C9A22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28803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Helvetica"/>
              </a:rPr>
              <a:t>Hit your 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3383280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B2A4A"/>
                </a:solidFill>
                <a:latin typeface="Helvetica"/>
              </a:rPr>
              <a:t>You try to add a 3rd doctor while on Standard (2-doctor cap).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457200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Helvetica"/>
              </a:rPr>
              <a:t>Server rejects with: "Seat limit reached — your plan allows 2 doctors."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7047" y="2011680"/>
            <a:ext cx="365760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1367" y="219456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C9A22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1367" y="28803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Helvetica"/>
              </a:rPr>
              <a:t>Tell us on WhatsApp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1367" y="3383280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B2A4A"/>
                </a:solidFill>
                <a:latin typeface="Helvetica"/>
              </a:rPr>
              <a:t>One message: "Hi Kanan, please add 1 more doctor seat."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367" y="457200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Helvetica"/>
              </a:rPr>
              <a:t>We respond within hours during MY business time. No paperwork.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7527" y="2011680"/>
            <a:ext cx="365760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1847" y="219456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C9A227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1847" y="28803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Helvetica"/>
              </a:rPr>
              <a:t>Pay only for what you add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847" y="3383280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B2A4A"/>
                </a:solidFill>
                <a:latin typeface="Helvetica"/>
              </a:rPr>
              <a:t>Per-seat top-up: RM 30/mo per extra doctor, RM 20/mo per nurse.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1847" y="457200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Helvetica"/>
              </a:rPr>
              <a:t>Far cheaper than forcing a full Premium upgrade.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B45309"/>
                </a:solidFill>
                <a:latin typeface="Helvetica"/>
              </a:rPr>
              <a:t>💡 Top-up pricing is indicative — confirm during commercial discussion.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Helvetica"/>
              </a:rPr>
              <a:t>Standard vs Premium —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94484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2E4374"/>
                </a:solidFill>
                <a:latin typeface="Helvetica"/>
              </a:rPr>
              <a:t>Both single-clinic. Franchise is parked until you 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"/>
              </a:rPr>
              <a:t>19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5029200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4F1EA"/>
                </a:solidFill>
                <a:latin typeface="Helvetica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828800"/>
            <a:ext cx="2743200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828800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4F1EA"/>
                </a:solidFill>
                <a:latin typeface="Helvetica"/>
              </a:rPr>
              <a:t>Standard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828800"/>
            <a:ext cx="2743200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828800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4F1EA"/>
                </a:solidFill>
                <a:latin typeface="Helvetica"/>
              </a:rPr>
              <a:t>Premium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121408"/>
            <a:ext cx="5029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121408"/>
            <a:ext cx="4809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Helvetica"/>
              </a:rPr>
              <a:t>Monthly price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121408"/>
            <a:ext cx="2743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53328" y="2121408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1B2A4A"/>
                </a:solidFill>
                <a:latin typeface="Helvetica"/>
              </a:rPr>
              <a:t>RM 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2121408"/>
            <a:ext cx="2743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121408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1B2A4A"/>
                </a:solidFill>
                <a:latin typeface="Helvetica"/>
              </a:rPr>
              <a:t>RM 280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414016"/>
            <a:ext cx="5029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2414016"/>
            <a:ext cx="4809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Helvetica"/>
              </a:rPr>
              <a:t>Owner / Doctor / Nurse seats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414016"/>
            <a:ext cx="2743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53328" y="2414016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1B2A4A"/>
                </a:solidFill>
                <a:latin typeface="Helvetica"/>
              </a:rPr>
              <a:t>1 / 2 /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2414016"/>
            <a:ext cx="2743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96528" y="2414016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1B2A4A"/>
                </a:solidFill>
                <a:latin typeface="Helvetica"/>
              </a:rPr>
              <a:t>1 / 4 / 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2706624"/>
            <a:ext cx="5029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2706624"/>
            <a:ext cx="4809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Helvetica"/>
              </a:rPr>
              <a:t>Per-seat top-up available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706624"/>
            <a:ext cx="2743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53328" y="2706624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0" y="2706624"/>
            <a:ext cx="2743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96528" y="2706624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2999232"/>
            <a:ext cx="5029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2999232"/>
            <a:ext cx="4809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Helvetica"/>
              </a:rPr>
              <a:t>Patient self-book + WhatsApp templates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2999232"/>
            <a:ext cx="2743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53328" y="2999232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2999232"/>
            <a:ext cx="2743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96528" y="2999232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3291840"/>
            <a:ext cx="5029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" y="3291840"/>
            <a:ext cx="4809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Helvetica"/>
              </a:rPr>
              <a:t>Recall reminders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3291840"/>
            <a:ext cx="2743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53328" y="3291840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0" y="3291840"/>
            <a:ext cx="2743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6528" y="3291840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3584448"/>
            <a:ext cx="5029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4128" y="3584448"/>
            <a:ext cx="4809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Helvetica"/>
              </a:rPr>
              <a:t>Duty calendar — doctors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3584448"/>
            <a:ext cx="2743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53328" y="3584448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6800" y="3584448"/>
            <a:ext cx="2743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528" y="3584448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" y="3877056"/>
            <a:ext cx="5029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4128" y="3877056"/>
            <a:ext cx="4809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Helvetica"/>
              </a:rPr>
              <a:t>Duty calendar — nurses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3877056"/>
            <a:ext cx="2743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53328" y="3877056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Helvetica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86800" y="3877056"/>
            <a:ext cx="2743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96528" y="3877056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" y="4169664"/>
            <a:ext cx="5029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4128" y="4169664"/>
            <a:ext cx="4809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Helvetica"/>
              </a:rPr>
              <a:t>Doctor performance analytics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0" y="4169664"/>
            <a:ext cx="2743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53328" y="4169664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Helvetica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86800" y="4169664"/>
            <a:ext cx="2743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96528" y="4169664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4462272"/>
            <a:ext cx="5029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4128" y="4462272"/>
            <a:ext cx="4809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Helvetica"/>
              </a:rPr>
              <a:t>Nurse performance analytics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4462272"/>
            <a:ext cx="2743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53328" y="4462272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Helvetica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86800" y="4462272"/>
            <a:ext cx="2743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96528" y="4462272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0" y="4754880"/>
            <a:ext cx="5029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4128" y="4754880"/>
            <a:ext cx="4809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Helvetica"/>
              </a:rPr>
              <a:t>Chair utilization heatmap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0" y="4754880"/>
            <a:ext cx="2743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53328" y="4754880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Helvetica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86800" y="4754880"/>
            <a:ext cx="2743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96528" y="4754880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5047488"/>
            <a:ext cx="5029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24128" y="5047488"/>
            <a:ext cx="4809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Helvetica"/>
              </a:rPr>
              <a:t>Audit log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0" y="5047488"/>
            <a:ext cx="2743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53328" y="5047488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Helvetica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686800" y="5047488"/>
            <a:ext cx="2743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796528" y="5047488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0" y="5340096"/>
            <a:ext cx="5029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24128" y="5340096"/>
            <a:ext cx="4809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Helvetica"/>
              </a:rPr>
              <a:t>CSV backup + email backup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43600" y="5340096"/>
            <a:ext cx="2743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053328" y="5340096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686800" y="5340096"/>
            <a:ext cx="2743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796528" y="5340096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4400" y="5632704"/>
            <a:ext cx="5029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24128" y="5632704"/>
            <a:ext cx="4809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Helvetica"/>
              </a:rPr>
              <a:t>Branding (logo + colours)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5632704"/>
            <a:ext cx="2743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053328" y="5632704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686800" y="5632704"/>
            <a:ext cx="2743200" cy="29260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796528" y="5632704"/>
            <a:ext cx="2523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Helvetica"/>
              </a:rPr>
              <a:t>Start to finish — no surprises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"/>
              </a:rPr>
              <a:t>20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613583" cy="219456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215638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21563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Talk to our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215638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WhatsApp or quick call.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5103" y="1737360"/>
            <a:ext cx="2613583" cy="219456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73703" y="196596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3703" y="2103120"/>
            <a:ext cx="215638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3703" y="2697480"/>
            <a:ext cx="21563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Schedule a discussion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3703" y="3154680"/>
            <a:ext cx="215638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Longer working session, your 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6" y="1737360"/>
            <a:ext cx="2613583" cy="219456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61606" y="196596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606" y="2103120"/>
            <a:ext cx="215638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6" y="2697480"/>
            <a:ext cx="21563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Workflow &amp;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6" y="3154680"/>
            <a:ext cx="215638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Map ops + where software fits.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20909" y="1737360"/>
            <a:ext cx="2613583" cy="219456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49509" y="196596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9509" y="2103120"/>
            <a:ext cx="215638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9509" y="2697480"/>
            <a:ext cx="21563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Proposal &amp; strategic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9509" y="3154680"/>
            <a:ext cx="215638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1-page scope, timeline, price.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06240"/>
            <a:ext cx="2613583" cy="219456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43484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572000"/>
            <a:ext cx="215638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166360"/>
            <a:ext cx="21563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623560"/>
            <a:ext cx="215638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Working prototype on your real data.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45103" y="4206240"/>
            <a:ext cx="2613583" cy="219456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73703" y="443484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73703" y="4572000"/>
            <a:ext cx="215638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73703" y="5166360"/>
            <a:ext cx="21563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Commercial discussion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73703" y="5623560"/>
            <a:ext cx="215638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Full commercial agreed.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33006" y="4206240"/>
            <a:ext cx="2613583" cy="219456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61606" y="443484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1606" y="4572000"/>
            <a:ext cx="215638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1606" y="5166360"/>
            <a:ext cx="21563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Setup &amp; training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1606" y="5623560"/>
            <a:ext cx="215638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Go-live, team trained.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20909" y="4206240"/>
            <a:ext cx="2613583" cy="219456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349509" y="443484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49509" y="4572000"/>
            <a:ext cx="215638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9509" y="5166360"/>
            <a:ext cx="21563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Done — and still here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49509" y="5623560"/>
            <a:ext cx="215638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Support continues. No ghosting.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Helvetica"/>
              </a:rPr>
              <a:t>Your data stays yours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94484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2E4374"/>
                </a:solidFill>
                <a:latin typeface="Helvetica"/>
              </a:rPr>
              <a:t>Trust before technology.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"/>
              </a:rPr>
              <a:t>21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400">
                <a:solidFill>
                  <a:srgbClr val="1B2A4A"/>
                </a:solidFill>
                <a:latin typeface="Helvetica"/>
              </a:rPr>
              <a:t>Hosted in Malaysia wherever possible (Supabase + Vercel)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400">
                <a:solidFill>
                  <a:srgbClr val="1B2A4A"/>
                </a:solidFill>
                <a:latin typeface="Helvetica"/>
              </a:rPr>
              <a:t>PDPA-aware — patient data export any time, schema visible on request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400">
                <a:solidFill>
                  <a:srgbClr val="1B2A4A"/>
                </a:solidFill>
                <a:latin typeface="Helvetica"/>
              </a:rPr>
              <a:t>We don't train external AI models on your operational data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400">
                <a:solidFill>
                  <a:srgbClr val="1B2A4A"/>
                </a:solidFill>
                <a:latin typeface="Helvetica"/>
              </a:rPr>
              <a:t>CSV backup any day. Daily auto-email backup if you want it.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400">
                <a:solidFill>
                  <a:srgbClr val="1B2A4A"/>
                </a:solidFill>
                <a:latin typeface="Helvetica"/>
              </a:rPr>
              <a:t>Sterilization log, X-rays, treatment notes stay in your EMR — not in our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Helvetica"/>
              </a:rPr>
              <a:t>Kanan Digital Enterprise (SSM Reg: AS0516554-D) · Kuala Lumpur, Malaysia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Helvetica"/>
              </a:rPr>
              <a:t>Try the demos. Set up in 4 weeks.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"/>
              </a:rPr>
              <a:t>22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929487" y="1828800"/>
            <a:ext cx="502920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9487" y="1828800"/>
            <a:ext cx="5029200" cy="137160"/>
          </a:xfrm>
          <a:prstGeom prst="rect">
            <a:avLst/>
          </a:prstGeom>
          <a:solidFill>
            <a:srgbClr val="2E4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9487" y="21945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B2A4A"/>
                </a:solidFill>
                <a:latin typeface="Helvetica"/>
              </a:rPr>
              <a:t>Standard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487" y="27432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C9A227"/>
                </a:solidFill>
                <a:latin typeface="Helvetica"/>
              </a:rPr>
              <a:t>standard-demo.kanan.my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487" y="320040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Helvetica"/>
              </a:rPr>
              <a:t>RM 150/month · 2 doctors · 3 nurses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1828800"/>
            <a:ext cx="502920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1828800"/>
            <a:ext cx="5029200" cy="1371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7" y="21945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B2A4A"/>
                </a:solidFill>
                <a:latin typeface="Helvetica"/>
              </a:rPr>
              <a:t>Premium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27432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C9A227"/>
                </a:solidFill>
                <a:latin typeface="Helvetica"/>
              </a:rPr>
              <a:t>premium-demo.kanan.my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320040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Helvetica"/>
              </a:rPr>
              <a:t>RM 280/month · 4 doctors · 6 nurses · analytics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572000"/>
            <a:ext cx="12191695" cy="1828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1">
                <a:solidFill>
                  <a:srgbClr val="F4F1EA"/>
                </a:solidFill>
                <a:latin typeface="Helvetica"/>
              </a:rPr>
              <a:t>Hi Kanan team — I'd like to enquire.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E3C76A"/>
                </a:solidFill>
                <a:latin typeface="Helvetica"/>
              </a:rPr>
              <a:t>WhatsApp +60 12-347 8126   ·   hello@kanan.my   ·   kanan.my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5943600"/>
            <a:ext cx="121916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F4F1EA"/>
                </a:solidFill>
                <a:latin typeface="Helvetica"/>
              </a:rPr>
              <a:t>Kanan Digital Enterprise — your trusted right hand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