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warmly. 30 seconds tops.</a:t>
            </a:r>
          </a:p>
          <a:p/>
          <a:p>
            <a:r>
              <a:t>'Today I'll walk you through a system I built specifically for clinics like yours. Nothing fancy — just the boring problems solved. Phone bookings, reminders, no-shows, doctor schedules. By the end you'll see exactly how it would fit into your week.'</a:t>
            </a:r>
          </a:p>
          <a:p/>
          <a:p>
            <a:r>
              <a:t>Don't promise anything. Just set the frame: 'It's built for clinics, not for software people.'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on each card. Let them recognise the pain. Don't ask if it happens — they know it does.</a:t>
            </a:r>
          </a:p>
          <a:p/>
          <a:p>
            <a:r>
              <a:t>Your tone: 'You've lived this. I built this because clinics shouldn't have to.'</a:t>
            </a:r>
          </a:p>
          <a:p/>
          <a:p>
            <a:r>
              <a:t>If you only have a minute on this slide: just read the headlines. 'Phone rings during treatment. Two patients booked for 3pm. Doctor on leave but receptionist forgot.'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only three things you need them to remember.</a:t>
            </a:r>
          </a:p>
          <a:p/>
          <a:p>
            <a:r>
              <a:t>Land each one with conviction:</a:t>
            </a:r>
          </a:p>
          <a:p>
            <a:r>
              <a:t>1. 'Your nurse doesn't take booking calls anymore.'</a:t>
            </a:r>
          </a:p>
          <a:p>
            <a:r>
              <a:t>2. 'Every booking still passes through her — she's still the gatekeeper.'</a:t>
            </a:r>
          </a:p>
          <a:p>
            <a:r>
              <a:t>3. 'You'll know exactly who showed up, who reminded them, who approved what.'</a:t>
            </a:r>
          </a:p>
          <a:p/>
          <a:p>
            <a:r>
              <a:t>Don't sell features yet. Sell outcomes.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left-to-right. Each card is one sentence.</a:t>
            </a:r>
          </a:p>
          <a:p/>
          <a:p>
            <a:r>
              <a:t>If they ask 'what about the cleaner / accountant / etc.' — answer: 'We can add more roles later. For now: patient, nurse, doctor, owner. That covers 95% of clinic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on the projector if you can. Open /book and let them see it.</a:t>
            </a:r>
          </a:p>
          <a:p/>
          <a:p>
            <a:r>
              <a:t>Key things to highlight while pointing:</a:t>
            </a:r>
          </a:p>
          <a:p>
            <a:r>
              <a:t>- 'See how the country sets the phone code automatically. Malaysian patient = +60 pre-filled. They just type the local digits.'</a:t>
            </a:r>
          </a:p>
          <a:p>
            <a:r>
              <a:t>- 'The treatment they pick controls how long the slot is. A scaling is 30 min, root canal 90. That way the calendar fills up cleanly.'</a:t>
            </a:r>
          </a:p>
          <a:p>
            <a:r>
              <a:t>- 'Date picker only allows future dates. Sundays show no slots if the doctor doesn't work Sundays — they can't even pick that.'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separate yourself from Calendly et al.</a:t>
            </a:r>
          </a:p>
          <a:p/>
          <a:p>
            <a:r>
              <a:t>'Generic booking tools don't know your doctors are on leave on Tuesday. They show every Tuesday. Patient picks one. You scramble. We know — because leave is built into the system. Approve a leave request once, and the public form automatically blocks those days.'</a:t>
            </a:r>
          </a:p>
          <a:p/>
          <a:p>
            <a:r>
              <a:t>Mention the smart gap-filling: 'If two existing appointments leave a 60-minute gap in the middle of the day, a 60-min patient sees that gap. Nothing wasted.'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changes their mind, family thing comes up. They don't have to call. They go to the same form, pick Reschedule, find their booking, pick a new time. Your nurse sees it as a request — same flow as a new booking.'</a:t>
            </a:r>
          </a:p>
          <a:p/>
          <a:p>
            <a:r>
              <a:t>Why this matters: 'It removes one of the most annoying calls your nurse gets. And the patient never feels guilty about asking — they just click.'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/nurse if possible. Show the actual queue.</a:t>
            </a:r>
          </a:p>
          <a:p/>
          <a:p>
            <a:r>
              <a:t>'This is what your nurse opens with her coffee in the morning. She works top to bottom. Each one takes maybe 30 seconds.'</a:t>
            </a:r>
          </a:p>
          <a:p/>
          <a:p>
            <a:r>
              <a:t>If they ask 'what if she's busy?' — 'The system holds pending requests for 24 hours. After that they auto-expire and the patient knows to submit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always lands hardest.</a:t>
            </a:r>
          </a:p>
          <a:p/>
          <a:p>
            <a:r>
              <a:t>'Most booking systems either don't do WhatsApp at all, OR they charge you for every message — 20 sen per send. 100 patients a week, 5 messages each, that's RM 400 a month just on messages.'</a:t>
            </a:r>
          </a:p>
          <a:p/>
          <a:p>
            <a:r>
              <a:t>'We use a trick called wa.me. The message is already written. She just taps Send. From her phone, her number, her account. Patient sees a normal WhatsApp conversation. Trust intact, zero ringgit per message.'</a:t>
            </a:r>
          </a:p>
          <a:p/>
          <a:p>
            <a:r>
              <a:t>Optionally show: 'And you can edit every template. If you want to write in Bahasa or Chinese, edit once and the change applies everywhere.'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more guessing. No more "I thought you sent it." Every send is logged.'</a:t>
            </a:r>
          </a:p>
          <a:p/>
          <a:p>
            <a:r>
              <a:t>Tie it back to a real scenario: 'Patient calls saying she never got a confirmation. You open the booking, see ✓ Confirm sent by Aisha at 10:43 AM yesterday. Done. No drama.'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 out the value: 'Say you get 2 no-shows a week. RM 150 each. That's RM 1,200 a month lost. Reminders typically halve that. So this feature alone saves you RM 600/month.'</a:t>
            </a:r>
          </a:p>
          <a:p/>
          <a:p>
            <a:r>
              <a:t>Then: 'The system costs RM 150 a month. Reminders alone pay for it 4 times over.'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'Receptionist scans IC, types the last 4 digits, taps. Done.'</a:t>
            </a:r>
          </a:p>
          <a:p/>
          <a:p>
            <a:r>
              <a:t>Why no-show tracking matters: 'After a month you can see a pattern. Mrs Tan no-shows every other appointment. You decide if you require a deposit from her in future. Without this data you'd just be guessing.'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Anticipate the objection: 'But my elderly patients won't use the online form.'</a:t>
            </a:r>
          </a:p>
          <a:p/>
          <a:p>
            <a:r>
              <a:t>Answer: 'Of course — that's why your nurse has the same form on her side. Phone call comes in, she opens New Booking, types it in herself, done. The system doesn't require patients to do anything online. It just lets the ones who want to.'</a:t>
            </a:r>
          </a:p>
          <a:p/>
          <a:p>
            <a:r>
              <a:t>Strong point: 'Most of your appointments will still be made by your nurse. The system removes the FRICTION — phone tag, lost notes — not the human contact.'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clinic owners worry doctors will resist tech. Don't sell features here.</a:t>
            </a:r>
          </a:p>
          <a:p/>
          <a:p>
            <a:r>
              <a:t>'Doctors see their own calendar, their own patients. Nothing else. They can't see other doctors' bookings, can't see the owner's overview. Just their day. That's it.'</a:t>
            </a:r>
          </a:p>
          <a:p/>
          <a:p>
            <a:r>
              <a:t>If a doctor in the audience: speak directly: 'You'll know your day before you arrive. No surprises. Block your lunch once, the system protects it forever.'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is plural here. Even if there are multiple owners (e.g., partners), each owner account sees the same.</a:t>
            </a:r>
          </a:p>
          <a:p/>
          <a:p>
            <a:r>
              <a:t>Real scenario to mention: 'Nurse accidentally rejects a booking she meant to approve. As owner, you can flip it back — and your override is logged in the audit trail so there's no blame game. You just fix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PDPA = Personal Data Protection Act. Malaysian law. Clinics handling patient data are subject to it.</a:t>
            </a:r>
          </a:p>
          <a:p/>
          <a:p>
            <a:r>
              <a:t>Don't dwell on legal — most clinic owners aren't fluent. Just frame it as 'protection': 'If anything ever goes wrong — patient complaint, dispute, audit — you have a complete record of what happened. That's a lot harder when your records are in WhatsApp chats and notebooks.'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'less work for you, the owner.'</a:t>
            </a:r>
          </a:p>
          <a:p/>
          <a:p>
            <a:r>
              <a:t>'You don't enter everyone's schedule. The default is everyone here, 9 to 9. Anyone going on leave just submits a request. You approve once. Done. The booking form automatically stops showing that doctor on those days. No manual coordination needed.'</a:t>
            </a:r>
          </a:p>
          <a:p/>
          <a:p>
            <a:r>
              <a:t>If they ask about complex shifts: 'You can configure a doctor to only work Tuesday and Thursday mornings. We change their working hours once. After that, the system honours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demo of the editor if possible.</a:t>
            </a:r>
          </a:p>
          <a:p/>
          <a:p>
            <a:r>
              <a:t>'You decide whether messages start with "Hi" or "Dear" or "Hello!" — your clinic, your voice. The wording is yours. We just handle the plumbing.'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demo on your own phone if you can: open the site, share, Add to Home Screen, point to the new icon.</a:t>
            </a:r>
          </a:p>
          <a:p/>
          <a:p>
            <a:r>
              <a:t>'No App Store delays. No 'please update the app' annoyances. It just works.'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touchy with friends. Lead with comparison, not your number.</a:t>
            </a:r>
          </a:p>
          <a:p/>
          <a:p>
            <a:r>
              <a:t>'Aoikumo would charge them RM 250+ a month — and require them to migrate everything. Calendly is RM 65 but is built for individual freelancers, not a clinic. We sit right in the middle: clinic-shaped, Malaysian-shaped, RM 150 retail.'</a:t>
            </a:r>
          </a:p>
          <a:p/>
          <a:p>
            <a:r>
              <a:t>Then drop the friend rate: 'For you, RM 80 a month. First 3 months free. One-time RM 1,000 to cover setup. That's it. Cancel any month.'</a:t>
            </a:r>
          </a:p>
          <a:p/>
          <a:p>
            <a:r>
              <a:t>If they want lower: 'I can drop the setup to RM 500 if cash is tight. The RM 80 monthly stays.'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does all the closing work for you. Don't oversell — just read the cards.</a:t>
            </a:r>
          </a:p>
          <a:p/>
          <a:p>
            <a:r>
              <a:t>'You can walk away with your data. You can cancel any month. The first 60 days are guaranteed. What's stopping us from trying?'</a:t>
            </a:r>
          </a:p>
          <a:p/>
          <a:p>
            <a:r>
              <a:t>Then shut up. Let them respond. The longer the pause, the better.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fill the silence. The pause IS the close.</a:t>
            </a:r>
          </a:p>
          <a:p/>
          <a:p>
            <a:r>
              <a:t>Common questions and quick answers:</a:t>
            </a:r>
          </a:p>
          <a:p/>
          <a:p>
            <a:r>
              <a:t>Q: 'Internet down — what happens?'</a:t>
            </a:r>
          </a:p>
          <a:p>
            <a:r>
              <a:t>A: 'You go back to manual for a few hours. Once internet's back, the system catches up. We have Supabase's regional backups so no data is ever lost — even if our server goes down.'</a:t>
            </a:r>
          </a:p>
          <a:p/>
          <a:p>
            <a:r>
              <a:t>Q: 'How long until it's up?'</a:t>
            </a:r>
          </a:p>
          <a:p>
            <a:r>
              <a:t>A: 'Could deploy your clinic today. Realistic: 3–5 days to onboard staff, import patients, customise templates.'</a:t>
            </a:r>
          </a:p>
          <a:p/>
          <a:p>
            <a:r>
              <a:t>Q: 'What if you stop building it?'</a:t>
            </a:r>
          </a:p>
          <a:p>
            <a:r>
              <a:t>A: 'Your data exports anytime. The source code is documented. Worst case, you migrate to Calendly with your patient list intact. You're never trapped.'</a:t>
            </a:r>
          </a:p>
          <a:p/>
          <a:p>
            <a:r>
              <a:t>Q: 'Can my accountant see the data?'</a:t>
            </a:r>
          </a:p>
          <a:p>
            <a:r>
              <a:t>A: 'You can give them an owner login OR export reports as CSV. Both work.'</a:t>
            </a:r>
          </a:p>
          <a:p/>
          <a:p>
            <a:r>
              <a:t>Q: 'Multiple branches?'</a:t>
            </a:r>
          </a:p>
          <a:p>
            <a:r>
              <a:t>A: 'Yes — that's actually next on the roadmap. Right now, one clinic per setup. Multi-branch coming in a few months.'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88952" cy="6693408"/>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698480" cy="548640"/>
          </a:xfrm>
          <a:prstGeom prst="rect">
            <a:avLst/>
          </a:prstGeom>
          <a:noFill/>
        </p:spPr>
        <p:txBody>
          <a:bodyPr wrap="square">
            <a:spAutoFit/>
          </a:bodyPr>
          <a:lstStyle/>
          <a:p>
            <a:pPr algn="ctr"/>
            <a:r>
              <a:rPr sz="1400" b="1" i="0">
                <a:solidFill>
                  <a:srgbClr val="0F766E"/>
                </a:solidFill>
                <a:latin typeface="Helvetica"/>
              </a:rPr>
              <a:t>GOODCARE DENTAL</a:t>
            </a:r>
          </a:p>
        </p:txBody>
      </p:sp>
      <p:sp>
        <p:nvSpPr>
          <p:cNvPr id="5" name="TextBox 4"/>
          <p:cNvSpPr txBox="1"/>
          <p:nvPr/>
        </p:nvSpPr>
        <p:spPr>
          <a:xfrm>
            <a:off x="731520" y="2194560"/>
            <a:ext cx="10698480" cy="1097280"/>
          </a:xfrm>
          <a:prstGeom prst="rect">
            <a:avLst/>
          </a:prstGeom>
          <a:noFill/>
        </p:spPr>
        <p:txBody>
          <a:bodyPr wrap="square">
            <a:spAutoFit/>
          </a:bodyPr>
          <a:lstStyle/>
          <a:p>
            <a:pPr algn="ctr"/>
            <a:r>
              <a:rPr sz="4400" b="1" i="0">
                <a:solidFill>
                  <a:srgbClr val="1A1A1A"/>
                </a:solidFill>
                <a:latin typeface="Helvetica"/>
              </a:rPr>
              <a:t>Run your clinic without the headache.</a:t>
            </a:r>
          </a:p>
        </p:txBody>
      </p:sp>
      <p:sp>
        <p:nvSpPr>
          <p:cNvPr id="6" name="TextBox 5"/>
          <p:cNvSpPr txBox="1"/>
          <p:nvPr/>
        </p:nvSpPr>
        <p:spPr>
          <a:xfrm>
            <a:off x="731520" y="3383280"/>
            <a:ext cx="10698480" cy="548640"/>
          </a:xfrm>
          <a:prstGeom prst="rect">
            <a:avLst/>
          </a:prstGeom>
          <a:noFill/>
        </p:spPr>
        <p:txBody>
          <a:bodyPr wrap="square">
            <a:spAutoFit/>
          </a:bodyPr>
          <a:lstStyle/>
          <a:p>
            <a:pPr algn="ctr"/>
            <a:r>
              <a:rPr sz="2000" b="0" i="0">
                <a:solidFill>
                  <a:srgbClr val="44403D"/>
                </a:solidFill>
                <a:latin typeface="Helvetica"/>
              </a:rPr>
              <a:t>Patients book online. Your nurse stays in control.</a:t>
            </a:r>
          </a:p>
        </p:txBody>
      </p:sp>
      <p:sp>
        <p:nvSpPr>
          <p:cNvPr id="7" name="TextBox 6"/>
          <p:cNvSpPr txBox="1"/>
          <p:nvPr/>
        </p:nvSpPr>
        <p:spPr>
          <a:xfrm>
            <a:off x="731520" y="3840480"/>
            <a:ext cx="10698480" cy="548640"/>
          </a:xfrm>
          <a:prstGeom prst="rect">
            <a:avLst/>
          </a:prstGeom>
          <a:noFill/>
        </p:spPr>
        <p:txBody>
          <a:bodyPr wrap="square">
            <a:spAutoFit/>
          </a:bodyPr>
          <a:lstStyle/>
          <a:p>
            <a:pPr algn="ctr"/>
            <a:r>
              <a:rPr sz="2000" b="0" i="0">
                <a:solidFill>
                  <a:srgbClr val="44403D"/>
                </a:solidFill>
                <a:latin typeface="Helvetica"/>
              </a:rPr>
              <a:t>WhatsApp does the talking. No more phone tag, no more lost appointments.</a:t>
            </a:r>
          </a:p>
        </p:txBody>
      </p:sp>
      <p:sp>
        <p:nvSpPr>
          <p:cNvPr id="8" name="Oval 7"/>
          <p:cNvSpPr/>
          <p:nvPr/>
        </p:nvSpPr>
        <p:spPr>
          <a:xfrm>
            <a:off x="5349240" y="4937760"/>
            <a:ext cx="1463040" cy="14630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49240" y="5394960"/>
            <a:ext cx="1463040" cy="548640"/>
          </a:xfrm>
          <a:prstGeom prst="rect">
            <a:avLst/>
          </a:prstGeom>
          <a:noFill/>
        </p:spPr>
        <p:txBody>
          <a:bodyPr wrap="square">
            <a:spAutoFit/>
          </a:bodyPr>
          <a:lstStyle/>
          <a:p>
            <a:pPr algn="ctr"/>
            <a:r>
              <a:rPr sz="4200" b="0" i="0">
                <a:solidFill>
                  <a:srgbClr val="1A1A1A"/>
                </a:solidFill>
                <a:latin typeface="Helvetica"/>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548640"/>
          </a:xfrm>
          <a:prstGeom prst="rect">
            <a:avLst/>
          </a:prstGeom>
          <a:noFill/>
        </p:spPr>
        <p:txBody>
          <a:bodyPr wrap="square">
            <a:spAutoFit/>
          </a:bodyPr>
          <a:lstStyle/>
          <a:p>
            <a:pPr algn="l"/>
            <a:r>
              <a:rPr sz="2800" b="1" i="0">
                <a:solidFill>
                  <a:srgbClr val="1A1A1A"/>
                </a:solidFill>
                <a:latin typeface="Helvetica"/>
              </a:rPr>
              <a:t>Today's clinic, today's pain</a:t>
            </a:r>
          </a:p>
        </p:txBody>
      </p:sp>
      <p:sp>
        <p:nvSpPr>
          <p:cNvPr id="4" name="TextBox 3"/>
          <p:cNvSpPr txBox="1"/>
          <p:nvPr/>
        </p:nvSpPr>
        <p:spPr>
          <a:xfrm>
            <a:off x="731520" y="1097280"/>
            <a:ext cx="10698480" cy="457200"/>
          </a:xfrm>
          <a:prstGeom prst="rect">
            <a:avLst/>
          </a:prstGeom>
          <a:noFill/>
        </p:spPr>
        <p:txBody>
          <a:bodyPr wrap="square">
            <a:spAutoFit/>
          </a:bodyPr>
          <a:lstStyle/>
          <a:p>
            <a:pPr algn="l"/>
            <a:r>
              <a:rPr sz="1400" b="0" i="0">
                <a:solidFill>
                  <a:srgbClr val="78716C"/>
                </a:solidFill>
                <a:latin typeface="Helvetica"/>
              </a:rPr>
              <a:t>If any of these sound familiar, this system is for you.</a:t>
            </a:r>
          </a:p>
        </p:txBody>
      </p:sp>
      <p:sp>
        <p:nvSpPr>
          <p:cNvPr id="5" name="Rounded Rectangle 4"/>
          <p:cNvSpPr/>
          <p:nvPr/>
        </p:nvSpPr>
        <p:spPr>
          <a:xfrm>
            <a:off x="731520" y="1828800"/>
            <a:ext cx="3657600" cy="1554480"/>
          </a:xfrm>
          <a:prstGeom prst="roundRect">
            <a:avLst/>
          </a:prstGeom>
          <a:solidFill>
            <a:srgbClr val="FFFFFF"/>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548640" cy="457200"/>
          </a:xfrm>
          <a:prstGeom prst="rect">
            <a:avLst/>
          </a:prstGeom>
          <a:noFill/>
        </p:spPr>
        <p:txBody>
          <a:bodyPr wrap="square">
            <a:spAutoFit/>
          </a:bodyPr>
          <a:lstStyle/>
          <a:p>
            <a:pPr algn="l"/>
            <a:r>
              <a:rPr sz="2200" b="0" i="0">
                <a:solidFill>
                  <a:srgbClr val="1A1A1A"/>
                </a:solidFill>
                <a:latin typeface="Helvetica"/>
              </a:rPr>
              <a:t>📞</a:t>
            </a:r>
          </a:p>
        </p:txBody>
      </p:sp>
      <p:sp>
        <p:nvSpPr>
          <p:cNvPr id="7" name="TextBox 6"/>
          <p:cNvSpPr txBox="1"/>
          <p:nvPr/>
        </p:nvSpPr>
        <p:spPr>
          <a:xfrm>
            <a:off x="1600200" y="2011680"/>
            <a:ext cx="2560320" cy="457200"/>
          </a:xfrm>
          <a:prstGeom prst="rect">
            <a:avLst/>
          </a:prstGeom>
          <a:noFill/>
        </p:spPr>
        <p:txBody>
          <a:bodyPr wrap="square">
            <a:spAutoFit/>
          </a:bodyPr>
          <a:lstStyle/>
          <a:p>
            <a:pPr algn="l"/>
            <a:r>
              <a:rPr sz="1300" b="1" i="0">
                <a:solidFill>
                  <a:srgbClr val="1A1A1A"/>
                </a:solidFill>
                <a:latin typeface="Helvetica"/>
              </a:rPr>
              <a:t>Phone rings during treatment</a:t>
            </a:r>
          </a:p>
        </p:txBody>
      </p:sp>
      <p:sp>
        <p:nvSpPr>
          <p:cNvPr id="8" name="TextBox 7"/>
          <p:cNvSpPr txBox="1"/>
          <p:nvPr/>
        </p:nvSpPr>
        <p:spPr>
          <a:xfrm>
            <a:off x="960120" y="2560320"/>
            <a:ext cx="3200400" cy="731520"/>
          </a:xfrm>
          <a:prstGeom prst="rect">
            <a:avLst/>
          </a:prstGeom>
          <a:noFill/>
        </p:spPr>
        <p:txBody>
          <a:bodyPr wrap="square">
            <a:spAutoFit/>
          </a:bodyPr>
          <a:lstStyle/>
          <a:p>
            <a:pPr algn="l"/>
            <a:r>
              <a:rPr sz="1000" b="0" i="0">
                <a:solidFill>
                  <a:srgbClr val="44403D"/>
                </a:solidFill>
                <a:latin typeface="Helvetica"/>
              </a:rPr>
              <a:t>Nurse picks up, doctor waits. Patient on the line asks for next Tuesday — but the diary is on the other table.</a:t>
            </a:r>
          </a:p>
        </p:txBody>
      </p:sp>
      <p:sp>
        <p:nvSpPr>
          <p:cNvPr id="9" name="Rounded Rectangle 8"/>
          <p:cNvSpPr/>
          <p:nvPr/>
        </p:nvSpPr>
        <p:spPr>
          <a:xfrm>
            <a:off x="4572000" y="1828800"/>
            <a:ext cx="3657600" cy="1554480"/>
          </a:xfrm>
          <a:prstGeom prst="roundRect">
            <a:avLst/>
          </a:prstGeom>
          <a:solidFill>
            <a:srgbClr val="FFFFFF"/>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965960"/>
            <a:ext cx="548640" cy="457200"/>
          </a:xfrm>
          <a:prstGeom prst="rect">
            <a:avLst/>
          </a:prstGeom>
          <a:noFill/>
        </p:spPr>
        <p:txBody>
          <a:bodyPr wrap="square">
            <a:spAutoFit/>
          </a:bodyPr>
          <a:lstStyle/>
          <a:p>
            <a:pPr algn="l"/>
            <a:r>
              <a:rPr sz="2200" b="0" i="0">
                <a:solidFill>
                  <a:srgbClr val="1A1A1A"/>
                </a:solidFill>
                <a:latin typeface="Helvetica"/>
              </a:rPr>
              <a:t>📓</a:t>
            </a:r>
          </a:p>
        </p:txBody>
      </p:sp>
      <p:sp>
        <p:nvSpPr>
          <p:cNvPr id="11" name="TextBox 10"/>
          <p:cNvSpPr txBox="1"/>
          <p:nvPr/>
        </p:nvSpPr>
        <p:spPr>
          <a:xfrm>
            <a:off x="5440680" y="2011680"/>
            <a:ext cx="2560320" cy="457200"/>
          </a:xfrm>
          <a:prstGeom prst="rect">
            <a:avLst/>
          </a:prstGeom>
          <a:noFill/>
        </p:spPr>
        <p:txBody>
          <a:bodyPr wrap="square">
            <a:spAutoFit/>
          </a:bodyPr>
          <a:lstStyle/>
          <a:p>
            <a:pPr algn="l"/>
            <a:r>
              <a:rPr sz="1300" b="1" i="0">
                <a:solidFill>
                  <a:srgbClr val="1A1A1A"/>
                </a:solidFill>
                <a:latin typeface="Helvetica"/>
              </a:rPr>
              <a:t>Paper diary or shared notebook</a:t>
            </a:r>
          </a:p>
        </p:txBody>
      </p:sp>
      <p:sp>
        <p:nvSpPr>
          <p:cNvPr id="12" name="TextBox 11"/>
          <p:cNvSpPr txBox="1"/>
          <p:nvPr/>
        </p:nvSpPr>
        <p:spPr>
          <a:xfrm>
            <a:off x="4800600" y="2560320"/>
            <a:ext cx="3200400" cy="731520"/>
          </a:xfrm>
          <a:prstGeom prst="rect">
            <a:avLst/>
          </a:prstGeom>
          <a:noFill/>
        </p:spPr>
        <p:txBody>
          <a:bodyPr wrap="square">
            <a:spAutoFit/>
          </a:bodyPr>
          <a:lstStyle/>
          <a:p>
            <a:pPr algn="l"/>
            <a:r>
              <a:rPr sz="1000" b="0" i="0">
                <a:solidFill>
                  <a:srgbClr val="44403D"/>
                </a:solidFill>
                <a:latin typeface="Helvetica"/>
              </a:rPr>
              <a:t>Two patients booked for 3pm. Nurse A wrote one, Nurse B wrote another. Now you have an awkward apology.</a:t>
            </a:r>
          </a:p>
        </p:txBody>
      </p:sp>
      <p:sp>
        <p:nvSpPr>
          <p:cNvPr id="13" name="Rounded Rectangle 12"/>
          <p:cNvSpPr/>
          <p:nvPr/>
        </p:nvSpPr>
        <p:spPr>
          <a:xfrm>
            <a:off x="8412480" y="1828800"/>
            <a:ext cx="3657600" cy="1554480"/>
          </a:xfrm>
          <a:prstGeom prst="roundRect">
            <a:avLst/>
          </a:prstGeom>
          <a:solidFill>
            <a:srgbClr val="FFFFFF"/>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1965960"/>
            <a:ext cx="548640" cy="457200"/>
          </a:xfrm>
          <a:prstGeom prst="rect">
            <a:avLst/>
          </a:prstGeom>
          <a:noFill/>
        </p:spPr>
        <p:txBody>
          <a:bodyPr wrap="square">
            <a:spAutoFit/>
          </a:bodyPr>
          <a:lstStyle/>
          <a:p>
            <a:pPr algn="l"/>
            <a:r>
              <a:rPr sz="2200" b="0" i="0">
                <a:solidFill>
                  <a:srgbClr val="1A1A1A"/>
                </a:solidFill>
                <a:latin typeface="Helvetica"/>
              </a:rPr>
              <a:t>⏰</a:t>
            </a:r>
          </a:p>
        </p:txBody>
      </p:sp>
      <p:sp>
        <p:nvSpPr>
          <p:cNvPr id="15" name="TextBox 14"/>
          <p:cNvSpPr txBox="1"/>
          <p:nvPr/>
        </p:nvSpPr>
        <p:spPr>
          <a:xfrm>
            <a:off x="9281160" y="2011680"/>
            <a:ext cx="2560320" cy="457200"/>
          </a:xfrm>
          <a:prstGeom prst="rect">
            <a:avLst/>
          </a:prstGeom>
          <a:noFill/>
        </p:spPr>
        <p:txBody>
          <a:bodyPr wrap="square">
            <a:spAutoFit/>
          </a:bodyPr>
          <a:lstStyle/>
          <a:p>
            <a:pPr algn="l"/>
            <a:r>
              <a:rPr sz="1300" b="1" i="0">
                <a:solidFill>
                  <a:srgbClr val="1A1A1A"/>
                </a:solidFill>
                <a:latin typeface="Helvetica"/>
              </a:rPr>
              <a:t>Patients forget. They don't come.</a:t>
            </a:r>
          </a:p>
        </p:txBody>
      </p:sp>
      <p:sp>
        <p:nvSpPr>
          <p:cNvPr id="16" name="TextBox 15"/>
          <p:cNvSpPr txBox="1"/>
          <p:nvPr/>
        </p:nvSpPr>
        <p:spPr>
          <a:xfrm>
            <a:off x="8641080" y="2560320"/>
            <a:ext cx="3200400" cy="731520"/>
          </a:xfrm>
          <a:prstGeom prst="rect">
            <a:avLst/>
          </a:prstGeom>
          <a:noFill/>
        </p:spPr>
        <p:txBody>
          <a:bodyPr wrap="square">
            <a:spAutoFit/>
          </a:bodyPr>
          <a:lstStyle/>
          <a:p>
            <a:pPr algn="l"/>
            <a:r>
              <a:rPr sz="1000" b="0" i="0">
                <a:solidFill>
                  <a:srgbClr val="44403D"/>
                </a:solidFill>
                <a:latin typeface="Helvetica"/>
              </a:rPr>
              <a:t>No-show after no-show. You lose RM 100, RM 150 each time. Nobody remembered to remind them.</a:t>
            </a:r>
          </a:p>
        </p:txBody>
      </p:sp>
      <p:sp>
        <p:nvSpPr>
          <p:cNvPr id="17" name="Rounded Rectangle 16"/>
          <p:cNvSpPr/>
          <p:nvPr/>
        </p:nvSpPr>
        <p:spPr>
          <a:xfrm>
            <a:off x="731520" y="3566160"/>
            <a:ext cx="3657600" cy="1554480"/>
          </a:xfrm>
          <a:prstGeom prst="roundRect">
            <a:avLst/>
          </a:prstGeom>
          <a:solidFill>
            <a:srgbClr val="FFFFFF"/>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703320"/>
            <a:ext cx="548640" cy="457200"/>
          </a:xfrm>
          <a:prstGeom prst="rect">
            <a:avLst/>
          </a:prstGeom>
          <a:noFill/>
        </p:spPr>
        <p:txBody>
          <a:bodyPr wrap="square">
            <a:spAutoFit/>
          </a:bodyPr>
          <a:lstStyle/>
          <a:p>
            <a:pPr algn="l"/>
            <a:r>
              <a:rPr sz="2200" b="0" i="0">
                <a:solidFill>
                  <a:srgbClr val="1A1A1A"/>
                </a:solidFill>
                <a:latin typeface="Helvetica"/>
              </a:rPr>
              <a:t>📋</a:t>
            </a:r>
          </a:p>
        </p:txBody>
      </p:sp>
      <p:sp>
        <p:nvSpPr>
          <p:cNvPr id="19" name="TextBox 18"/>
          <p:cNvSpPr txBox="1"/>
          <p:nvPr/>
        </p:nvSpPr>
        <p:spPr>
          <a:xfrm>
            <a:off x="1600200" y="3749040"/>
            <a:ext cx="2560320" cy="457200"/>
          </a:xfrm>
          <a:prstGeom prst="rect">
            <a:avLst/>
          </a:prstGeom>
          <a:noFill/>
        </p:spPr>
        <p:txBody>
          <a:bodyPr wrap="square">
            <a:spAutoFit/>
          </a:bodyPr>
          <a:lstStyle/>
          <a:p>
            <a:pPr algn="l"/>
            <a:r>
              <a:rPr sz="1300" b="1" i="0">
                <a:solidFill>
                  <a:srgbClr val="1A1A1A"/>
                </a:solidFill>
                <a:latin typeface="Helvetica"/>
              </a:rPr>
              <a:t>Who confirmed Mrs Lim's booking?</a:t>
            </a:r>
          </a:p>
        </p:txBody>
      </p:sp>
      <p:sp>
        <p:nvSpPr>
          <p:cNvPr id="20" name="TextBox 19"/>
          <p:cNvSpPr txBox="1"/>
          <p:nvPr/>
        </p:nvSpPr>
        <p:spPr>
          <a:xfrm>
            <a:off x="960120" y="4297680"/>
            <a:ext cx="3200400" cy="731520"/>
          </a:xfrm>
          <a:prstGeom prst="rect">
            <a:avLst/>
          </a:prstGeom>
          <a:noFill/>
        </p:spPr>
        <p:txBody>
          <a:bodyPr wrap="square">
            <a:spAutoFit/>
          </a:bodyPr>
          <a:lstStyle/>
          <a:p>
            <a:pPr algn="l"/>
            <a:r>
              <a:rPr sz="1000" b="0" i="0">
                <a:solidFill>
                  <a:srgbClr val="44403D"/>
                </a:solidFill>
                <a:latin typeface="Helvetica"/>
              </a:rPr>
              <a:t>Patient calls asking about her appointment. Three nurses, four notebooks. Nobody knows for sure.</a:t>
            </a:r>
          </a:p>
        </p:txBody>
      </p:sp>
      <p:sp>
        <p:nvSpPr>
          <p:cNvPr id="21" name="Rounded Rectangle 20"/>
          <p:cNvSpPr/>
          <p:nvPr/>
        </p:nvSpPr>
        <p:spPr>
          <a:xfrm>
            <a:off x="4572000" y="3566160"/>
            <a:ext cx="3657600" cy="1554480"/>
          </a:xfrm>
          <a:prstGeom prst="roundRect">
            <a:avLst/>
          </a:prstGeom>
          <a:solidFill>
            <a:srgbClr val="FFFFFF"/>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703320"/>
            <a:ext cx="548640" cy="457200"/>
          </a:xfrm>
          <a:prstGeom prst="rect">
            <a:avLst/>
          </a:prstGeom>
          <a:noFill/>
        </p:spPr>
        <p:txBody>
          <a:bodyPr wrap="square">
            <a:spAutoFit/>
          </a:bodyPr>
          <a:lstStyle/>
          <a:p>
            <a:pPr algn="l"/>
            <a:r>
              <a:rPr sz="2200" b="0" i="0">
                <a:solidFill>
                  <a:srgbClr val="1A1A1A"/>
                </a:solidFill>
                <a:latin typeface="Helvetica"/>
              </a:rPr>
              <a:t>🕘</a:t>
            </a:r>
          </a:p>
        </p:txBody>
      </p:sp>
      <p:sp>
        <p:nvSpPr>
          <p:cNvPr id="23" name="TextBox 22"/>
          <p:cNvSpPr txBox="1"/>
          <p:nvPr/>
        </p:nvSpPr>
        <p:spPr>
          <a:xfrm>
            <a:off x="5440680" y="3749040"/>
            <a:ext cx="2560320" cy="457200"/>
          </a:xfrm>
          <a:prstGeom prst="rect">
            <a:avLst/>
          </a:prstGeom>
          <a:noFill/>
        </p:spPr>
        <p:txBody>
          <a:bodyPr wrap="square">
            <a:spAutoFit/>
          </a:bodyPr>
          <a:lstStyle/>
          <a:p>
            <a:pPr algn="l"/>
            <a:r>
              <a:rPr sz="1300" b="1" i="0">
                <a:solidFill>
                  <a:srgbClr val="1A1A1A"/>
                </a:solidFill>
                <a:latin typeface="Helvetica"/>
              </a:rPr>
              <a:t>Doctor on leave next week</a:t>
            </a:r>
          </a:p>
        </p:txBody>
      </p:sp>
      <p:sp>
        <p:nvSpPr>
          <p:cNvPr id="24" name="TextBox 23"/>
          <p:cNvSpPr txBox="1"/>
          <p:nvPr/>
        </p:nvSpPr>
        <p:spPr>
          <a:xfrm>
            <a:off x="4800600" y="4297680"/>
            <a:ext cx="3200400" cy="731520"/>
          </a:xfrm>
          <a:prstGeom prst="rect">
            <a:avLst/>
          </a:prstGeom>
          <a:noFill/>
        </p:spPr>
        <p:txBody>
          <a:bodyPr wrap="square">
            <a:spAutoFit/>
          </a:bodyPr>
          <a:lstStyle/>
          <a:p>
            <a:pPr algn="l"/>
            <a:r>
              <a:rPr sz="1000" b="0" i="0">
                <a:solidFill>
                  <a:srgbClr val="44403D"/>
                </a:solidFill>
                <a:latin typeface="Helvetica"/>
              </a:rPr>
              <a:t>Receptionist forgot. Patient booked. Now you call them back to apologise.</a:t>
            </a:r>
          </a:p>
        </p:txBody>
      </p:sp>
      <p:sp>
        <p:nvSpPr>
          <p:cNvPr id="25" name="Rounded Rectangle 24"/>
          <p:cNvSpPr/>
          <p:nvPr/>
        </p:nvSpPr>
        <p:spPr>
          <a:xfrm>
            <a:off x="8412480" y="3566160"/>
            <a:ext cx="3657600" cy="1554480"/>
          </a:xfrm>
          <a:prstGeom prst="roundRect">
            <a:avLst/>
          </a:prstGeom>
          <a:solidFill>
            <a:srgbClr val="FFFFFF"/>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41080" y="3703320"/>
            <a:ext cx="548640" cy="457200"/>
          </a:xfrm>
          <a:prstGeom prst="rect">
            <a:avLst/>
          </a:prstGeom>
          <a:noFill/>
        </p:spPr>
        <p:txBody>
          <a:bodyPr wrap="square">
            <a:spAutoFit/>
          </a:bodyPr>
          <a:lstStyle/>
          <a:p>
            <a:pPr algn="l"/>
            <a:r>
              <a:rPr sz="2200" b="0" i="0">
                <a:solidFill>
                  <a:srgbClr val="1A1A1A"/>
                </a:solidFill>
                <a:latin typeface="Helvetica"/>
              </a:rPr>
              <a:t>📊</a:t>
            </a:r>
          </a:p>
        </p:txBody>
      </p:sp>
      <p:sp>
        <p:nvSpPr>
          <p:cNvPr id="27" name="TextBox 26"/>
          <p:cNvSpPr txBox="1"/>
          <p:nvPr/>
        </p:nvSpPr>
        <p:spPr>
          <a:xfrm>
            <a:off x="9281160" y="3749040"/>
            <a:ext cx="2560320" cy="457200"/>
          </a:xfrm>
          <a:prstGeom prst="rect">
            <a:avLst/>
          </a:prstGeom>
          <a:noFill/>
        </p:spPr>
        <p:txBody>
          <a:bodyPr wrap="square">
            <a:spAutoFit/>
          </a:bodyPr>
          <a:lstStyle/>
          <a:p>
            <a:pPr algn="l"/>
            <a:r>
              <a:rPr sz="1300" b="1" i="0">
                <a:solidFill>
                  <a:srgbClr val="1A1A1A"/>
                </a:solidFill>
                <a:latin typeface="Helvetica"/>
              </a:rPr>
              <a:t>How busy was last month?</a:t>
            </a:r>
          </a:p>
        </p:txBody>
      </p:sp>
      <p:sp>
        <p:nvSpPr>
          <p:cNvPr id="28" name="TextBox 27"/>
          <p:cNvSpPr txBox="1"/>
          <p:nvPr/>
        </p:nvSpPr>
        <p:spPr>
          <a:xfrm>
            <a:off x="8641080" y="4297680"/>
            <a:ext cx="3200400" cy="731520"/>
          </a:xfrm>
          <a:prstGeom prst="rect">
            <a:avLst/>
          </a:prstGeom>
          <a:noFill/>
        </p:spPr>
        <p:txBody>
          <a:bodyPr wrap="square">
            <a:spAutoFit/>
          </a:bodyPr>
          <a:lstStyle/>
          <a:p>
            <a:pPr algn="l"/>
            <a:r>
              <a:rPr sz="1000" b="0" i="0">
                <a:solidFill>
                  <a:srgbClr val="44403D"/>
                </a:solidFill>
                <a:latin typeface="Helvetica"/>
              </a:rPr>
              <a:t>You want to know — but the data lives in WhatsApp chats and scribbles. You'd need a weekend to count.</a:t>
            </a:r>
          </a:p>
        </p:txBody>
      </p:sp>
      <p:sp>
        <p:nvSpPr>
          <p:cNvPr id="29" name="TextBox 28"/>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30" name="TextBox 29"/>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548640"/>
          </a:xfrm>
          <a:prstGeom prst="rect">
            <a:avLst/>
          </a:prstGeom>
          <a:noFill/>
        </p:spPr>
        <p:txBody>
          <a:bodyPr wrap="square">
            <a:spAutoFit/>
          </a:bodyPr>
          <a:lstStyle/>
          <a:p>
            <a:pPr algn="l"/>
            <a:r>
              <a:rPr sz="2800" b="1" i="0">
                <a:solidFill>
                  <a:srgbClr val="1A1A1A"/>
                </a:solidFill>
                <a:latin typeface="Helvetica"/>
              </a:rPr>
              <a:t>Here's what changes the first week</a:t>
            </a:r>
          </a:p>
        </p:txBody>
      </p:sp>
      <p:sp>
        <p:nvSpPr>
          <p:cNvPr id="4" name="TextBox 3"/>
          <p:cNvSpPr txBox="1"/>
          <p:nvPr/>
        </p:nvSpPr>
        <p:spPr>
          <a:xfrm>
            <a:off x="731520" y="1097280"/>
            <a:ext cx="10698480" cy="457200"/>
          </a:xfrm>
          <a:prstGeom prst="rect">
            <a:avLst/>
          </a:prstGeom>
          <a:noFill/>
        </p:spPr>
        <p:txBody>
          <a:bodyPr wrap="square">
            <a:spAutoFit/>
          </a:bodyPr>
          <a:lstStyle/>
          <a:p>
            <a:pPr algn="l"/>
            <a:r>
              <a:rPr sz="1400" b="0" i="0">
                <a:solidFill>
                  <a:srgbClr val="78716C"/>
                </a:solidFill>
                <a:latin typeface="Helvetica"/>
              </a:rPr>
              <a:t>Three promises. Each one is something you can verify on day one.</a:t>
            </a:r>
          </a:p>
        </p:txBody>
      </p:sp>
      <p:sp>
        <p:nvSpPr>
          <p:cNvPr id="5" name="Rounded Rectangle 4"/>
          <p:cNvSpPr/>
          <p:nvPr/>
        </p:nvSpPr>
        <p:spPr>
          <a:xfrm>
            <a:off x="608076" y="2286000"/>
            <a:ext cx="3474720" cy="3108960"/>
          </a:xfrm>
          <a:prstGeom prst="roundRect">
            <a:avLst/>
          </a:prstGeom>
          <a:solidFill>
            <a:srgbClr val="FFFF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796796" y="2651760"/>
            <a:ext cx="1097280" cy="109728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96796" y="2834640"/>
            <a:ext cx="1097280" cy="731520"/>
          </a:xfrm>
          <a:prstGeom prst="rect">
            <a:avLst/>
          </a:prstGeom>
          <a:noFill/>
        </p:spPr>
        <p:txBody>
          <a:bodyPr wrap="square">
            <a:spAutoFit/>
          </a:bodyPr>
          <a:lstStyle/>
          <a:p>
            <a:pPr algn="ctr"/>
            <a:r>
              <a:rPr sz="3600" b="0" i="0">
                <a:solidFill>
                  <a:srgbClr val="1A1A1A"/>
                </a:solidFill>
                <a:latin typeface="Helvetica"/>
              </a:rPr>
              <a:t>🌐</a:t>
            </a:r>
          </a:p>
        </p:txBody>
      </p:sp>
      <p:sp>
        <p:nvSpPr>
          <p:cNvPr id="8" name="TextBox 7"/>
          <p:cNvSpPr txBox="1"/>
          <p:nvPr/>
        </p:nvSpPr>
        <p:spPr>
          <a:xfrm>
            <a:off x="836676" y="3977640"/>
            <a:ext cx="3017520" cy="457200"/>
          </a:xfrm>
          <a:prstGeom prst="rect">
            <a:avLst/>
          </a:prstGeom>
          <a:noFill/>
        </p:spPr>
        <p:txBody>
          <a:bodyPr wrap="square">
            <a:spAutoFit/>
          </a:bodyPr>
          <a:lstStyle/>
          <a:p>
            <a:pPr algn="ctr"/>
            <a:r>
              <a:rPr sz="1600" b="1" i="0">
                <a:solidFill>
                  <a:srgbClr val="0F766E"/>
                </a:solidFill>
                <a:latin typeface="Helvetica"/>
              </a:rPr>
              <a:t>Patients book themselves</a:t>
            </a:r>
          </a:p>
        </p:txBody>
      </p:sp>
      <p:sp>
        <p:nvSpPr>
          <p:cNvPr id="9" name="TextBox 8"/>
          <p:cNvSpPr txBox="1"/>
          <p:nvPr/>
        </p:nvSpPr>
        <p:spPr>
          <a:xfrm>
            <a:off x="836676" y="4480560"/>
            <a:ext cx="3017520" cy="914400"/>
          </a:xfrm>
          <a:prstGeom prst="rect">
            <a:avLst/>
          </a:prstGeom>
          <a:noFill/>
        </p:spPr>
        <p:txBody>
          <a:bodyPr wrap="square">
            <a:spAutoFit/>
          </a:bodyPr>
          <a:lstStyle/>
          <a:p>
            <a:pPr algn="ctr"/>
            <a:r>
              <a:rPr sz="1200" b="0" i="0">
                <a:solidFill>
                  <a:srgbClr val="44403D"/>
                </a:solidFill>
                <a:latin typeface="Helvetica"/>
              </a:rPr>
              <a:t>They tap a link, fill a form, pick a slot. Your nurse never picks up an appointment call again.</a:t>
            </a:r>
          </a:p>
        </p:txBody>
      </p:sp>
      <p:sp>
        <p:nvSpPr>
          <p:cNvPr id="10" name="Rounded Rectangle 9"/>
          <p:cNvSpPr/>
          <p:nvPr/>
        </p:nvSpPr>
        <p:spPr>
          <a:xfrm>
            <a:off x="4357116" y="2286000"/>
            <a:ext cx="3474720" cy="3108960"/>
          </a:xfrm>
          <a:prstGeom prst="roundRect">
            <a:avLst/>
          </a:prstGeom>
          <a:solidFill>
            <a:srgbClr val="FFFF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545836" y="2651760"/>
            <a:ext cx="1097280" cy="109728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45836" y="2834640"/>
            <a:ext cx="1097280" cy="731520"/>
          </a:xfrm>
          <a:prstGeom prst="rect">
            <a:avLst/>
          </a:prstGeom>
          <a:noFill/>
        </p:spPr>
        <p:txBody>
          <a:bodyPr wrap="square">
            <a:spAutoFit/>
          </a:bodyPr>
          <a:lstStyle/>
          <a:p>
            <a:pPr algn="ctr"/>
            <a:r>
              <a:rPr sz="3600" b="0" i="0">
                <a:solidFill>
                  <a:srgbClr val="1A1A1A"/>
                </a:solidFill>
                <a:latin typeface="Helvetica"/>
              </a:rPr>
              <a:t>👩‍⚕️</a:t>
            </a:r>
          </a:p>
        </p:txBody>
      </p:sp>
      <p:sp>
        <p:nvSpPr>
          <p:cNvPr id="13" name="TextBox 12"/>
          <p:cNvSpPr txBox="1"/>
          <p:nvPr/>
        </p:nvSpPr>
        <p:spPr>
          <a:xfrm>
            <a:off x="4585716" y="3977640"/>
            <a:ext cx="3017520" cy="457200"/>
          </a:xfrm>
          <a:prstGeom prst="rect">
            <a:avLst/>
          </a:prstGeom>
          <a:noFill/>
        </p:spPr>
        <p:txBody>
          <a:bodyPr wrap="square">
            <a:spAutoFit/>
          </a:bodyPr>
          <a:lstStyle/>
          <a:p>
            <a:pPr algn="ctr"/>
            <a:r>
              <a:rPr sz="1600" b="1" i="0">
                <a:solidFill>
                  <a:srgbClr val="0F766E"/>
                </a:solidFill>
                <a:latin typeface="Helvetica"/>
              </a:rPr>
              <a:t>Your nurse stays in charge</a:t>
            </a:r>
          </a:p>
        </p:txBody>
      </p:sp>
      <p:sp>
        <p:nvSpPr>
          <p:cNvPr id="14" name="TextBox 13"/>
          <p:cNvSpPr txBox="1"/>
          <p:nvPr/>
        </p:nvSpPr>
        <p:spPr>
          <a:xfrm>
            <a:off x="4585716" y="4480560"/>
            <a:ext cx="3017520" cy="914400"/>
          </a:xfrm>
          <a:prstGeom prst="rect">
            <a:avLst/>
          </a:prstGeom>
          <a:noFill/>
        </p:spPr>
        <p:txBody>
          <a:bodyPr wrap="square">
            <a:spAutoFit/>
          </a:bodyPr>
          <a:lstStyle/>
          <a:p>
            <a:pPr algn="ctr"/>
            <a:r>
              <a:rPr sz="1200" b="0" i="0">
                <a:solidFill>
                  <a:srgbClr val="44403D"/>
                </a:solidFill>
                <a:latin typeface="Helvetica"/>
              </a:rPr>
              <a:t>Every booking still passes through her. Approve, reschedule, cancel — one tap each. WhatsApp messages pre-typed.</a:t>
            </a:r>
          </a:p>
        </p:txBody>
      </p:sp>
      <p:sp>
        <p:nvSpPr>
          <p:cNvPr id="15" name="Rounded Rectangle 14"/>
          <p:cNvSpPr/>
          <p:nvPr/>
        </p:nvSpPr>
        <p:spPr>
          <a:xfrm>
            <a:off x="8106156" y="2286000"/>
            <a:ext cx="3474720" cy="3108960"/>
          </a:xfrm>
          <a:prstGeom prst="roundRect">
            <a:avLst/>
          </a:prstGeom>
          <a:solidFill>
            <a:srgbClr val="FFFF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294876" y="2651760"/>
            <a:ext cx="1097280" cy="1097280"/>
          </a:xfrm>
          <a:prstGeom prst="ellipse">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4876" y="2834640"/>
            <a:ext cx="1097280" cy="731520"/>
          </a:xfrm>
          <a:prstGeom prst="rect">
            <a:avLst/>
          </a:prstGeom>
          <a:noFill/>
        </p:spPr>
        <p:txBody>
          <a:bodyPr wrap="square">
            <a:spAutoFit/>
          </a:bodyPr>
          <a:lstStyle/>
          <a:p>
            <a:pPr algn="ctr"/>
            <a:r>
              <a:rPr sz="3600" b="0" i="0">
                <a:solidFill>
                  <a:srgbClr val="1A1A1A"/>
                </a:solidFill>
                <a:latin typeface="Helvetica"/>
              </a:rPr>
              <a:t>✅</a:t>
            </a:r>
          </a:p>
        </p:txBody>
      </p:sp>
      <p:sp>
        <p:nvSpPr>
          <p:cNvPr id="18" name="TextBox 17"/>
          <p:cNvSpPr txBox="1"/>
          <p:nvPr/>
        </p:nvSpPr>
        <p:spPr>
          <a:xfrm>
            <a:off x="8334756" y="3977640"/>
            <a:ext cx="3017520" cy="457200"/>
          </a:xfrm>
          <a:prstGeom prst="rect">
            <a:avLst/>
          </a:prstGeom>
          <a:noFill/>
        </p:spPr>
        <p:txBody>
          <a:bodyPr wrap="square">
            <a:spAutoFit/>
          </a:bodyPr>
          <a:lstStyle/>
          <a:p>
            <a:pPr algn="ctr"/>
            <a:r>
              <a:rPr sz="1600" b="1" i="0">
                <a:solidFill>
                  <a:srgbClr val="0F766E"/>
                </a:solidFill>
                <a:latin typeface="Helvetica"/>
              </a:rPr>
              <a:t>Nothing falls through the cracks</a:t>
            </a:r>
          </a:p>
        </p:txBody>
      </p:sp>
      <p:sp>
        <p:nvSpPr>
          <p:cNvPr id="19" name="TextBox 18"/>
          <p:cNvSpPr txBox="1"/>
          <p:nvPr/>
        </p:nvSpPr>
        <p:spPr>
          <a:xfrm>
            <a:off x="8334756" y="4480560"/>
            <a:ext cx="3017520" cy="914400"/>
          </a:xfrm>
          <a:prstGeom prst="rect">
            <a:avLst/>
          </a:prstGeom>
          <a:noFill/>
        </p:spPr>
        <p:txBody>
          <a:bodyPr wrap="square">
            <a:spAutoFit/>
          </a:bodyPr>
          <a:lstStyle/>
          <a:p>
            <a:pPr algn="ctr"/>
            <a:r>
              <a:rPr sz="1200" b="0" i="0">
                <a:solidFill>
                  <a:srgbClr val="44403D"/>
                </a:solidFill>
                <a:latin typeface="Helvetica"/>
              </a:rPr>
              <a:t>Reminders the day before. Track who came and who didn't. See every action with a name and time.</a:t>
            </a:r>
          </a:p>
        </p:txBody>
      </p:sp>
      <p:sp>
        <p:nvSpPr>
          <p:cNvPr id="20" name="TextBox 1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21" name="TextBox 2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548640"/>
          </a:xfrm>
          <a:prstGeom prst="rect">
            <a:avLst/>
          </a:prstGeom>
          <a:noFill/>
        </p:spPr>
        <p:txBody>
          <a:bodyPr wrap="square">
            <a:spAutoFit/>
          </a:bodyPr>
          <a:lstStyle/>
          <a:p>
            <a:pPr algn="l"/>
            <a:r>
              <a:rPr sz="2800" b="1" i="0">
                <a:solidFill>
                  <a:srgbClr val="1A1A1A"/>
                </a:solidFill>
                <a:latin typeface="Helvetica"/>
              </a:rPr>
              <a:t>Four people, four different views</a:t>
            </a:r>
          </a:p>
        </p:txBody>
      </p:sp>
      <p:sp>
        <p:nvSpPr>
          <p:cNvPr id="4" name="TextBox 3"/>
          <p:cNvSpPr txBox="1"/>
          <p:nvPr/>
        </p:nvSpPr>
        <p:spPr>
          <a:xfrm>
            <a:off x="731520" y="1097280"/>
            <a:ext cx="10698480" cy="457200"/>
          </a:xfrm>
          <a:prstGeom prst="rect">
            <a:avLst/>
          </a:prstGeom>
          <a:noFill/>
        </p:spPr>
        <p:txBody>
          <a:bodyPr wrap="square">
            <a:spAutoFit/>
          </a:bodyPr>
          <a:lstStyle/>
          <a:p>
            <a:pPr algn="l"/>
            <a:r>
              <a:rPr sz="1400" b="0" i="0">
                <a:solidFill>
                  <a:srgbClr val="78716C"/>
                </a:solidFill>
                <a:latin typeface="Helvetica"/>
              </a:rPr>
              <a:t>Each person logs in and sees only what they need. No clutter.</a:t>
            </a:r>
          </a:p>
        </p:txBody>
      </p:sp>
      <p:sp>
        <p:nvSpPr>
          <p:cNvPr id="5" name="Rounded Rectangle 4"/>
          <p:cNvSpPr/>
          <p:nvPr/>
        </p:nvSpPr>
        <p:spPr>
          <a:xfrm>
            <a:off x="493776" y="2194560"/>
            <a:ext cx="2697480" cy="3383280"/>
          </a:xfrm>
          <a:prstGeom prst="roundRect">
            <a:avLst/>
          </a:prstGeom>
          <a:solidFill>
            <a:srgbClr val="FFFFFF"/>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 y="2468880"/>
            <a:ext cx="2697480" cy="731520"/>
          </a:xfrm>
          <a:prstGeom prst="rect">
            <a:avLst/>
          </a:prstGeom>
          <a:noFill/>
        </p:spPr>
        <p:txBody>
          <a:bodyPr wrap="square">
            <a:spAutoFit/>
          </a:bodyPr>
          <a:lstStyle/>
          <a:p>
            <a:pPr algn="ctr"/>
            <a:r>
              <a:rPr sz="4400" b="0" i="0">
                <a:solidFill>
                  <a:srgbClr val="1A1A1A"/>
                </a:solidFill>
                <a:latin typeface="Helvetica"/>
              </a:rPr>
              <a:t>🧑‍🦰</a:t>
            </a:r>
          </a:p>
        </p:txBody>
      </p:sp>
      <p:sp>
        <p:nvSpPr>
          <p:cNvPr id="7" name="TextBox 6"/>
          <p:cNvSpPr txBox="1"/>
          <p:nvPr/>
        </p:nvSpPr>
        <p:spPr>
          <a:xfrm>
            <a:off x="676656" y="3474720"/>
            <a:ext cx="2331720" cy="365760"/>
          </a:xfrm>
          <a:prstGeom prst="rect">
            <a:avLst/>
          </a:prstGeom>
          <a:noFill/>
        </p:spPr>
        <p:txBody>
          <a:bodyPr wrap="square">
            <a:spAutoFit/>
          </a:bodyPr>
          <a:lstStyle/>
          <a:p>
            <a:pPr algn="ctr"/>
            <a:r>
              <a:rPr sz="1600" b="1" i="0">
                <a:solidFill>
                  <a:srgbClr val="1A1A1A"/>
                </a:solidFill>
                <a:latin typeface="Helvetica"/>
              </a:rPr>
              <a:t>Patient</a:t>
            </a:r>
          </a:p>
        </p:txBody>
      </p:sp>
      <p:sp>
        <p:nvSpPr>
          <p:cNvPr id="8" name="TextBox 7"/>
          <p:cNvSpPr txBox="1"/>
          <p:nvPr/>
        </p:nvSpPr>
        <p:spPr>
          <a:xfrm>
            <a:off x="676656" y="3840480"/>
            <a:ext cx="2331720" cy="457200"/>
          </a:xfrm>
          <a:prstGeom prst="rect">
            <a:avLst/>
          </a:prstGeom>
          <a:noFill/>
        </p:spPr>
        <p:txBody>
          <a:bodyPr wrap="square">
            <a:spAutoFit/>
          </a:bodyPr>
          <a:lstStyle/>
          <a:p>
            <a:pPr algn="ctr"/>
            <a:r>
              <a:rPr sz="1100" b="0" i="1">
                <a:solidFill>
                  <a:srgbClr val="0F766E"/>
                </a:solidFill>
                <a:latin typeface="Helvetica"/>
              </a:rPr>
              <a:t>The simplest. Just fills a form. No login, no app to install.</a:t>
            </a:r>
          </a:p>
        </p:txBody>
      </p:sp>
      <p:sp>
        <p:nvSpPr>
          <p:cNvPr id="9" name="TextBox 8"/>
          <p:cNvSpPr txBox="1"/>
          <p:nvPr/>
        </p:nvSpPr>
        <p:spPr>
          <a:xfrm>
            <a:off x="676656" y="4389120"/>
            <a:ext cx="2331720" cy="1097280"/>
          </a:xfrm>
          <a:prstGeom prst="rect">
            <a:avLst/>
          </a:prstGeom>
          <a:noFill/>
        </p:spPr>
        <p:txBody>
          <a:bodyPr wrap="square">
            <a:spAutoFit/>
          </a:bodyPr>
          <a:lstStyle/>
          <a:p>
            <a:pPr algn="ctr"/>
            <a:r>
              <a:rPr sz="1100" b="0" i="0">
                <a:solidFill>
                  <a:srgbClr val="44403D"/>
                </a:solidFill>
                <a:latin typeface="Helvetica"/>
              </a:rPr>
              <a:t>Books, reschedules, or cancels online. Done in under a minute.</a:t>
            </a:r>
          </a:p>
        </p:txBody>
      </p:sp>
      <p:sp>
        <p:nvSpPr>
          <p:cNvPr id="10" name="Rounded Rectangle 9"/>
          <p:cNvSpPr/>
          <p:nvPr/>
        </p:nvSpPr>
        <p:spPr>
          <a:xfrm>
            <a:off x="3328416" y="2194560"/>
            <a:ext cx="2697480" cy="3383280"/>
          </a:xfrm>
          <a:prstGeom prst="roundRect">
            <a:avLst/>
          </a:prstGeom>
          <a:solidFill>
            <a:srgbClr val="FFFFFF"/>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28416" y="2468880"/>
            <a:ext cx="2697480" cy="731520"/>
          </a:xfrm>
          <a:prstGeom prst="rect">
            <a:avLst/>
          </a:prstGeom>
          <a:noFill/>
        </p:spPr>
        <p:txBody>
          <a:bodyPr wrap="square">
            <a:spAutoFit/>
          </a:bodyPr>
          <a:lstStyle/>
          <a:p>
            <a:pPr algn="ctr"/>
            <a:r>
              <a:rPr sz="4400" b="0" i="0">
                <a:solidFill>
                  <a:srgbClr val="1A1A1A"/>
                </a:solidFill>
                <a:latin typeface="Helvetica"/>
              </a:rPr>
              <a:t>👩‍⚕️</a:t>
            </a:r>
          </a:p>
        </p:txBody>
      </p:sp>
      <p:sp>
        <p:nvSpPr>
          <p:cNvPr id="12" name="TextBox 11"/>
          <p:cNvSpPr txBox="1"/>
          <p:nvPr/>
        </p:nvSpPr>
        <p:spPr>
          <a:xfrm>
            <a:off x="3511296" y="3474720"/>
            <a:ext cx="2331720" cy="365760"/>
          </a:xfrm>
          <a:prstGeom prst="rect">
            <a:avLst/>
          </a:prstGeom>
          <a:noFill/>
        </p:spPr>
        <p:txBody>
          <a:bodyPr wrap="square">
            <a:spAutoFit/>
          </a:bodyPr>
          <a:lstStyle/>
          <a:p>
            <a:pPr algn="ctr"/>
            <a:r>
              <a:rPr sz="1600" b="1" i="0">
                <a:solidFill>
                  <a:srgbClr val="1A1A1A"/>
                </a:solidFill>
                <a:latin typeface="Helvetica"/>
              </a:rPr>
              <a:t>Nurse / Receptionist</a:t>
            </a:r>
          </a:p>
        </p:txBody>
      </p:sp>
      <p:sp>
        <p:nvSpPr>
          <p:cNvPr id="13" name="TextBox 12"/>
          <p:cNvSpPr txBox="1"/>
          <p:nvPr/>
        </p:nvSpPr>
        <p:spPr>
          <a:xfrm>
            <a:off x="3511296" y="3840480"/>
            <a:ext cx="2331720" cy="457200"/>
          </a:xfrm>
          <a:prstGeom prst="rect">
            <a:avLst/>
          </a:prstGeom>
          <a:noFill/>
        </p:spPr>
        <p:txBody>
          <a:bodyPr wrap="square">
            <a:spAutoFit/>
          </a:bodyPr>
          <a:lstStyle/>
          <a:p>
            <a:pPr algn="ctr"/>
            <a:r>
              <a:rPr sz="1100" b="0" i="1">
                <a:solidFill>
                  <a:srgbClr val="0F766E"/>
                </a:solidFill>
                <a:latin typeface="Helvetica"/>
              </a:rPr>
              <a:t>The daily driver. Most of her work happens here.</a:t>
            </a:r>
          </a:p>
        </p:txBody>
      </p:sp>
      <p:sp>
        <p:nvSpPr>
          <p:cNvPr id="14" name="TextBox 13"/>
          <p:cNvSpPr txBox="1"/>
          <p:nvPr/>
        </p:nvSpPr>
        <p:spPr>
          <a:xfrm>
            <a:off x="3511296" y="4389120"/>
            <a:ext cx="2331720" cy="1097280"/>
          </a:xfrm>
          <a:prstGeom prst="rect">
            <a:avLst/>
          </a:prstGeom>
          <a:noFill/>
        </p:spPr>
        <p:txBody>
          <a:bodyPr wrap="square">
            <a:spAutoFit/>
          </a:bodyPr>
          <a:lstStyle/>
          <a:p>
            <a:pPr algn="ctr"/>
            <a:r>
              <a:rPr sz="1100" b="0" i="0">
                <a:solidFill>
                  <a:srgbClr val="44403D"/>
                </a:solidFill>
                <a:latin typeface="Helvetica"/>
              </a:rPr>
              <a:t>Approves bookings, sends WhatsApp, marks attendance, handles walk-ins.</a:t>
            </a:r>
          </a:p>
        </p:txBody>
      </p:sp>
      <p:sp>
        <p:nvSpPr>
          <p:cNvPr id="15" name="Rounded Rectangle 14"/>
          <p:cNvSpPr/>
          <p:nvPr/>
        </p:nvSpPr>
        <p:spPr>
          <a:xfrm>
            <a:off x="6163056" y="2194560"/>
            <a:ext cx="2697480" cy="3383280"/>
          </a:xfrm>
          <a:prstGeom prst="roundRect">
            <a:avLst/>
          </a:prstGeom>
          <a:solidFill>
            <a:srgbClr val="FFFFFF"/>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63056" y="2468880"/>
            <a:ext cx="2697480" cy="731520"/>
          </a:xfrm>
          <a:prstGeom prst="rect">
            <a:avLst/>
          </a:prstGeom>
          <a:noFill/>
        </p:spPr>
        <p:txBody>
          <a:bodyPr wrap="square">
            <a:spAutoFit/>
          </a:bodyPr>
          <a:lstStyle/>
          <a:p>
            <a:pPr algn="ctr"/>
            <a:r>
              <a:rPr sz="4400" b="0" i="0">
                <a:solidFill>
                  <a:srgbClr val="1A1A1A"/>
                </a:solidFill>
                <a:latin typeface="Helvetica"/>
              </a:rPr>
              <a:t>🦷</a:t>
            </a:r>
          </a:p>
        </p:txBody>
      </p:sp>
      <p:sp>
        <p:nvSpPr>
          <p:cNvPr id="17" name="TextBox 16"/>
          <p:cNvSpPr txBox="1"/>
          <p:nvPr/>
        </p:nvSpPr>
        <p:spPr>
          <a:xfrm>
            <a:off x="6345936" y="3474720"/>
            <a:ext cx="2331720" cy="365760"/>
          </a:xfrm>
          <a:prstGeom prst="rect">
            <a:avLst/>
          </a:prstGeom>
          <a:noFill/>
        </p:spPr>
        <p:txBody>
          <a:bodyPr wrap="square">
            <a:spAutoFit/>
          </a:bodyPr>
          <a:lstStyle/>
          <a:p>
            <a:pPr algn="ctr"/>
            <a:r>
              <a:rPr sz="1600" b="1" i="0">
                <a:solidFill>
                  <a:srgbClr val="1A1A1A"/>
                </a:solidFill>
                <a:latin typeface="Helvetica"/>
              </a:rPr>
              <a:t>Doctor</a:t>
            </a:r>
          </a:p>
        </p:txBody>
      </p:sp>
      <p:sp>
        <p:nvSpPr>
          <p:cNvPr id="18" name="TextBox 17"/>
          <p:cNvSpPr txBox="1"/>
          <p:nvPr/>
        </p:nvSpPr>
        <p:spPr>
          <a:xfrm>
            <a:off x="6345936" y="3840480"/>
            <a:ext cx="2331720" cy="457200"/>
          </a:xfrm>
          <a:prstGeom prst="rect">
            <a:avLst/>
          </a:prstGeom>
          <a:noFill/>
        </p:spPr>
        <p:txBody>
          <a:bodyPr wrap="square">
            <a:spAutoFit/>
          </a:bodyPr>
          <a:lstStyle/>
          <a:p>
            <a:pPr algn="ctr"/>
            <a:r>
              <a:rPr sz="1100" b="0" i="1">
                <a:solidFill>
                  <a:srgbClr val="0F766E"/>
                </a:solidFill>
                <a:latin typeface="Helvetica"/>
              </a:rPr>
              <a:t>Just sees their own day.</a:t>
            </a:r>
          </a:p>
        </p:txBody>
      </p:sp>
      <p:sp>
        <p:nvSpPr>
          <p:cNvPr id="19" name="TextBox 18"/>
          <p:cNvSpPr txBox="1"/>
          <p:nvPr/>
        </p:nvSpPr>
        <p:spPr>
          <a:xfrm>
            <a:off x="6345936" y="4389120"/>
            <a:ext cx="2331720" cy="1097280"/>
          </a:xfrm>
          <a:prstGeom prst="rect">
            <a:avLst/>
          </a:prstGeom>
          <a:noFill/>
        </p:spPr>
        <p:txBody>
          <a:bodyPr wrap="square">
            <a:spAutoFit/>
          </a:bodyPr>
          <a:lstStyle/>
          <a:p>
            <a:pPr algn="ctr"/>
            <a:r>
              <a:rPr sz="1100" b="0" i="0">
                <a:solidFill>
                  <a:srgbClr val="44403D"/>
                </a:solidFill>
                <a:latin typeface="Helvetica"/>
              </a:rPr>
              <a:t>Today's appointments, this week's calendar, time to block off (lunch, MC).</a:t>
            </a:r>
          </a:p>
        </p:txBody>
      </p:sp>
      <p:sp>
        <p:nvSpPr>
          <p:cNvPr id="20" name="Rounded Rectangle 19"/>
          <p:cNvSpPr/>
          <p:nvPr/>
        </p:nvSpPr>
        <p:spPr>
          <a:xfrm>
            <a:off x="8997696" y="2194560"/>
            <a:ext cx="2697480" cy="3383280"/>
          </a:xfrm>
          <a:prstGeom prst="roundRect">
            <a:avLst/>
          </a:prstGeom>
          <a:solidFill>
            <a:srgbClr val="FFFFFF"/>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97696" y="2468880"/>
            <a:ext cx="2697480" cy="731520"/>
          </a:xfrm>
          <a:prstGeom prst="rect">
            <a:avLst/>
          </a:prstGeom>
          <a:noFill/>
        </p:spPr>
        <p:txBody>
          <a:bodyPr wrap="square">
            <a:spAutoFit/>
          </a:bodyPr>
          <a:lstStyle/>
          <a:p>
            <a:pPr algn="ctr"/>
            <a:r>
              <a:rPr sz="4400" b="0" i="0">
                <a:solidFill>
                  <a:srgbClr val="1A1A1A"/>
                </a:solidFill>
                <a:latin typeface="Helvetica"/>
              </a:rPr>
              <a:t>👨‍💼</a:t>
            </a:r>
          </a:p>
        </p:txBody>
      </p:sp>
      <p:sp>
        <p:nvSpPr>
          <p:cNvPr id="22" name="TextBox 21"/>
          <p:cNvSpPr txBox="1"/>
          <p:nvPr/>
        </p:nvSpPr>
        <p:spPr>
          <a:xfrm>
            <a:off x="9180576" y="3474720"/>
            <a:ext cx="2331720" cy="365760"/>
          </a:xfrm>
          <a:prstGeom prst="rect">
            <a:avLst/>
          </a:prstGeom>
          <a:noFill/>
        </p:spPr>
        <p:txBody>
          <a:bodyPr wrap="square">
            <a:spAutoFit/>
          </a:bodyPr>
          <a:lstStyle/>
          <a:p>
            <a:pPr algn="ctr"/>
            <a:r>
              <a:rPr sz="1600" b="1" i="0">
                <a:solidFill>
                  <a:srgbClr val="1A1A1A"/>
                </a:solidFill>
                <a:latin typeface="Helvetica"/>
              </a:rPr>
              <a:t>Owner (you)</a:t>
            </a:r>
          </a:p>
        </p:txBody>
      </p:sp>
      <p:sp>
        <p:nvSpPr>
          <p:cNvPr id="23" name="TextBox 22"/>
          <p:cNvSpPr txBox="1"/>
          <p:nvPr/>
        </p:nvSpPr>
        <p:spPr>
          <a:xfrm>
            <a:off x="9180576" y="3840480"/>
            <a:ext cx="2331720" cy="457200"/>
          </a:xfrm>
          <a:prstGeom prst="rect">
            <a:avLst/>
          </a:prstGeom>
          <a:noFill/>
        </p:spPr>
        <p:txBody>
          <a:bodyPr wrap="square">
            <a:spAutoFit/>
          </a:bodyPr>
          <a:lstStyle/>
          <a:p>
            <a:pPr algn="ctr"/>
            <a:r>
              <a:rPr sz="1100" b="0" i="1">
                <a:solidFill>
                  <a:srgbClr val="0F766E"/>
                </a:solidFill>
                <a:latin typeface="Helvetica"/>
              </a:rPr>
              <a:t>Sees everything. Edits anything. Holds everyone accountable.</a:t>
            </a:r>
          </a:p>
        </p:txBody>
      </p:sp>
      <p:sp>
        <p:nvSpPr>
          <p:cNvPr id="24" name="TextBox 23"/>
          <p:cNvSpPr txBox="1"/>
          <p:nvPr/>
        </p:nvSpPr>
        <p:spPr>
          <a:xfrm>
            <a:off x="9180576" y="4389120"/>
            <a:ext cx="2331720" cy="1097280"/>
          </a:xfrm>
          <a:prstGeom prst="rect">
            <a:avLst/>
          </a:prstGeom>
          <a:noFill/>
        </p:spPr>
        <p:txBody>
          <a:bodyPr wrap="square">
            <a:spAutoFit/>
          </a:bodyPr>
          <a:lstStyle/>
          <a:p>
            <a:pPr algn="ctr"/>
            <a:r>
              <a:rPr sz="1100" b="0" i="0">
                <a:solidFill>
                  <a:srgbClr val="44403D"/>
                </a:solidFill>
                <a:latin typeface="Helvetica"/>
              </a:rPr>
              <a:t>Reviews bookings, approves leave, edits message templates, audits every action.</a:t>
            </a:r>
          </a:p>
        </p:txBody>
      </p:sp>
      <p:sp>
        <p:nvSpPr>
          <p:cNvPr id="25" name="TextBox 24"/>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26" name="TextBox 25"/>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88952" cy="66934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698480" cy="457200"/>
          </a:xfrm>
          <a:prstGeom prst="rect">
            <a:avLst/>
          </a:prstGeom>
          <a:noFill/>
        </p:spPr>
        <p:txBody>
          <a:bodyPr wrap="square">
            <a:spAutoFit/>
          </a:bodyPr>
          <a:lstStyle/>
          <a:p>
            <a:pPr algn="ctr"/>
            <a:r>
              <a:rPr sz="1400" b="1" i="0">
                <a:solidFill>
                  <a:srgbClr val="CCFBF1"/>
                </a:solidFill>
                <a:latin typeface="Helvetica"/>
              </a:rPr>
              <a:t>PART 1 OF 4</a:t>
            </a:r>
          </a:p>
        </p:txBody>
      </p:sp>
      <p:sp>
        <p:nvSpPr>
          <p:cNvPr id="5" name="TextBox 4"/>
          <p:cNvSpPr txBox="1"/>
          <p:nvPr/>
        </p:nvSpPr>
        <p:spPr>
          <a:xfrm>
            <a:off x="731520" y="2926080"/>
            <a:ext cx="10698480" cy="1097280"/>
          </a:xfrm>
          <a:prstGeom prst="rect">
            <a:avLst/>
          </a:prstGeom>
          <a:noFill/>
        </p:spPr>
        <p:txBody>
          <a:bodyPr wrap="square">
            <a:spAutoFit/>
          </a:bodyPr>
          <a:lstStyle/>
          <a:p>
            <a:pPr algn="ctr"/>
            <a:r>
              <a:rPr sz="4200" b="1" i="0">
                <a:solidFill>
                  <a:srgbClr val="FFFFFF"/>
                </a:solidFill>
                <a:latin typeface="Helvetica"/>
              </a:rPr>
              <a:t>What your patient sees</a:t>
            </a:r>
          </a:p>
        </p:txBody>
      </p:sp>
      <p:sp>
        <p:nvSpPr>
          <p:cNvPr id="6" name="TextBox 5"/>
          <p:cNvSpPr txBox="1"/>
          <p:nvPr/>
        </p:nvSpPr>
        <p:spPr>
          <a:xfrm>
            <a:off x="731520" y="4114800"/>
            <a:ext cx="10698480" cy="548640"/>
          </a:xfrm>
          <a:prstGeom prst="rect">
            <a:avLst/>
          </a:prstGeom>
          <a:noFill/>
        </p:spPr>
        <p:txBody>
          <a:bodyPr wrap="square">
            <a:spAutoFit/>
          </a:bodyPr>
          <a:lstStyle/>
          <a:p>
            <a:pPr algn="ctr"/>
            <a:r>
              <a:rPr sz="1800" b="0" i="0">
                <a:solidFill>
                  <a:srgbClr val="CCFBF1"/>
                </a:solidFill>
                <a:latin typeface="Helvetica"/>
              </a:rPr>
              <a:t>One link. One form. Sixty seconds.</a:t>
            </a:r>
          </a:p>
        </p:txBody>
      </p:sp>
      <p:sp>
        <p:nvSpPr>
          <p:cNvPr id="7" name="TextBox 6"/>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8" name="TextBox 7"/>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PATIENT</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A single form. No app to download.</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Send them a link. That's it. Works on any phone, any computer.</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Patient fills name, IC or passport, WhatsApp number</a:t>
            </a:r>
          </a:p>
          <a:p>
            <a:pPr>
              <a:spcAft>
                <a:spcPts val="1000"/>
              </a:spcAft>
            </a:pPr>
            <a:r>
              <a:rPr sz="1300" b="1">
                <a:solidFill>
                  <a:srgbClr val="0D9488"/>
                </a:solidFill>
              </a:rPr>
              <a:t>● </a:t>
            </a:r>
            <a:r>
              <a:rPr sz="1300">
                <a:solidFill>
                  <a:srgbClr val="1A1A1A"/>
                </a:solidFill>
                <a:latin typeface="Helvetica"/>
              </a:rPr>
              <a:t>Picks the treatment — scaling, root canal, whitening, wisdom tooth, or 'others'</a:t>
            </a:r>
          </a:p>
          <a:p>
            <a:pPr>
              <a:spcAft>
                <a:spcPts val="1000"/>
              </a:spcAft>
            </a:pPr>
            <a:r>
              <a:rPr sz="1300" b="1">
                <a:solidFill>
                  <a:srgbClr val="0D9488"/>
                </a:solidFill>
              </a:rPr>
              <a:t>● </a:t>
            </a:r>
            <a:r>
              <a:rPr sz="1300">
                <a:solidFill>
                  <a:srgbClr val="1A1A1A"/>
                </a:solidFill>
                <a:latin typeface="Helvetica"/>
              </a:rPr>
              <a:t>Sees only times when the doctor is actually free</a:t>
            </a:r>
          </a:p>
          <a:p>
            <a:pPr>
              <a:spcAft>
                <a:spcPts val="1000"/>
              </a:spcAft>
            </a:pPr>
            <a:r>
              <a:rPr sz="1300" b="1">
                <a:solidFill>
                  <a:srgbClr val="0D9488"/>
                </a:solidFill>
              </a:rPr>
              <a:t>● </a:t>
            </a:r>
            <a:r>
              <a:rPr sz="1300">
                <a:solidFill>
                  <a:srgbClr val="1A1A1A"/>
                </a:solidFill>
                <a:latin typeface="Helvetica"/>
              </a:rPr>
              <a:t>Picks one, hits Submit. Done.</a:t>
            </a:r>
          </a:p>
          <a:p>
            <a:pPr>
              <a:spcAft>
                <a:spcPts val="1000"/>
              </a:spcAft>
            </a:pPr>
            <a:r>
              <a:rPr sz="1300" b="1">
                <a:solidFill>
                  <a:srgbClr val="0D9488"/>
                </a:solidFill>
              </a:rPr>
              <a:t>● </a:t>
            </a:r>
            <a:r>
              <a:rPr sz="1300">
                <a:solidFill>
                  <a:srgbClr val="1A1A1A"/>
                </a:solidFill>
                <a:latin typeface="Helvetica"/>
              </a:rPr>
              <a:t>Gets a message: 'Our nurse will contact you within 24 hours.'</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The /book form on a phone screen</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PATIENT</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The slot picker is smart</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No more 'sorry, that doctor is on leave' phone calls.</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Doctor on leave that day? Those dates don't appear at all.</a:t>
            </a:r>
          </a:p>
          <a:p>
            <a:pPr>
              <a:spcAft>
                <a:spcPts val="1000"/>
              </a:spcAft>
            </a:pPr>
            <a:r>
              <a:rPr sz="1300" b="1">
                <a:solidFill>
                  <a:srgbClr val="0D9488"/>
                </a:solidFill>
              </a:rPr>
              <a:t>● </a:t>
            </a:r>
            <a:r>
              <a:rPr sz="1300">
                <a:solidFill>
                  <a:srgbClr val="1A1A1A"/>
                </a:solidFill>
                <a:latin typeface="Helvetica"/>
              </a:rPr>
              <a:t>Doctor only works half-day Wednesday? Only morning slots show.</a:t>
            </a:r>
          </a:p>
          <a:p>
            <a:pPr>
              <a:spcAft>
                <a:spcPts val="1000"/>
              </a:spcAft>
            </a:pPr>
            <a:r>
              <a:rPr sz="1300" b="1">
                <a:solidFill>
                  <a:srgbClr val="0D9488"/>
                </a:solidFill>
              </a:rPr>
              <a:t>● </a:t>
            </a:r>
            <a:r>
              <a:rPr sz="1300">
                <a:solidFill>
                  <a:srgbClr val="1A1A1A"/>
                </a:solidFill>
                <a:latin typeface="Helvetica"/>
              </a:rPr>
              <a:t>Lunch break? Hidden automatically.</a:t>
            </a:r>
          </a:p>
          <a:p>
            <a:pPr>
              <a:spcAft>
                <a:spcPts val="1000"/>
              </a:spcAft>
            </a:pPr>
            <a:r>
              <a:rPr sz="1300" b="1">
                <a:solidFill>
                  <a:srgbClr val="0D9488"/>
                </a:solidFill>
              </a:rPr>
              <a:t>● </a:t>
            </a:r>
            <a:r>
              <a:rPr sz="1300">
                <a:solidFill>
                  <a:srgbClr val="1A1A1A"/>
                </a:solidFill>
                <a:latin typeface="Helvetica"/>
              </a:rPr>
              <a:t>Someone else already booked that 10am slot? It disappears the second they confirm.</a:t>
            </a:r>
          </a:p>
          <a:p>
            <a:pPr>
              <a:spcAft>
                <a:spcPts val="1000"/>
              </a:spcAft>
            </a:pPr>
            <a:r>
              <a:rPr sz="1300" b="1">
                <a:solidFill>
                  <a:srgbClr val="0D9488"/>
                </a:solidFill>
              </a:rPr>
              <a:t>● </a:t>
            </a:r>
            <a:r>
              <a:rPr sz="1300">
                <a:solidFill>
                  <a:srgbClr val="1A1A1A"/>
                </a:solidFill>
                <a:latin typeface="Helvetica"/>
              </a:rPr>
              <a:t>Treatment takes 90 minutes? Only slots with 90 free minutes show up.</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Slot picker with greyed-out + available times</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PATIENT</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Reschedule or cancel — same form, same link</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Patient doesn't need to call to change their appointment.</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Same /book page. Tabs at the top: Booking · Reschedule · Cancel.</a:t>
            </a:r>
          </a:p>
          <a:p>
            <a:pPr>
              <a:spcAft>
                <a:spcPts val="1000"/>
              </a:spcAft>
            </a:pPr>
            <a:r>
              <a:rPr sz="1300" b="1">
                <a:solidFill>
                  <a:srgbClr val="0D9488"/>
                </a:solidFill>
              </a:rPr>
              <a:t>● </a:t>
            </a:r>
            <a:r>
              <a:rPr sz="1300">
                <a:solidFill>
                  <a:srgbClr val="1A1A1A"/>
                </a:solidFill>
                <a:latin typeface="Helvetica"/>
              </a:rPr>
              <a:t>Patient enters their IC and phone. System finds their existing booking.</a:t>
            </a:r>
          </a:p>
          <a:p>
            <a:pPr>
              <a:spcAft>
                <a:spcPts val="1000"/>
              </a:spcAft>
            </a:pPr>
            <a:r>
              <a:rPr sz="1300" b="1">
                <a:solidFill>
                  <a:srgbClr val="0D9488"/>
                </a:solidFill>
              </a:rPr>
              <a:t>● </a:t>
            </a:r>
            <a:r>
              <a:rPr sz="1300">
                <a:solidFill>
                  <a:srgbClr val="1A1A1A"/>
                </a:solidFill>
                <a:latin typeface="Helvetica"/>
              </a:rPr>
              <a:t>Reschedule: pick a new time. Cancel: confirm once.</a:t>
            </a:r>
          </a:p>
          <a:p>
            <a:pPr>
              <a:spcAft>
                <a:spcPts val="1000"/>
              </a:spcAft>
            </a:pPr>
            <a:r>
              <a:rPr sz="1300" b="1">
                <a:solidFill>
                  <a:srgbClr val="0D9488"/>
                </a:solidFill>
              </a:rPr>
              <a:t>● </a:t>
            </a:r>
            <a:r>
              <a:rPr sz="1300">
                <a:solidFill>
                  <a:srgbClr val="1A1A1A"/>
                </a:solidFill>
                <a:latin typeface="Helvetica"/>
              </a:rPr>
              <a:t>Both go to your nurse for approval — never automatic, you stay in control.</a:t>
            </a:r>
          </a:p>
          <a:p>
            <a:pPr>
              <a:spcAft>
                <a:spcPts val="1000"/>
              </a:spcAft>
            </a:pPr>
            <a:r>
              <a:rPr sz="1300" b="1">
                <a:solidFill>
                  <a:srgbClr val="0D9488"/>
                </a:solidFill>
              </a:rPr>
              <a:t>● </a:t>
            </a:r>
            <a:r>
              <a:rPr sz="1300">
                <a:solidFill>
                  <a:srgbClr val="1A1A1A"/>
                </a:solidFill>
                <a:latin typeface="Helvetica"/>
              </a:rPr>
              <a:t>Old slot gets freed up the moment the nurse approves the reschedule.</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Reschedule tab with patient's active booking shown</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88952" cy="66934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698480" cy="457200"/>
          </a:xfrm>
          <a:prstGeom prst="rect">
            <a:avLst/>
          </a:prstGeom>
          <a:noFill/>
        </p:spPr>
        <p:txBody>
          <a:bodyPr wrap="square">
            <a:spAutoFit/>
          </a:bodyPr>
          <a:lstStyle/>
          <a:p>
            <a:pPr algn="ctr"/>
            <a:r>
              <a:rPr sz="1400" b="1" i="0">
                <a:solidFill>
                  <a:srgbClr val="CCFBF1"/>
                </a:solidFill>
                <a:latin typeface="Helvetica"/>
              </a:rPr>
              <a:t>PART 2 OF 4</a:t>
            </a:r>
          </a:p>
        </p:txBody>
      </p:sp>
      <p:sp>
        <p:nvSpPr>
          <p:cNvPr id="5" name="TextBox 4"/>
          <p:cNvSpPr txBox="1"/>
          <p:nvPr/>
        </p:nvSpPr>
        <p:spPr>
          <a:xfrm>
            <a:off x="731520" y="2926080"/>
            <a:ext cx="10698480" cy="1097280"/>
          </a:xfrm>
          <a:prstGeom prst="rect">
            <a:avLst/>
          </a:prstGeom>
          <a:noFill/>
        </p:spPr>
        <p:txBody>
          <a:bodyPr wrap="square">
            <a:spAutoFit/>
          </a:bodyPr>
          <a:lstStyle/>
          <a:p>
            <a:pPr algn="ctr"/>
            <a:r>
              <a:rPr sz="4200" b="1" i="0">
                <a:solidFill>
                  <a:srgbClr val="FFFFFF"/>
                </a:solidFill>
                <a:latin typeface="Helvetica"/>
              </a:rPr>
              <a:t>What your nurse does each day</a:t>
            </a:r>
          </a:p>
        </p:txBody>
      </p:sp>
      <p:sp>
        <p:nvSpPr>
          <p:cNvPr id="6" name="TextBox 5"/>
          <p:cNvSpPr txBox="1"/>
          <p:nvPr/>
        </p:nvSpPr>
        <p:spPr>
          <a:xfrm>
            <a:off x="731520" y="4114800"/>
            <a:ext cx="10698480" cy="548640"/>
          </a:xfrm>
          <a:prstGeom prst="rect">
            <a:avLst/>
          </a:prstGeom>
          <a:noFill/>
        </p:spPr>
        <p:txBody>
          <a:bodyPr wrap="square">
            <a:spAutoFit/>
          </a:bodyPr>
          <a:lstStyle/>
          <a:p>
            <a:pPr algn="ctr"/>
            <a:r>
              <a:rPr sz="1800" b="0" i="0">
                <a:solidFill>
                  <a:srgbClr val="CCFBF1"/>
                </a:solidFill>
                <a:latin typeface="Helvetica"/>
              </a:rPr>
              <a:t>Approve, message, remind, track. All in one screen.</a:t>
            </a:r>
          </a:p>
        </p:txBody>
      </p:sp>
      <p:sp>
        <p:nvSpPr>
          <p:cNvPr id="7" name="TextBox 6"/>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8" name="TextBox 7"/>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NURSE</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One screen shows everything waiting for her</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No more checking three different places. The 'Pending' queue is the morning routine.</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Every new booking, reschedule request, or cancellation lands here</a:t>
            </a:r>
          </a:p>
          <a:p>
            <a:pPr>
              <a:spcAft>
                <a:spcPts val="1000"/>
              </a:spcAft>
            </a:pPr>
            <a:r>
              <a:rPr sz="1300" b="1">
                <a:solidFill>
                  <a:srgbClr val="0D9488"/>
                </a:solidFill>
              </a:rPr>
              <a:t>● </a:t>
            </a:r>
            <a:r>
              <a:rPr sz="1300">
                <a:solidFill>
                  <a:srgbClr val="1A1A1A"/>
                </a:solidFill>
                <a:latin typeface="Helvetica"/>
              </a:rPr>
              <a:t>Each card shows: name, IC, WhatsApp, doctor, time, treatment</a:t>
            </a:r>
          </a:p>
          <a:p>
            <a:pPr>
              <a:spcAft>
                <a:spcPts val="1000"/>
              </a:spcAft>
            </a:pPr>
            <a:r>
              <a:rPr sz="1300" b="1">
                <a:solidFill>
                  <a:srgbClr val="0D9488"/>
                </a:solidFill>
              </a:rPr>
              <a:t>● </a:t>
            </a:r>
            <a:r>
              <a:rPr sz="1300">
                <a:solidFill>
                  <a:srgbClr val="1A1A1A"/>
                </a:solidFill>
                <a:latin typeface="Helvetica"/>
              </a:rPr>
              <a:t>First-time patient gets a purple 'First-time' badge</a:t>
            </a:r>
          </a:p>
          <a:p>
            <a:pPr>
              <a:spcAft>
                <a:spcPts val="1000"/>
              </a:spcAft>
            </a:pPr>
            <a:r>
              <a:rPr sz="1300" b="1">
                <a:solidFill>
                  <a:srgbClr val="0D9488"/>
                </a:solidFill>
              </a:rPr>
              <a:t>● </a:t>
            </a:r>
            <a:r>
              <a:rPr sz="1300">
                <a:solidFill>
                  <a:srgbClr val="1A1A1A"/>
                </a:solidFill>
                <a:latin typeface="Helvetica"/>
              </a:rPr>
              <a:t>Returning patient shows '3 prior visits' — she can personalise</a:t>
            </a:r>
          </a:p>
          <a:p>
            <a:pPr>
              <a:spcAft>
                <a:spcPts val="1000"/>
              </a:spcAft>
            </a:pPr>
            <a:r>
              <a:rPr sz="1300" b="1">
                <a:solidFill>
                  <a:srgbClr val="0D9488"/>
                </a:solidFill>
              </a:rPr>
              <a:t>● </a:t>
            </a:r>
            <a:r>
              <a:rPr sz="1300">
                <a:solidFill>
                  <a:srgbClr val="1A1A1A"/>
                </a:solidFill>
                <a:latin typeface="Helvetica"/>
              </a:rPr>
              <a:t>Side menu has a red number showing how many are waiting</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/nurse Pending queue with 3 cards</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NURSE</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WhatsApp — without typing</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The clever bit. We don't pay Meta. Your nurse just sends from her own WhatsApp.</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Tap 'Check with patient' → her WhatsApp opens with the message already typed</a:t>
            </a:r>
          </a:p>
          <a:p>
            <a:pPr>
              <a:spcAft>
                <a:spcPts val="1000"/>
              </a:spcAft>
            </a:pPr>
            <a:r>
              <a:rPr sz="1300" b="1">
                <a:solidFill>
                  <a:srgbClr val="0D9488"/>
                </a:solidFill>
              </a:rPr>
              <a:t>● </a:t>
            </a:r>
            <a:r>
              <a:rPr sz="1300">
                <a:solidFill>
                  <a:srgbClr val="1A1A1A"/>
                </a:solidFill>
                <a:latin typeface="Helvetica"/>
              </a:rPr>
              <a:t>She just hits Send — patient sees her real number, real face on display picture</a:t>
            </a:r>
          </a:p>
          <a:p>
            <a:pPr>
              <a:spcAft>
                <a:spcPts val="1000"/>
              </a:spcAft>
            </a:pPr>
            <a:r>
              <a:rPr sz="1300" b="1">
                <a:solidFill>
                  <a:srgbClr val="0D9488"/>
                </a:solidFill>
              </a:rPr>
              <a:t>● </a:t>
            </a:r>
            <a:r>
              <a:rPr sz="1300">
                <a:solidFill>
                  <a:srgbClr val="1A1A1A"/>
                </a:solidFill>
                <a:latin typeface="Helvetica"/>
              </a:rPr>
              <a:t>Five messages built in: Check · Confirm · Reschedule · Cancel · Reject · Reminder</a:t>
            </a:r>
          </a:p>
          <a:p>
            <a:pPr>
              <a:spcAft>
                <a:spcPts val="1000"/>
              </a:spcAft>
            </a:pPr>
            <a:r>
              <a:rPr sz="1300" b="1">
                <a:solidFill>
                  <a:srgbClr val="0D9488"/>
                </a:solidFill>
              </a:rPr>
              <a:t>● </a:t>
            </a:r>
            <a:r>
              <a:rPr sz="1300">
                <a:solidFill>
                  <a:srgbClr val="1A1A1A"/>
                </a:solidFill>
                <a:latin typeface="Helvetica"/>
              </a:rPr>
              <a:t>Every message uses your clinic's name and the patient's actual details automatically</a:t>
            </a:r>
          </a:p>
          <a:p>
            <a:pPr>
              <a:spcAft>
                <a:spcPts val="1000"/>
              </a:spcAft>
            </a:pPr>
            <a:r>
              <a:rPr sz="1300" b="1">
                <a:solidFill>
                  <a:srgbClr val="0D9488"/>
                </a:solidFill>
              </a:rPr>
              <a:t>● </a:t>
            </a:r>
            <a:r>
              <a:rPr sz="1300">
                <a:solidFill>
                  <a:srgbClr val="1A1A1A"/>
                </a:solidFill>
                <a:latin typeface="Helvetica"/>
              </a:rPr>
              <a:t>Zero per-message cost. Free forever.</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WhatsApp app opening with pre-typed message</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NURSE</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Track every message — who sent what, when</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No more 'did anyone confirm Mrs Lim's appointment?' arguments.</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Every WhatsApp message sent shows a green ✓ pill on the booking</a:t>
            </a:r>
          </a:p>
          <a:p>
            <a:pPr>
              <a:spcAft>
                <a:spcPts val="1000"/>
              </a:spcAft>
            </a:pPr>
            <a:r>
              <a:rPr sz="1300" b="1">
                <a:solidFill>
                  <a:srgbClr val="0D9488"/>
                </a:solidFill>
              </a:rPr>
              <a:t>● </a:t>
            </a:r>
            <a:r>
              <a:rPr sz="1300">
                <a:solidFill>
                  <a:srgbClr val="1A1A1A"/>
                </a:solidFill>
                <a:latin typeface="Helvetica"/>
              </a:rPr>
              <a:t>Hover to see: 'Confirmation sent by Nurse Aisha, 2 May 10:43 AM'</a:t>
            </a:r>
          </a:p>
          <a:p>
            <a:pPr>
              <a:spcAft>
                <a:spcPts val="1000"/>
              </a:spcAft>
            </a:pPr>
            <a:r>
              <a:rPr sz="1300" b="1">
                <a:solidFill>
                  <a:srgbClr val="0D9488"/>
                </a:solidFill>
              </a:rPr>
              <a:t>● </a:t>
            </a:r>
            <a:r>
              <a:rPr sz="1300">
                <a:solidFill>
                  <a:srgbClr val="1A1A1A"/>
                </a:solidFill>
                <a:latin typeface="Helvetica"/>
              </a:rPr>
              <a:t>All 5 message types tracked: Check, Confirm, Reject, Cancel, Reminder</a:t>
            </a:r>
          </a:p>
          <a:p>
            <a:pPr>
              <a:spcAft>
                <a:spcPts val="1000"/>
              </a:spcAft>
            </a:pPr>
            <a:r>
              <a:rPr sz="1300" b="1">
                <a:solidFill>
                  <a:srgbClr val="0D9488"/>
                </a:solidFill>
              </a:rPr>
              <a:t>● </a:t>
            </a:r>
            <a:r>
              <a:rPr sz="1300">
                <a:solidFill>
                  <a:srgbClr val="1A1A1A"/>
                </a:solidFill>
                <a:latin typeface="Helvetica"/>
              </a:rPr>
              <a:t>If two nurses share the shift, you instantly know which one did what</a:t>
            </a:r>
          </a:p>
          <a:p>
            <a:pPr>
              <a:spcAft>
                <a:spcPts val="1000"/>
              </a:spcAft>
            </a:pPr>
            <a:r>
              <a:rPr sz="1300" b="1">
                <a:solidFill>
                  <a:srgbClr val="0D9488"/>
                </a:solidFill>
              </a:rPr>
              <a:t>● </a:t>
            </a:r>
            <a:r>
              <a:rPr sz="1300">
                <a:solidFill>
                  <a:srgbClr val="1A1A1A"/>
                </a:solidFill>
                <a:latin typeface="Helvetica"/>
              </a:rPr>
              <a:t>Resend works the same way. Each send overwrites the latest record.</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Booking row with green ✓ Confirm and ✓ Reminder pills</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NURSE</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Reminders the day before</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The single biggest reason no-shows drop in clinics that adopt this.</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Side menu: 'Send reminders' — shows tomorrow's confirmed appointments</a:t>
            </a:r>
          </a:p>
          <a:p>
            <a:pPr>
              <a:spcAft>
                <a:spcPts val="1000"/>
              </a:spcAft>
            </a:pPr>
            <a:r>
              <a:rPr sz="1300" b="1">
                <a:solidFill>
                  <a:srgbClr val="0D9488"/>
                </a:solidFill>
              </a:rPr>
              <a:t>● </a:t>
            </a:r>
            <a:r>
              <a:rPr sz="1300">
                <a:solidFill>
                  <a:srgbClr val="1A1A1A"/>
                </a:solidFill>
                <a:latin typeface="Helvetica"/>
              </a:rPr>
              <a:t>One tap per patient = WhatsApp opens with the reminder message ready</a:t>
            </a:r>
          </a:p>
          <a:p>
            <a:pPr>
              <a:spcAft>
                <a:spcPts val="1000"/>
              </a:spcAft>
            </a:pPr>
            <a:r>
              <a:rPr sz="1300" b="1">
                <a:solidFill>
                  <a:srgbClr val="0D9488"/>
                </a:solidFill>
              </a:rPr>
              <a:t>● </a:t>
            </a:r>
            <a:r>
              <a:rPr sz="1300">
                <a:solidFill>
                  <a:srgbClr val="1A1A1A"/>
                </a:solidFill>
                <a:latin typeface="Helvetica"/>
              </a:rPr>
              <a:t>She can do all 10–15 reminders in under 5 minutes the evening before</a:t>
            </a:r>
          </a:p>
          <a:p>
            <a:pPr>
              <a:spcAft>
                <a:spcPts val="1000"/>
              </a:spcAft>
            </a:pPr>
            <a:r>
              <a:rPr sz="1300" b="1">
                <a:solidFill>
                  <a:srgbClr val="0D9488"/>
                </a:solidFill>
              </a:rPr>
              <a:t>● </a:t>
            </a:r>
            <a:r>
              <a:rPr sz="1300">
                <a:solidFill>
                  <a:srgbClr val="1A1A1A"/>
                </a:solidFill>
                <a:latin typeface="Helvetica"/>
              </a:rPr>
              <a:t>Already-sent reminders show ✓ so she doesn't double-send</a:t>
            </a:r>
          </a:p>
          <a:p>
            <a:pPr>
              <a:spcAft>
                <a:spcPts val="1000"/>
              </a:spcAft>
            </a:pPr>
            <a:r>
              <a:rPr sz="1300" b="1">
                <a:solidFill>
                  <a:srgbClr val="0D9488"/>
                </a:solidFill>
              </a:rPr>
              <a:t>● </a:t>
            </a:r>
            <a:r>
              <a:rPr sz="1300">
                <a:solidFill>
                  <a:srgbClr val="1A1A1A"/>
                </a:solidFill>
                <a:latin typeface="Helvetica"/>
              </a:rPr>
              <a:t>Industry research: reminders cut no-shows by 30–50%</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Tomorrow's appointment list with 'Send reminder' buttons</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NURSE</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Mark who came in, who didn't</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Walk-in arrivals → search by IC → one tap.</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'Today' filter in All Bookings shows just today's confirmed visits</a:t>
            </a:r>
          </a:p>
          <a:p>
            <a:pPr>
              <a:spcAft>
                <a:spcPts val="1000"/>
              </a:spcAft>
            </a:pPr>
            <a:r>
              <a:rPr sz="1300" b="1">
                <a:solidFill>
                  <a:srgbClr val="0D9488"/>
                </a:solidFill>
              </a:rPr>
              <a:t>● </a:t>
            </a:r>
            <a:r>
              <a:rPr sz="1300">
                <a:solidFill>
                  <a:srgbClr val="1A1A1A"/>
                </a:solidFill>
                <a:latin typeface="Helvetica"/>
              </a:rPr>
              <a:t>Patient walks in → search their IC → tap ✓ Attended</a:t>
            </a:r>
          </a:p>
          <a:p>
            <a:pPr>
              <a:spcAft>
                <a:spcPts val="1000"/>
              </a:spcAft>
            </a:pPr>
            <a:r>
              <a:rPr sz="1300" b="1">
                <a:solidFill>
                  <a:srgbClr val="0D9488"/>
                </a:solidFill>
              </a:rPr>
              <a:t>● </a:t>
            </a:r>
            <a:r>
              <a:rPr sz="1300">
                <a:solidFill>
                  <a:srgbClr val="1A1A1A"/>
                </a:solidFill>
                <a:latin typeface="Helvetica"/>
              </a:rPr>
              <a:t>Didn't show up? Tap 'No-show' instead — tracked separately</a:t>
            </a:r>
          </a:p>
          <a:p>
            <a:pPr>
              <a:spcAft>
                <a:spcPts val="1000"/>
              </a:spcAft>
            </a:pPr>
            <a:r>
              <a:rPr sz="1300" b="1">
                <a:solidFill>
                  <a:srgbClr val="0D9488"/>
                </a:solidFill>
              </a:rPr>
              <a:t>● </a:t>
            </a:r>
            <a:r>
              <a:rPr sz="1300">
                <a:solidFill>
                  <a:srgbClr val="1A1A1A"/>
                </a:solidFill>
                <a:latin typeface="Helvetica"/>
              </a:rPr>
              <a:t>Patient's visit count goes up automatically (used for 'returning patient' badges)</a:t>
            </a:r>
          </a:p>
          <a:p>
            <a:pPr>
              <a:spcAft>
                <a:spcPts val="1000"/>
              </a:spcAft>
            </a:pPr>
            <a:r>
              <a:rPr sz="1300" b="1">
                <a:solidFill>
                  <a:srgbClr val="0D9488"/>
                </a:solidFill>
              </a:rPr>
              <a:t>● </a:t>
            </a:r>
            <a:r>
              <a:rPr sz="1300">
                <a:solidFill>
                  <a:srgbClr val="1A1A1A"/>
                </a:solidFill>
                <a:latin typeface="Helvetica"/>
              </a:rPr>
              <a:t>Made a mistake? One-tap Undo. Everything reversible.</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Today filter with Attended / No-show buttons</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NURSE</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When patients can't (or won't) use the form</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Elderly patients call. Walk-ins arrive. Auntie wants to book her sister.</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'New booking' page — same form, but the nurse fills it for the patient</a:t>
            </a:r>
          </a:p>
          <a:p>
            <a:pPr>
              <a:spcAft>
                <a:spcPts val="1000"/>
              </a:spcAft>
            </a:pPr>
            <a:r>
              <a:rPr sz="1300" b="1">
                <a:solidFill>
                  <a:srgbClr val="0D9488"/>
                </a:solidFill>
              </a:rPr>
              <a:t>● </a:t>
            </a:r>
            <a:r>
              <a:rPr sz="1300">
                <a:solidFill>
                  <a:srgbClr val="1A1A1A"/>
                </a:solidFill>
                <a:latin typeface="Helvetica"/>
              </a:rPr>
              <a:t>Search existing patient by IC — name and phone auto-fill</a:t>
            </a:r>
          </a:p>
          <a:p>
            <a:pPr>
              <a:spcAft>
                <a:spcPts val="1000"/>
              </a:spcAft>
            </a:pPr>
            <a:r>
              <a:rPr sz="1300" b="1">
                <a:solidFill>
                  <a:srgbClr val="0D9488"/>
                </a:solidFill>
              </a:rPr>
              <a:t>● </a:t>
            </a:r>
            <a:r>
              <a:rPr sz="1300">
                <a:solidFill>
                  <a:srgbClr val="1A1A1A"/>
                </a:solidFill>
                <a:latin typeface="Helvetica"/>
              </a:rPr>
              <a:t>New patient? Fill once, saved forever.</a:t>
            </a:r>
          </a:p>
          <a:p>
            <a:pPr>
              <a:spcAft>
                <a:spcPts val="1000"/>
              </a:spcAft>
            </a:pPr>
            <a:r>
              <a:rPr sz="1300" b="1">
                <a:solidFill>
                  <a:srgbClr val="0D9488"/>
                </a:solidFill>
              </a:rPr>
              <a:t>● </a:t>
            </a:r>
            <a:r>
              <a:rPr sz="1300">
                <a:solidFill>
                  <a:srgbClr val="1A1A1A"/>
                </a:solidFill>
                <a:latin typeface="Helvetica"/>
              </a:rPr>
              <a:t>Same treatment + slot picker — works exactly like the public form</a:t>
            </a:r>
          </a:p>
          <a:p>
            <a:pPr>
              <a:spcAft>
                <a:spcPts val="1000"/>
              </a:spcAft>
            </a:pPr>
            <a:r>
              <a:rPr sz="1300" b="1">
                <a:solidFill>
                  <a:srgbClr val="0D9488"/>
                </a:solidFill>
              </a:rPr>
              <a:t>● </a:t>
            </a:r>
            <a:r>
              <a:rPr sz="1300">
                <a:solidFill>
                  <a:srgbClr val="1A1A1A"/>
                </a:solidFill>
                <a:latin typeface="Helvetica"/>
              </a:rPr>
              <a:t>Submits as 'confirmed' immediately — no waiting, no WhatsApp verification needed</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Staff new-booking page</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88952" cy="66934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698480" cy="457200"/>
          </a:xfrm>
          <a:prstGeom prst="rect">
            <a:avLst/>
          </a:prstGeom>
          <a:noFill/>
        </p:spPr>
        <p:txBody>
          <a:bodyPr wrap="square">
            <a:spAutoFit/>
          </a:bodyPr>
          <a:lstStyle/>
          <a:p>
            <a:pPr algn="ctr"/>
            <a:r>
              <a:rPr sz="1400" b="1" i="0">
                <a:solidFill>
                  <a:srgbClr val="CCFBF1"/>
                </a:solidFill>
                <a:latin typeface="Helvetica"/>
              </a:rPr>
              <a:t>PART 3 OF 4</a:t>
            </a:r>
          </a:p>
        </p:txBody>
      </p:sp>
      <p:sp>
        <p:nvSpPr>
          <p:cNvPr id="5" name="TextBox 4"/>
          <p:cNvSpPr txBox="1"/>
          <p:nvPr/>
        </p:nvSpPr>
        <p:spPr>
          <a:xfrm>
            <a:off x="731520" y="2926080"/>
            <a:ext cx="10698480" cy="1097280"/>
          </a:xfrm>
          <a:prstGeom prst="rect">
            <a:avLst/>
          </a:prstGeom>
          <a:noFill/>
        </p:spPr>
        <p:txBody>
          <a:bodyPr wrap="square">
            <a:spAutoFit/>
          </a:bodyPr>
          <a:lstStyle/>
          <a:p>
            <a:pPr algn="ctr"/>
            <a:r>
              <a:rPr sz="4200" b="1" i="0">
                <a:solidFill>
                  <a:srgbClr val="FFFFFF"/>
                </a:solidFill>
                <a:latin typeface="Helvetica"/>
              </a:rPr>
              <a:t>What your doctor sees</a:t>
            </a:r>
          </a:p>
        </p:txBody>
      </p:sp>
      <p:sp>
        <p:nvSpPr>
          <p:cNvPr id="6" name="TextBox 5"/>
          <p:cNvSpPr txBox="1"/>
          <p:nvPr/>
        </p:nvSpPr>
        <p:spPr>
          <a:xfrm>
            <a:off x="731520" y="4114800"/>
            <a:ext cx="10698480" cy="548640"/>
          </a:xfrm>
          <a:prstGeom prst="rect">
            <a:avLst/>
          </a:prstGeom>
          <a:noFill/>
        </p:spPr>
        <p:txBody>
          <a:bodyPr wrap="square">
            <a:spAutoFit/>
          </a:bodyPr>
          <a:lstStyle/>
          <a:p>
            <a:pPr algn="ctr"/>
            <a:r>
              <a:rPr sz="1800" b="0" i="0">
                <a:solidFill>
                  <a:srgbClr val="CCFBF1"/>
                </a:solidFill>
                <a:latin typeface="Helvetica"/>
              </a:rPr>
              <a:t>Just their own day. Nothing extra.</a:t>
            </a:r>
          </a:p>
        </p:txBody>
      </p:sp>
      <p:sp>
        <p:nvSpPr>
          <p:cNvPr id="7" name="TextBox 6"/>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8" name="TextBox 7"/>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DOCTOR</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Their day, their patients, their schedule</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Doctors only see what's theirs. No nurse noise, no other doctors' calendars.</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'Today' — list of patients coming in today, in time order, with treatment</a:t>
            </a:r>
          </a:p>
          <a:p>
            <a:pPr>
              <a:spcAft>
                <a:spcPts val="1000"/>
              </a:spcAft>
            </a:pPr>
            <a:r>
              <a:rPr sz="1300" b="1">
                <a:solidFill>
                  <a:srgbClr val="0D9488"/>
                </a:solidFill>
              </a:rPr>
              <a:t>● </a:t>
            </a:r>
            <a:r>
              <a:rPr sz="1300">
                <a:solidFill>
                  <a:srgbClr val="1A1A1A"/>
                </a:solidFill>
                <a:latin typeface="Helvetica"/>
              </a:rPr>
              <a:t>'My calendar' — week view of their own bookings only</a:t>
            </a:r>
          </a:p>
          <a:p>
            <a:pPr>
              <a:spcAft>
                <a:spcPts val="1000"/>
              </a:spcAft>
            </a:pPr>
            <a:r>
              <a:rPr sz="1300" b="1">
                <a:solidFill>
                  <a:srgbClr val="0D9488"/>
                </a:solidFill>
              </a:rPr>
              <a:t>● </a:t>
            </a:r>
            <a:r>
              <a:rPr sz="1300">
                <a:solidFill>
                  <a:srgbClr val="1A1A1A"/>
                </a:solidFill>
                <a:latin typeface="Helvetica"/>
              </a:rPr>
              <a:t>'My patients' — list of every patient they've ever treated</a:t>
            </a:r>
          </a:p>
          <a:p>
            <a:pPr>
              <a:spcAft>
                <a:spcPts val="1000"/>
              </a:spcAft>
            </a:pPr>
            <a:r>
              <a:rPr sz="1300" b="1">
                <a:solidFill>
                  <a:srgbClr val="0D9488"/>
                </a:solidFill>
              </a:rPr>
              <a:t>● </a:t>
            </a:r>
            <a:r>
              <a:rPr sz="1300">
                <a:solidFill>
                  <a:srgbClr val="1A1A1A"/>
                </a:solidFill>
                <a:latin typeface="Helvetica"/>
              </a:rPr>
              <a:t>'Block time' — mark lunch, MC days, conferences, weekends off</a:t>
            </a:r>
          </a:p>
          <a:p>
            <a:pPr>
              <a:spcAft>
                <a:spcPts val="1000"/>
              </a:spcAft>
            </a:pPr>
            <a:r>
              <a:rPr sz="1300" b="1">
                <a:solidFill>
                  <a:srgbClr val="0D9488"/>
                </a:solidFill>
              </a:rPr>
              <a:t>● </a:t>
            </a:r>
            <a:r>
              <a:rPr sz="1300">
                <a:solidFill>
                  <a:srgbClr val="1A1A1A"/>
                </a:solidFill>
                <a:latin typeface="Helvetica"/>
              </a:rPr>
              <a:t>Approved leaves automatically block their public bookings — no double-checking</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Doctor's Today view + My calendar</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88952" cy="66934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698480" cy="457200"/>
          </a:xfrm>
          <a:prstGeom prst="rect">
            <a:avLst/>
          </a:prstGeom>
          <a:noFill/>
        </p:spPr>
        <p:txBody>
          <a:bodyPr wrap="square">
            <a:spAutoFit/>
          </a:bodyPr>
          <a:lstStyle/>
          <a:p>
            <a:pPr algn="ctr"/>
            <a:r>
              <a:rPr sz="1400" b="1" i="0">
                <a:solidFill>
                  <a:srgbClr val="CCFBF1"/>
                </a:solidFill>
                <a:latin typeface="Helvetica"/>
              </a:rPr>
              <a:t>PART 4 OF 4</a:t>
            </a:r>
          </a:p>
        </p:txBody>
      </p:sp>
      <p:sp>
        <p:nvSpPr>
          <p:cNvPr id="5" name="TextBox 4"/>
          <p:cNvSpPr txBox="1"/>
          <p:nvPr/>
        </p:nvSpPr>
        <p:spPr>
          <a:xfrm>
            <a:off x="731520" y="2926080"/>
            <a:ext cx="10698480" cy="1097280"/>
          </a:xfrm>
          <a:prstGeom prst="rect">
            <a:avLst/>
          </a:prstGeom>
          <a:noFill/>
        </p:spPr>
        <p:txBody>
          <a:bodyPr wrap="square">
            <a:spAutoFit/>
          </a:bodyPr>
          <a:lstStyle/>
          <a:p>
            <a:pPr algn="ctr"/>
            <a:r>
              <a:rPr sz="4200" b="1" i="0">
                <a:solidFill>
                  <a:srgbClr val="FFFFFF"/>
                </a:solidFill>
                <a:latin typeface="Helvetica"/>
              </a:rPr>
              <a:t>What you, the owner, see</a:t>
            </a:r>
          </a:p>
        </p:txBody>
      </p:sp>
      <p:sp>
        <p:nvSpPr>
          <p:cNvPr id="6" name="TextBox 5"/>
          <p:cNvSpPr txBox="1"/>
          <p:nvPr/>
        </p:nvSpPr>
        <p:spPr>
          <a:xfrm>
            <a:off x="731520" y="4114800"/>
            <a:ext cx="10698480" cy="548640"/>
          </a:xfrm>
          <a:prstGeom prst="rect">
            <a:avLst/>
          </a:prstGeom>
          <a:noFill/>
        </p:spPr>
        <p:txBody>
          <a:bodyPr wrap="square">
            <a:spAutoFit/>
          </a:bodyPr>
          <a:lstStyle/>
          <a:p>
            <a:pPr algn="ctr"/>
            <a:r>
              <a:rPr sz="1800" b="0" i="0">
                <a:solidFill>
                  <a:srgbClr val="CCFBF1"/>
                </a:solidFill>
                <a:latin typeface="Helvetica"/>
              </a:rPr>
              <a:t>Everything. Edit anything. Hold everyone accountable.</a:t>
            </a:r>
          </a:p>
        </p:txBody>
      </p:sp>
      <p:sp>
        <p:nvSpPr>
          <p:cNvPr id="7" name="TextBox 6"/>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8" name="TextBox 7"/>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OWNER</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You see everything, you can override anything</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Run a clinic with confidence — never blind to what's happening.</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Overview dashboard: week's bookings, pending count, patient stats, repeat rate</a:t>
            </a:r>
          </a:p>
          <a:p>
            <a:pPr>
              <a:spcAft>
                <a:spcPts val="1000"/>
              </a:spcAft>
            </a:pPr>
            <a:r>
              <a:rPr sz="1300" b="1">
                <a:solidFill>
                  <a:srgbClr val="0D9488"/>
                </a:solidFill>
              </a:rPr>
              <a:t>● </a:t>
            </a:r>
            <a:r>
              <a:rPr sz="1300">
                <a:solidFill>
                  <a:srgbClr val="1A1A1A"/>
                </a:solidFill>
                <a:latin typeface="Helvetica"/>
              </a:rPr>
              <a:t>All bookings — filter by upcoming, today, attended, no-show, by doctor, by date</a:t>
            </a:r>
          </a:p>
          <a:p>
            <a:pPr>
              <a:spcAft>
                <a:spcPts val="1000"/>
              </a:spcAft>
            </a:pPr>
            <a:r>
              <a:rPr sz="1300" b="1">
                <a:solidFill>
                  <a:srgbClr val="0D9488"/>
                </a:solidFill>
              </a:rPr>
              <a:t>● </a:t>
            </a:r>
            <a:r>
              <a:rPr sz="1300">
                <a:solidFill>
                  <a:srgbClr val="1A1A1A"/>
                </a:solidFill>
                <a:latin typeface="Helvetica"/>
              </a:rPr>
              <a:t>Override any booking's status with one click (with optional note)</a:t>
            </a:r>
          </a:p>
          <a:p>
            <a:pPr>
              <a:spcAft>
                <a:spcPts val="1000"/>
              </a:spcAft>
            </a:pPr>
            <a:r>
              <a:rPr sz="1300" b="1">
                <a:solidFill>
                  <a:srgbClr val="0D9488"/>
                </a:solidFill>
              </a:rPr>
              <a:t>● </a:t>
            </a:r>
            <a:r>
              <a:rPr sz="1300">
                <a:solidFill>
                  <a:srgbClr val="1A1A1A"/>
                </a:solidFill>
                <a:latin typeface="Helvetica"/>
              </a:rPr>
              <a:t>Reset any staff password from the staff list</a:t>
            </a:r>
          </a:p>
          <a:p>
            <a:pPr>
              <a:spcAft>
                <a:spcPts val="1000"/>
              </a:spcAft>
            </a:pPr>
            <a:r>
              <a:rPr sz="1300" b="1">
                <a:solidFill>
                  <a:srgbClr val="0D9488"/>
                </a:solidFill>
              </a:rPr>
              <a:t>● </a:t>
            </a:r>
            <a:r>
              <a:rPr sz="1300">
                <a:solidFill>
                  <a:srgbClr val="1A1A1A"/>
                </a:solidFill>
                <a:latin typeface="Helvetica"/>
              </a:rPr>
              <a:t>Add or deactivate staff in 30 seconds</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/owner dashboard with stats</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OWNER</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Every action recorded. Forever.</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Accountability built in. Required for Malaysian PDPA compliance.</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Every approve, reject, cancel, override, message sent — recorded with timestamp and name</a:t>
            </a:r>
          </a:p>
          <a:p>
            <a:pPr>
              <a:spcAft>
                <a:spcPts val="1000"/>
              </a:spcAft>
            </a:pPr>
            <a:r>
              <a:rPr sz="1300" b="1">
                <a:solidFill>
                  <a:srgbClr val="0D9488"/>
                </a:solidFill>
              </a:rPr>
              <a:t>● </a:t>
            </a:r>
            <a:r>
              <a:rPr sz="1300">
                <a:solidFill>
                  <a:srgbClr val="1A1A1A"/>
                </a:solidFill>
                <a:latin typeface="Helvetica"/>
              </a:rPr>
              <a:t>Filter the log by action type, by staff member, by date</a:t>
            </a:r>
          </a:p>
          <a:p>
            <a:pPr>
              <a:spcAft>
                <a:spcPts val="1000"/>
              </a:spcAft>
            </a:pPr>
            <a:r>
              <a:rPr sz="1300" b="1">
                <a:solidFill>
                  <a:srgbClr val="0D9488"/>
                </a:solidFill>
              </a:rPr>
              <a:t>● </a:t>
            </a:r>
            <a:r>
              <a:rPr sz="1300">
                <a:solidFill>
                  <a:srgbClr val="1A1A1A"/>
                </a:solidFill>
                <a:latin typeface="Helvetica"/>
              </a:rPr>
              <a:t>Patient says 'I never agreed to this' — open the log and see exactly what happened</a:t>
            </a:r>
          </a:p>
          <a:p>
            <a:pPr>
              <a:spcAft>
                <a:spcPts val="1000"/>
              </a:spcAft>
            </a:pPr>
            <a:r>
              <a:rPr sz="1300" b="1">
                <a:solidFill>
                  <a:srgbClr val="0D9488"/>
                </a:solidFill>
              </a:rPr>
              <a:t>● </a:t>
            </a:r>
            <a:r>
              <a:rPr sz="1300">
                <a:solidFill>
                  <a:srgbClr val="1A1A1A"/>
                </a:solidFill>
                <a:latin typeface="Helvetica"/>
              </a:rPr>
              <a:t>Staff member leaves the clinic? Their name stays on every past record. Nothing erased.</a:t>
            </a:r>
          </a:p>
          <a:p>
            <a:pPr>
              <a:spcAft>
                <a:spcPts val="1000"/>
              </a:spcAft>
            </a:pPr>
            <a:r>
              <a:rPr sz="1300" b="1">
                <a:solidFill>
                  <a:srgbClr val="0D9488"/>
                </a:solidFill>
              </a:rPr>
              <a:t>● </a:t>
            </a:r>
            <a:r>
              <a:rPr sz="1300">
                <a:solidFill>
                  <a:srgbClr val="1A1A1A"/>
                </a:solidFill>
                <a:latin typeface="Helvetica"/>
              </a:rPr>
              <a:t>Required if a regulator asks 'who accessed patient X's data on date Y?'</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/owner/audit log with filters</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OWNER</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The whole team's schedule, on one page</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Duty calendar shows who's on, who's on leave, who's working half-day.</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Default: everyone is on duty 9:00 AM – 9:00 PM, every day. No data entry needed.</a:t>
            </a:r>
          </a:p>
          <a:p>
            <a:pPr>
              <a:spcAft>
                <a:spcPts val="1000"/>
              </a:spcAft>
            </a:pPr>
            <a:r>
              <a:rPr sz="1300" b="1">
                <a:solidFill>
                  <a:srgbClr val="0D9488"/>
                </a:solidFill>
              </a:rPr>
              <a:t>● </a:t>
            </a:r>
            <a:r>
              <a:rPr sz="1300">
                <a:solidFill>
                  <a:srgbClr val="1A1A1A"/>
                </a:solidFill>
                <a:latin typeface="Helvetica"/>
              </a:rPr>
              <a:t>Doctor or nurse submits leave → you approve once → it auto-blocks their bookings</a:t>
            </a:r>
          </a:p>
          <a:p>
            <a:pPr>
              <a:spcAft>
                <a:spcPts val="1000"/>
              </a:spcAft>
            </a:pPr>
            <a:r>
              <a:rPr sz="1300" b="1">
                <a:solidFill>
                  <a:srgbClr val="0D9488"/>
                </a:solidFill>
              </a:rPr>
              <a:t>● </a:t>
            </a:r>
            <a:r>
              <a:rPr sz="1300">
                <a:solidFill>
                  <a:srgbClr val="1A1A1A"/>
                </a:solidFill>
                <a:latin typeface="Helvetica"/>
              </a:rPr>
              <a:t>Custom shift (e.g. half-day) → you approve → calendar reflects it</a:t>
            </a:r>
          </a:p>
          <a:p>
            <a:pPr>
              <a:spcAft>
                <a:spcPts val="1000"/>
              </a:spcAft>
            </a:pPr>
            <a:r>
              <a:rPr sz="1300" b="1">
                <a:solidFill>
                  <a:srgbClr val="0D9488"/>
                </a:solidFill>
              </a:rPr>
              <a:t>● </a:t>
            </a:r>
            <a:r>
              <a:rPr sz="1300">
                <a:solidFill>
                  <a:srgbClr val="1A1A1A"/>
                </a:solidFill>
                <a:latin typeface="Helvetica"/>
              </a:rPr>
              <a:t>Week view on phone, month view on desktop</a:t>
            </a:r>
          </a:p>
          <a:p>
            <a:pPr>
              <a:spcAft>
                <a:spcPts val="1000"/>
              </a:spcAft>
            </a:pPr>
            <a:r>
              <a:rPr sz="1300" b="1">
                <a:solidFill>
                  <a:srgbClr val="0D9488"/>
                </a:solidFill>
              </a:rPr>
              <a:t>● </a:t>
            </a:r>
            <a:r>
              <a:rPr sz="1300">
                <a:solidFill>
                  <a:srgbClr val="1A1A1A"/>
                </a:solidFill>
                <a:latin typeface="Helvetica"/>
              </a:rPr>
              <a:t>Working hours editor: change any doctor's weekly schedule in 1 minute</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Duty calendar — month view with leave + custom shift overlays</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THE OWNER</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All WhatsApp messages — edit once, applies everywhere</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You control the voice of your clinic. Change wording anytime.</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All 6 templates editable: Check, Confirm Booking, Reschedule, Cancel, Reject, Reminder</a:t>
            </a:r>
          </a:p>
          <a:p>
            <a:pPr>
              <a:spcAft>
                <a:spcPts val="1000"/>
              </a:spcAft>
            </a:pPr>
            <a:r>
              <a:rPr sz="1300" b="1">
                <a:solidFill>
                  <a:srgbClr val="0D9488"/>
                </a:solidFill>
              </a:rPr>
              <a:t>● </a:t>
            </a:r>
            <a:r>
              <a:rPr sz="1300">
                <a:solidFill>
                  <a:srgbClr val="1A1A1A"/>
                </a:solidFill>
                <a:latin typeface="Helvetica"/>
              </a:rPr>
              <a:t>Live preview shows how the message will look with real patient data</a:t>
            </a:r>
          </a:p>
          <a:p>
            <a:pPr>
              <a:spcAft>
                <a:spcPts val="1000"/>
              </a:spcAft>
            </a:pPr>
            <a:r>
              <a:rPr sz="1300" b="1">
                <a:solidFill>
                  <a:srgbClr val="0D9488"/>
                </a:solidFill>
              </a:rPr>
              <a:t>● </a:t>
            </a:r>
            <a:r>
              <a:rPr sz="1300">
                <a:solidFill>
                  <a:srgbClr val="1A1A1A"/>
                </a:solidFill>
                <a:latin typeface="Helvetica"/>
              </a:rPr>
              <a:t>Tags like {patient_name}, {doctor_name}, {slot_label} auto-fill</a:t>
            </a:r>
          </a:p>
          <a:p>
            <a:pPr>
              <a:spcAft>
                <a:spcPts val="1000"/>
              </a:spcAft>
            </a:pPr>
            <a:r>
              <a:rPr sz="1300" b="1">
                <a:solidFill>
                  <a:srgbClr val="0D9488"/>
                </a:solidFill>
              </a:rPr>
              <a:t>● </a:t>
            </a:r>
            <a:r>
              <a:rPr sz="1300">
                <a:solidFill>
                  <a:srgbClr val="1A1A1A"/>
                </a:solidFill>
                <a:latin typeface="Helvetica"/>
              </a:rPr>
              <a:t>Add Bahasa Malaysia or Chinese version — change applies system-wide instantly</a:t>
            </a:r>
          </a:p>
          <a:p>
            <a:pPr>
              <a:spcAft>
                <a:spcPts val="1000"/>
              </a:spcAft>
            </a:pPr>
            <a:r>
              <a:rPr sz="1300" b="1">
                <a:solidFill>
                  <a:srgbClr val="0D9488"/>
                </a:solidFill>
              </a:rPr>
              <a:t>● </a:t>
            </a:r>
            <a:r>
              <a:rPr sz="1300">
                <a:solidFill>
                  <a:srgbClr val="1A1A1A"/>
                </a:solidFill>
                <a:latin typeface="Helvetica"/>
              </a:rPr>
              <a:t>Tone matches your clinic — formal, friendly, however you want</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Templates editor with side-by-side text + preview</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22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88952" cy="66934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698480" cy="457200"/>
          </a:xfrm>
          <a:prstGeom prst="rect">
            <a:avLst/>
          </a:prstGeom>
          <a:noFill/>
        </p:spPr>
        <p:txBody>
          <a:bodyPr wrap="square">
            <a:spAutoFit/>
          </a:bodyPr>
          <a:lstStyle/>
          <a:p>
            <a:pPr algn="ctr"/>
            <a:r>
              <a:rPr sz="1400" b="1" i="0">
                <a:solidFill>
                  <a:srgbClr val="CCFBF1"/>
                </a:solidFill>
                <a:latin typeface="Helvetica"/>
              </a:rPr>
              <a:t>THE EXTRAS</a:t>
            </a:r>
          </a:p>
        </p:txBody>
      </p:sp>
      <p:sp>
        <p:nvSpPr>
          <p:cNvPr id="5" name="TextBox 4"/>
          <p:cNvSpPr txBox="1"/>
          <p:nvPr/>
        </p:nvSpPr>
        <p:spPr>
          <a:xfrm>
            <a:off x="731520" y="2926080"/>
            <a:ext cx="10698480" cy="1097280"/>
          </a:xfrm>
          <a:prstGeom prst="rect">
            <a:avLst/>
          </a:prstGeom>
          <a:noFill/>
        </p:spPr>
        <p:txBody>
          <a:bodyPr wrap="square">
            <a:spAutoFit/>
          </a:bodyPr>
          <a:lstStyle/>
          <a:p>
            <a:pPr algn="ctr"/>
            <a:r>
              <a:rPr sz="4200" b="1" i="0">
                <a:solidFill>
                  <a:srgbClr val="FFFFFF"/>
                </a:solidFill>
                <a:latin typeface="Helvetica"/>
              </a:rPr>
              <a:t>Things that make it feel finished</a:t>
            </a:r>
          </a:p>
        </p:txBody>
      </p:sp>
      <p:sp>
        <p:nvSpPr>
          <p:cNvPr id="6" name="TextBox 5"/>
          <p:cNvSpPr txBox="1"/>
          <p:nvPr/>
        </p:nvSpPr>
        <p:spPr>
          <a:xfrm>
            <a:off x="731520" y="4114800"/>
            <a:ext cx="10698480" cy="548640"/>
          </a:xfrm>
          <a:prstGeom prst="rect">
            <a:avLst/>
          </a:prstGeom>
          <a:noFill/>
        </p:spPr>
        <p:txBody>
          <a:bodyPr wrap="square">
            <a:spAutoFit/>
          </a:bodyPr>
          <a:lstStyle/>
          <a:p>
            <a:pPr algn="ctr"/>
            <a:r>
              <a:rPr sz="1800" b="0" i="0">
                <a:solidFill>
                  <a:srgbClr val="CCFBF1"/>
                </a:solidFill>
                <a:latin typeface="Helvetica"/>
              </a:rPr>
              <a:t>Small touches your team will quietly appreciate.</a:t>
            </a:r>
          </a:p>
        </p:txBody>
      </p:sp>
      <p:sp>
        <p:nvSpPr>
          <p:cNvPr id="7" name="TextBox 6"/>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8" name="TextBox 7"/>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23 / 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011680"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1000" b="1">
                <a:solidFill>
                  <a:srgbClr val="FFFFFF"/>
                </a:solidFill>
                <a:latin typeface="Helvetica"/>
              </a:rPr>
              <a:t>BONUS</a:t>
            </a:r>
          </a:p>
        </p:txBody>
      </p:sp>
      <p:sp>
        <p:nvSpPr>
          <p:cNvPr id="4" name="TextBox 3"/>
          <p:cNvSpPr txBox="1"/>
          <p:nvPr/>
        </p:nvSpPr>
        <p:spPr>
          <a:xfrm>
            <a:off x="731520" y="960120"/>
            <a:ext cx="10698480" cy="640080"/>
          </a:xfrm>
          <a:prstGeom prst="rect">
            <a:avLst/>
          </a:prstGeom>
          <a:noFill/>
        </p:spPr>
        <p:txBody>
          <a:bodyPr wrap="square">
            <a:spAutoFit/>
          </a:bodyPr>
          <a:lstStyle/>
          <a:p>
            <a:pPr algn="l"/>
            <a:r>
              <a:rPr sz="2800" b="1" i="0">
                <a:solidFill>
                  <a:srgbClr val="1A1A1A"/>
                </a:solidFill>
                <a:latin typeface="Helvetica"/>
              </a:rPr>
              <a:t>Add to phone home screen — like a real app</a:t>
            </a:r>
          </a:p>
        </p:txBody>
      </p:sp>
      <p:sp>
        <p:nvSpPr>
          <p:cNvPr id="5" name="TextBox 4"/>
          <p:cNvSpPr txBox="1"/>
          <p:nvPr/>
        </p:nvSpPr>
        <p:spPr>
          <a:xfrm>
            <a:off x="731520" y="1600200"/>
            <a:ext cx="10698480" cy="457200"/>
          </a:xfrm>
          <a:prstGeom prst="rect">
            <a:avLst/>
          </a:prstGeom>
          <a:noFill/>
        </p:spPr>
        <p:txBody>
          <a:bodyPr wrap="square">
            <a:spAutoFit/>
          </a:bodyPr>
          <a:lstStyle/>
          <a:p>
            <a:pPr algn="l"/>
            <a:r>
              <a:rPr sz="1400" b="0" i="1">
                <a:solidFill>
                  <a:srgbClr val="78716C"/>
                </a:solidFill>
                <a:latin typeface="Helvetica"/>
              </a:rPr>
              <a:t>One tap to your clinic dashboard. No app store, no download, no waiting.</a:t>
            </a:r>
          </a:p>
        </p:txBody>
      </p:sp>
      <p:sp>
        <p:nvSpPr>
          <p:cNvPr id="6" name="TextBox 5"/>
          <p:cNvSpPr txBox="1"/>
          <p:nvPr/>
        </p:nvSpPr>
        <p:spPr>
          <a:xfrm>
            <a:off x="731520" y="2331720"/>
            <a:ext cx="5212080" cy="365760"/>
          </a:xfrm>
          <a:prstGeom prst="rect">
            <a:avLst/>
          </a:prstGeom>
          <a:noFill/>
        </p:spPr>
        <p:txBody>
          <a:bodyPr wrap="square">
            <a:spAutoFit/>
          </a:bodyPr>
          <a:lstStyle/>
          <a:p>
            <a:pPr algn="l"/>
            <a:r>
              <a:rPr sz="1200" b="1" i="0">
                <a:solidFill>
                  <a:srgbClr val="0F766E"/>
                </a:solidFill>
                <a:latin typeface="Helvetica"/>
              </a:rPr>
              <a:t>What it does for you</a:t>
            </a:r>
          </a:p>
        </p:txBody>
      </p:sp>
      <p:sp>
        <p:nvSpPr>
          <p:cNvPr id="7" name="TextBox 6"/>
          <p:cNvSpPr txBox="1"/>
          <p:nvPr/>
        </p:nvSpPr>
        <p:spPr>
          <a:xfrm>
            <a:off x="731520" y="2697480"/>
            <a:ext cx="5212080" cy="3200400"/>
          </a:xfrm>
          <a:prstGeom prst="rect">
            <a:avLst/>
          </a:prstGeom>
          <a:noFill/>
        </p:spPr>
        <p:txBody>
          <a:bodyPr wrap="square">
            <a:spAutoFit/>
          </a:bodyPr>
          <a:lstStyle/>
          <a:p>
            <a:pPr>
              <a:spcAft>
                <a:spcPts val="1000"/>
              </a:spcAft>
            </a:pPr>
            <a:r>
              <a:rPr sz="1300" b="1">
                <a:solidFill>
                  <a:srgbClr val="0D9488"/>
                </a:solidFill>
              </a:rPr>
              <a:t>● </a:t>
            </a:r>
            <a:r>
              <a:rPr sz="1300">
                <a:solidFill>
                  <a:srgbClr val="1A1A1A"/>
                </a:solidFill>
                <a:latin typeface="Helvetica"/>
              </a:rPr>
              <a:t>Open your dashboard on the phone browser, tap 'Add to Home Screen'</a:t>
            </a:r>
          </a:p>
          <a:p>
            <a:pPr>
              <a:spcAft>
                <a:spcPts val="1000"/>
              </a:spcAft>
            </a:pPr>
            <a:r>
              <a:rPr sz="1300" b="1">
                <a:solidFill>
                  <a:srgbClr val="0D9488"/>
                </a:solidFill>
              </a:rPr>
              <a:t>● </a:t>
            </a:r>
            <a:r>
              <a:rPr sz="1300">
                <a:solidFill>
                  <a:srgbClr val="1A1A1A"/>
                </a:solidFill>
                <a:latin typeface="Helvetica"/>
              </a:rPr>
              <a:t>Now there's a clinic icon on your home screen — looks like any other app</a:t>
            </a:r>
          </a:p>
          <a:p>
            <a:pPr>
              <a:spcAft>
                <a:spcPts val="1000"/>
              </a:spcAft>
            </a:pPr>
            <a:r>
              <a:rPr sz="1300" b="1">
                <a:solidFill>
                  <a:srgbClr val="0D9488"/>
                </a:solidFill>
              </a:rPr>
              <a:t>● </a:t>
            </a:r>
            <a:r>
              <a:rPr sz="1300">
                <a:solidFill>
                  <a:srgbClr val="1A1A1A"/>
                </a:solidFill>
                <a:latin typeface="Helvetica"/>
              </a:rPr>
              <a:t>One tap opens directly to today's bookings</a:t>
            </a:r>
          </a:p>
          <a:p>
            <a:pPr>
              <a:spcAft>
                <a:spcPts val="1000"/>
              </a:spcAft>
            </a:pPr>
            <a:r>
              <a:rPr sz="1300" b="1">
                <a:solidFill>
                  <a:srgbClr val="0D9488"/>
                </a:solidFill>
              </a:rPr>
              <a:t>● </a:t>
            </a:r>
            <a:r>
              <a:rPr sz="1300">
                <a:solidFill>
                  <a:srgbClr val="1A1A1A"/>
                </a:solidFill>
                <a:latin typeface="Helvetica"/>
              </a:rPr>
              <a:t>Works on iPhone and Android, same way</a:t>
            </a:r>
          </a:p>
          <a:p>
            <a:pPr>
              <a:spcAft>
                <a:spcPts val="1000"/>
              </a:spcAft>
            </a:pPr>
            <a:r>
              <a:rPr sz="1300" b="1">
                <a:solidFill>
                  <a:srgbClr val="0D9488"/>
                </a:solidFill>
              </a:rPr>
              <a:t>● </a:t>
            </a:r>
            <a:r>
              <a:rPr sz="1300">
                <a:solidFill>
                  <a:srgbClr val="1A1A1A"/>
                </a:solidFill>
                <a:latin typeface="Helvetica"/>
              </a:rPr>
              <a:t>No app store approval, no downloads, no updates to install</a:t>
            </a:r>
          </a:p>
        </p:txBody>
      </p:sp>
      <p:sp>
        <p:nvSpPr>
          <p:cNvPr id="8" name="TextBox 7"/>
          <p:cNvSpPr txBox="1"/>
          <p:nvPr/>
        </p:nvSpPr>
        <p:spPr>
          <a:xfrm>
            <a:off x="6263640" y="2331720"/>
            <a:ext cx="5212080" cy="365760"/>
          </a:xfrm>
          <a:prstGeom prst="rect">
            <a:avLst/>
          </a:prstGeom>
          <a:noFill/>
        </p:spPr>
        <p:txBody>
          <a:bodyPr wrap="square">
            <a:spAutoFit/>
          </a:bodyPr>
          <a:lstStyle/>
          <a:p>
            <a:pPr algn="l"/>
            <a:r>
              <a:rPr sz="1200" b="1" i="0">
                <a:solidFill>
                  <a:srgbClr val="0F766E"/>
                </a:solidFill>
                <a:latin typeface="Helvetica"/>
              </a:rPr>
              <a:t>What it looks like</a:t>
            </a:r>
          </a:p>
        </p:txBody>
      </p:sp>
      <p:sp>
        <p:nvSpPr>
          <p:cNvPr id="9" name="Rectangle 8"/>
          <p:cNvSpPr/>
          <p:nvPr/>
        </p:nvSpPr>
        <p:spPr>
          <a:xfrm>
            <a:off x="6263640" y="2697480"/>
            <a:ext cx="521208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iPhone home screen with the clinic app icon</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24 /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548640"/>
          </a:xfrm>
          <a:prstGeom prst="rect">
            <a:avLst/>
          </a:prstGeom>
          <a:noFill/>
        </p:spPr>
        <p:txBody>
          <a:bodyPr wrap="square">
            <a:spAutoFit/>
          </a:bodyPr>
          <a:lstStyle/>
          <a:p>
            <a:pPr algn="l"/>
            <a:r>
              <a:rPr sz="2800" b="1" i="0">
                <a:solidFill>
                  <a:srgbClr val="1A1A1A"/>
                </a:solidFill>
                <a:latin typeface="Helvetica"/>
              </a:rPr>
              <a:t>What it costs</a:t>
            </a:r>
          </a:p>
        </p:txBody>
      </p:sp>
      <p:sp>
        <p:nvSpPr>
          <p:cNvPr id="4" name="TextBox 3"/>
          <p:cNvSpPr txBox="1"/>
          <p:nvPr/>
        </p:nvSpPr>
        <p:spPr>
          <a:xfrm>
            <a:off x="731520" y="1097280"/>
            <a:ext cx="10698480" cy="457200"/>
          </a:xfrm>
          <a:prstGeom prst="rect">
            <a:avLst/>
          </a:prstGeom>
          <a:noFill/>
        </p:spPr>
        <p:txBody>
          <a:bodyPr wrap="square">
            <a:spAutoFit/>
          </a:bodyPr>
          <a:lstStyle/>
          <a:p>
            <a:pPr algn="l"/>
            <a:r>
              <a:rPr sz="1400" b="0" i="0">
                <a:solidFill>
                  <a:srgbClr val="78716C"/>
                </a:solidFill>
                <a:latin typeface="Helvetica"/>
              </a:rPr>
              <a:t>Below the market. Way below.</a:t>
            </a:r>
          </a:p>
        </p:txBody>
      </p:sp>
      <p:sp>
        <p:nvSpPr>
          <p:cNvPr id="5" name="Rectangle 4"/>
          <p:cNvSpPr/>
          <p:nvPr/>
        </p:nvSpPr>
        <p:spPr>
          <a:xfrm>
            <a:off x="731520" y="1920240"/>
            <a:ext cx="4114800" cy="4114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93392"/>
            <a:ext cx="4114800" cy="274320"/>
          </a:xfrm>
          <a:prstGeom prst="rect">
            <a:avLst/>
          </a:prstGeom>
          <a:noFill/>
        </p:spPr>
        <p:txBody>
          <a:bodyPr wrap="square">
            <a:spAutoFit/>
          </a:bodyPr>
          <a:lstStyle/>
          <a:p>
            <a:pPr algn="l"/>
            <a:r>
              <a:rPr sz="1200" b="1" i="0">
                <a:solidFill>
                  <a:srgbClr val="FFFFFF"/>
                </a:solidFill>
                <a:latin typeface="Helvetica"/>
              </a:rPr>
              <a:t>Option</a:t>
            </a:r>
          </a:p>
        </p:txBody>
      </p:sp>
      <p:sp>
        <p:nvSpPr>
          <p:cNvPr id="7" name="Rectangle 6"/>
          <p:cNvSpPr/>
          <p:nvPr/>
        </p:nvSpPr>
        <p:spPr>
          <a:xfrm>
            <a:off x="4846320" y="1920240"/>
            <a:ext cx="2286000" cy="4114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83480" y="1993392"/>
            <a:ext cx="2286000" cy="274320"/>
          </a:xfrm>
          <a:prstGeom prst="rect">
            <a:avLst/>
          </a:prstGeom>
          <a:noFill/>
        </p:spPr>
        <p:txBody>
          <a:bodyPr wrap="square">
            <a:spAutoFit/>
          </a:bodyPr>
          <a:lstStyle/>
          <a:p>
            <a:pPr algn="l"/>
            <a:r>
              <a:rPr sz="1200" b="1" i="0">
                <a:solidFill>
                  <a:srgbClr val="FFFFFF"/>
                </a:solidFill>
                <a:latin typeface="Helvetica"/>
              </a:rPr>
              <a:t>Price</a:t>
            </a:r>
          </a:p>
        </p:txBody>
      </p:sp>
      <p:sp>
        <p:nvSpPr>
          <p:cNvPr id="9" name="Rectangle 8"/>
          <p:cNvSpPr/>
          <p:nvPr/>
        </p:nvSpPr>
        <p:spPr>
          <a:xfrm>
            <a:off x="7132320" y="1920240"/>
            <a:ext cx="5029200" cy="4114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1993392"/>
            <a:ext cx="5029200" cy="274320"/>
          </a:xfrm>
          <a:prstGeom prst="rect">
            <a:avLst/>
          </a:prstGeom>
          <a:noFill/>
        </p:spPr>
        <p:txBody>
          <a:bodyPr wrap="square">
            <a:spAutoFit/>
          </a:bodyPr>
          <a:lstStyle/>
          <a:p>
            <a:pPr algn="l"/>
            <a:r>
              <a:rPr sz="1200" b="1" i="0">
                <a:solidFill>
                  <a:srgbClr val="FFFFFF"/>
                </a:solidFill>
                <a:latin typeface="Helvetica"/>
              </a:rPr>
              <a:t>Trade-off</a:t>
            </a:r>
          </a:p>
        </p:txBody>
      </p:sp>
      <p:sp>
        <p:nvSpPr>
          <p:cNvPr id="11" name="Rectangle 10"/>
          <p:cNvSpPr/>
          <p:nvPr/>
        </p:nvSpPr>
        <p:spPr>
          <a:xfrm>
            <a:off x="731520" y="2331720"/>
            <a:ext cx="4114800" cy="502920"/>
          </a:xfrm>
          <a:prstGeom prst="rect">
            <a:avLst/>
          </a:prstGeom>
          <a:solidFill>
            <a:srgbClr val="FFFFFF"/>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450592"/>
            <a:ext cx="4114800" cy="320040"/>
          </a:xfrm>
          <a:prstGeom prst="rect">
            <a:avLst/>
          </a:prstGeom>
          <a:noFill/>
        </p:spPr>
        <p:txBody>
          <a:bodyPr wrap="square">
            <a:spAutoFit/>
          </a:bodyPr>
          <a:lstStyle/>
          <a:p>
            <a:pPr algn="l"/>
            <a:r>
              <a:rPr sz="1200" b="0" i="0">
                <a:solidFill>
                  <a:srgbClr val="78716C"/>
                </a:solidFill>
                <a:latin typeface="Helvetica"/>
              </a:rPr>
              <a:t>Calendly (generic)</a:t>
            </a:r>
          </a:p>
        </p:txBody>
      </p:sp>
      <p:sp>
        <p:nvSpPr>
          <p:cNvPr id="13" name="Rectangle 12"/>
          <p:cNvSpPr/>
          <p:nvPr/>
        </p:nvSpPr>
        <p:spPr>
          <a:xfrm>
            <a:off x="4846320" y="2331720"/>
            <a:ext cx="2286000" cy="502920"/>
          </a:xfrm>
          <a:prstGeom prst="rect">
            <a:avLst/>
          </a:prstGeom>
          <a:solidFill>
            <a:srgbClr val="FFFFFF"/>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83480" y="2450592"/>
            <a:ext cx="2286000" cy="320040"/>
          </a:xfrm>
          <a:prstGeom prst="rect">
            <a:avLst/>
          </a:prstGeom>
          <a:noFill/>
        </p:spPr>
        <p:txBody>
          <a:bodyPr wrap="square">
            <a:spAutoFit/>
          </a:bodyPr>
          <a:lstStyle/>
          <a:p>
            <a:pPr algn="l"/>
            <a:r>
              <a:rPr sz="1200" b="0" i="0">
                <a:solidFill>
                  <a:srgbClr val="78716C"/>
                </a:solidFill>
                <a:latin typeface="Helvetica"/>
              </a:rPr>
              <a:t>RM 65 / mo</a:t>
            </a:r>
          </a:p>
        </p:txBody>
      </p:sp>
      <p:sp>
        <p:nvSpPr>
          <p:cNvPr id="15" name="Rectangle 14"/>
          <p:cNvSpPr/>
          <p:nvPr/>
        </p:nvSpPr>
        <p:spPr>
          <a:xfrm>
            <a:off x="7132320" y="2331720"/>
            <a:ext cx="5029200" cy="502920"/>
          </a:xfrm>
          <a:prstGeom prst="rect">
            <a:avLst/>
          </a:prstGeom>
          <a:solidFill>
            <a:srgbClr val="FFFFFF"/>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9480" y="2450592"/>
            <a:ext cx="5029200" cy="320040"/>
          </a:xfrm>
          <a:prstGeom prst="rect">
            <a:avLst/>
          </a:prstGeom>
          <a:noFill/>
        </p:spPr>
        <p:txBody>
          <a:bodyPr wrap="square">
            <a:spAutoFit/>
          </a:bodyPr>
          <a:lstStyle/>
          <a:p>
            <a:pPr algn="l"/>
            <a:r>
              <a:rPr sz="1200" b="0" i="0">
                <a:solidFill>
                  <a:srgbClr val="44403D"/>
                </a:solidFill>
                <a:latin typeface="Helvetica"/>
              </a:rPr>
              <a:t>No WhatsApp, no clinic features, no roles</a:t>
            </a:r>
          </a:p>
        </p:txBody>
      </p:sp>
      <p:sp>
        <p:nvSpPr>
          <p:cNvPr id="17" name="Rectangle 16"/>
          <p:cNvSpPr/>
          <p:nvPr/>
        </p:nvSpPr>
        <p:spPr>
          <a:xfrm>
            <a:off x="731520" y="2834640"/>
            <a:ext cx="4114800" cy="502920"/>
          </a:xfrm>
          <a:prstGeom prst="rect">
            <a:avLst/>
          </a:prstGeom>
          <a:solidFill>
            <a:srgbClr val="FFFFFF"/>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2953512"/>
            <a:ext cx="4114800" cy="320040"/>
          </a:xfrm>
          <a:prstGeom prst="rect">
            <a:avLst/>
          </a:prstGeom>
          <a:noFill/>
        </p:spPr>
        <p:txBody>
          <a:bodyPr wrap="square">
            <a:spAutoFit/>
          </a:bodyPr>
          <a:lstStyle/>
          <a:p>
            <a:pPr algn="l"/>
            <a:r>
              <a:rPr sz="1200" b="0" i="0">
                <a:solidFill>
                  <a:srgbClr val="78716C"/>
                </a:solidFill>
                <a:latin typeface="Helvetica"/>
              </a:rPr>
              <a:t>SimplyBook.me (closest rival)</a:t>
            </a:r>
          </a:p>
        </p:txBody>
      </p:sp>
      <p:sp>
        <p:nvSpPr>
          <p:cNvPr id="19" name="Rectangle 18"/>
          <p:cNvSpPr/>
          <p:nvPr/>
        </p:nvSpPr>
        <p:spPr>
          <a:xfrm>
            <a:off x="4846320" y="2834640"/>
            <a:ext cx="2286000" cy="502920"/>
          </a:xfrm>
          <a:prstGeom prst="rect">
            <a:avLst/>
          </a:prstGeom>
          <a:solidFill>
            <a:srgbClr val="FFFFFF"/>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3480" y="2953512"/>
            <a:ext cx="2286000" cy="320040"/>
          </a:xfrm>
          <a:prstGeom prst="rect">
            <a:avLst/>
          </a:prstGeom>
          <a:noFill/>
        </p:spPr>
        <p:txBody>
          <a:bodyPr wrap="square">
            <a:spAutoFit/>
          </a:bodyPr>
          <a:lstStyle/>
          <a:p>
            <a:pPr algn="l"/>
            <a:r>
              <a:rPr sz="1200" b="0" i="0">
                <a:solidFill>
                  <a:srgbClr val="78716C"/>
                </a:solidFill>
                <a:latin typeface="Helvetica"/>
              </a:rPr>
              <a:t>RM 55 / mo</a:t>
            </a:r>
          </a:p>
        </p:txBody>
      </p:sp>
      <p:sp>
        <p:nvSpPr>
          <p:cNvPr id="21" name="Rectangle 20"/>
          <p:cNvSpPr/>
          <p:nvPr/>
        </p:nvSpPr>
        <p:spPr>
          <a:xfrm>
            <a:off x="7132320" y="2834640"/>
            <a:ext cx="5029200" cy="502920"/>
          </a:xfrm>
          <a:prstGeom prst="rect">
            <a:avLst/>
          </a:prstGeom>
          <a:solidFill>
            <a:srgbClr val="FFFFFF"/>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69480" y="2953512"/>
            <a:ext cx="5029200" cy="320040"/>
          </a:xfrm>
          <a:prstGeom prst="rect">
            <a:avLst/>
          </a:prstGeom>
          <a:noFill/>
        </p:spPr>
        <p:txBody>
          <a:bodyPr wrap="square">
            <a:spAutoFit/>
          </a:bodyPr>
          <a:lstStyle/>
          <a:p>
            <a:pPr algn="l"/>
            <a:r>
              <a:rPr sz="1200" b="0" i="0">
                <a:solidFill>
                  <a:srgbClr val="44403D"/>
                </a:solidFill>
                <a:latin typeface="Helvetica"/>
              </a:rPr>
              <a:t>Generic global tool, not clinic-shaped</a:t>
            </a:r>
          </a:p>
        </p:txBody>
      </p:sp>
      <p:sp>
        <p:nvSpPr>
          <p:cNvPr id="23" name="Rectangle 22"/>
          <p:cNvSpPr/>
          <p:nvPr/>
        </p:nvSpPr>
        <p:spPr>
          <a:xfrm>
            <a:off x="731520" y="3337560"/>
            <a:ext cx="4114800" cy="502920"/>
          </a:xfrm>
          <a:prstGeom prst="rect">
            <a:avLst/>
          </a:prstGeom>
          <a:solidFill>
            <a:srgbClr val="FFFFFF"/>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456432"/>
            <a:ext cx="4114800" cy="320040"/>
          </a:xfrm>
          <a:prstGeom prst="rect">
            <a:avLst/>
          </a:prstGeom>
          <a:noFill/>
        </p:spPr>
        <p:txBody>
          <a:bodyPr wrap="square">
            <a:spAutoFit/>
          </a:bodyPr>
          <a:lstStyle/>
          <a:p>
            <a:pPr algn="l"/>
            <a:r>
              <a:rPr sz="1200" b="0" i="0">
                <a:solidFill>
                  <a:srgbClr val="78716C"/>
                </a:solidFill>
                <a:latin typeface="Helvetica"/>
              </a:rPr>
              <a:t>Aoikumo (Malaysian, full-suite)</a:t>
            </a:r>
          </a:p>
        </p:txBody>
      </p:sp>
      <p:sp>
        <p:nvSpPr>
          <p:cNvPr id="25" name="Rectangle 24"/>
          <p:cNvSpPr/>
          <p:nvPr/>
        </p:nvSpPr>
        <p:spPr>
          <a:xfrm>
            <a:off x="4846320" y="3337560"/>
            <a:ext cx="2286000" cy="502920"/>
          </a:xfrm>
          <a:prstGeom prst="rect">
            <a:avLst/>
          </a:prstGeom>
          <a:solidFill>
            <a:srgbClr val="FFFFFF"/>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83480" y="3456432"/>
            <a:ext cx="2286000" cy="320040"/>
          </a:xfrm>
          <a:prstGeom prst="rect">
            <a:avLst/>
          </a:prstGeom>
          <a:noFill/>
        </p:spPr>
        <p:txBody>
          <a:bodyPr wrap="square">
            <a:spAutoFit/>
          </a:bodyPr>
          <a:lstStyle/>
          <a:p>
            <a:pPr algn="l"/>
            <a:r>
              <a:rPr sz="1200" b="0" i="0">
                <a:solidFill>
                  <a:srgbClr val="78716C"/>
                </a:solidFill>
                <a:latin typeface="Helvetica"/>
              </a:rPr>
              <a:t>RM 223–557 / mo</a:t>
            </a:r>
          </a:p>
        </p:txBody>
      </p:sp>
      <p:sp>
        <p:nvSpPr>
          <p:cNvPr id="27" name="Rectangle 26"/>
          <p:cNvSpPr/>
          <p:nvPr/>
        </p:nvSpPr>
        <p:spPr>
          <a:xfrm>
            <a:off x="7132320" y="3337560"/>
            <a:ext cx="5029200" cy="502920"/>
          </a:xfrm>
          <a:prstGeom prst="rect">
            <a:avLst/>
          </a:prstGeom>
          <a:solidFill>
            <a:srgbClr val="FFFFFF"/>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3456432"/>
            <a:ext cx="5029200" cy="320040"/>
          </a:xfrm>
          <a:prstGeom prst="rect">
            <a:avLst/>
          </a:prstGeom>
          <a:noFill/>
        </p:spPr>
        <p:txBody>
          <a:bodyPr wrap="square">
            <a:spAutoFit/>
          </a:bodyPr>
          <a:lstStyle/>
          <a:p>
            <a:pPr algn="l"/>
            <a:r>
              <a:rPr sz="1200" b="0" i="0">
                <a:solidFill>
                  <a:srgbClr val="44403D"/>
                </a:solidFill>
                <a:latin typeface="Helvetica"/>
              </a:rPr>
              <a:t>Forces full migration, includes EMR/billing</a:t>
            </a:r>
          </a:p>
        </p:txBody>
      </p:sp>
      <p:sp>
        <p:nvSpPr>
          <p:cNvPr id="29" name="Rectangle 28"/>
          <p:cNvSpPr/>
          <p:nvPr/>
        </p:nvSpPr>
        <p:spPr>
          <a:xfrm>
            <a:off x="731520" y="3840480"/>
            <a:ext cx="4114800" cy="502920"/>
          </a:xfrm>
          <a:prstGeom prst="rect">
            <a:avLst/>
          </a:prstGeom>
          <a:solidFill>
            <a:srgbClr val="CCFBF1"/>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3959352"/>
            <a:ext cx="4114800" cy="320040"/>
          </a:xfrm>
          <a:prstGeom prst="rect">
            <a:avLst/>
          </a:prstGeom>
          <a:noFill/>
        </p:spPr>
        <p:txBody>
          <a:bodyPr wrap="square">
            <a:spAutoFit/>
          </a:bodyPr>
          <a:lstStyle/>
          <a:p>
            <a:pPr algn="l"/>
            <a:r>
              <a:rPr sz="1200" b="1" i="0">
                <a:solidFill>
                  <a:srgbClr val="0F766E"/>
                </a:solidFill>
                <a:latin typeface="Helvetica"/>
              </a:rPr>
              <a:t>Our system, retail</a:t>
            </a:r>
          </a:p>
        </p:txBody>
      </p:sp>
      <p:sp>
        <p:nvSpPr>
          <p:cNvPr id="31" name="Rectangle 30"/>
          <p:cNvSpPr/>
          <p:nvPr/>
        </p:nvSpPr>
        <p:spPr>
          <a:xfrm>
            <a:off x="4846320" y="3840480"/>
            <a:ext cx="2286000" cy="502920"/>
          </a:xfrm>
          <a:prstGeom prst="rect">
            <a:avLst/>
          </a:prstGeom>
          <a:solidFill>
            <a:srgbClr val="CCFBF1"/>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83480" y="3959352"/>
            <a:ext cx="2286000" cy="320040"/>
          </a:xfrm>
          <a:prstGeom prst="rect">
            <a:avLst/>
          </a:prstGeom>
          <a:noFill/>
        </p:spPr>
        <p:txBody>
          <a:bodyPr wrap="square">
            <a:spAutoFit/>
          </a:bodyPr>
          <a:lstStyle/>
          <a:p>
            <a:pPr algn="l"/>
            <a:r>
              <a:rPr sz="1200" b="1" i="0">
                <a:solidFill>
                  <a:srgbClr val="0F766E"/>
                </a:solidFill>
                <a:latin typeface="Helvetica"/>
              </a:rPr>
              <a:t>RM 150 / mo</a:t>
            </a:r>
          </a:p>
        </p:txBody>
      </p:sp>
      <p:sp>
        <p:nvSpPr>
          <p:cNvPr id="33" name="Rectangle 32"/>
          <p:cNvSpPr/>
          <p:nvPr/>
        </p:nvSpPr>
        <p:spPr>
          <a:xfrm>
            <a:off x="7132320" y="3840480"/>
            <a:ext cx="5029200" cy="502920"/>
          </a:xfrm>
          <a:prstGeom prst="rect">
            <a:avLst/>
          </a:prstGeom>
          <a:solidFill>
            <a:srgbClr val="CCFBF1"/>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69480" y="3959352"/>
            <a:ext cx="5029200" cy="320040"/>
          </a:xfrm>
          <a:prstGeom prst="rect">
            <a:avLst/>
          </a:prstGeom>
          <a:noFill/>
        </p:spPr>
        <p:txBody>
          <a:bodyPr wrap="square">
            <a:spAutoFit/>
          </a:bodyPr>
          <a:lstStyle/>
          <a:p>
            <a:pPr algn="l"/>
            <a:r>
              <a:rPr sz="1200" b="0" i="0">
                <a:solidFill>
                  <a:srgbClr val="44403D"/>
                </a:solidFill>
                <a:latin typeface="Helvetica"/>
              </a:rPr>
              <a:t>Branded as your clinic, built for Malaysian dental</a:t>
            </a:r>
          </a:p>
        </p:txBody>
      </p:sp>
      <p:sp>
        <p:nvSpPr>
          <p:cNvPr id="35" name="Rectangle 34"/>
          <p:cNvSpPr/>
          <p:nvPr/>
        </p:nvSpPr>
        <p:spPr>
          <a:xfrm>
            <a:off x="731520" y="4343400"/>
            <a:ext cx="4114800" cy="502920"/>
          </a:xfrm>
          <a:prstGeom prst="rect">
            <a:avLst/>
          </a:prstGeom>
          <a:solidFill>
            <a:srgbClr val="CCFBF1"/>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4462272"/>
            <a:ext cx="4114800" cy="320040"/>
          </a:xfrm>
          <a:prstGeom prst="rect">
            <a:avLst/>
          </a:prstGeom>
          <a:noFill/>
        </p:spPr>
        <p:txBody>
          <a:bodyPr wrap="square">
            <a:spAutoFit/>
          </a:bodyPr>
          <a:lstStyle/>
          <a:p>
            <a:pPr algn="l"/>
            <a:r>
              <a:rPr sz="1200" b="1" i="0">
                <a:solidFill>
                  <a:srgbClr val="0D9488"/>
                </a:solidFill>
                <a:latin typeface="Helvetica"/>
              </a:rPr>
              <a:t>Our system, friend rate</a:t>
            </a:r>
          </a:p>
        </p:txBody>
      </p:sp>
      <p:sp>
        <p:nvSpPr>
          <p:cNvPr id="37" name="Rectangle 36"/>
          <p:cNvSpPr/>
          <p:nvPr/>
        </p:nvSpPr>
        <p:spPr>
          <a:xfrm>
            <a:off x="4846320" y="4343400"/>
            <a:ext cx="2286000" cy="502920"/>
          </a:xfrm>
          <a:prstGeom prst="rect">
            <a:avLst/>
          </a:prstGeom>
          <a:solidFill>
            <a:srgbClr val="CCFBF1"/>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83480" y="4462272"/>
            <a:ext cx="2286000" cy="320040"/>
          </a:xfrm>
          <a:prstGeom prst="rect">
            <a:avLst/>
          </a:prstGeom>
          <a:noFill/>
        </p:spPr>
        <p:txBody>
          <a:bodyPr wrap="square">
            <a:spAutoFit/>
          </a:bodyPr>
          <a:lstStyle/>
          <a:p>
            <a:pPr algn="l"/>
            <a:r>
              <a:rPr sz="1200" b="1" i="0">
                <a:solidFill>
                  <a:srgbClr val="0D9488"/>
                </a:solidFill>
                <a:latin typeface="Helvetica"/>
              </a:rPr>
              <a:t>RM 80 / mo</a:t>
            </a:r>
          </a:p>
        </p:txBody>
      </p:sp>
      <p:sp>
        <p:nvSpPr>
          <p:cNvPr id="39" name="Rectangle 38"/>
          <p:cNvSpPr/>
          <p:nvPr/>
        </p:nvSpPr>
        <p:spPr>
          <a:xfrm>
            <a:off x="7132320" y="4343400"/>
            <a:ext cx="5029200" cy="502920"/>
          </a:xfrm>
          <a:prstGeom prst="rect">
            <a:avLst/>
          </a:prstGeom>
          <a:solidFill>
            <a:srgbClr val="CCFBF1"/>
          </a:solidFill>
          <a:ln w="317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69480" y="4462272"/>
            <a:ext cx="5029200" cy="320040"/>
          </a:xfrm>
          <a:prstGeom prst="rect">
            <a:avLst/>
          </a:prstGeom>
          <a:noFill/>
        </p:spPr>
        <p:txBody>
          <a:bodyPr wrap="square">
            <a:spAutoFit/>
          </a:bodyPr>
          <a:lstStyle/>
          <a:p>
            <a:pPr algn="l"/>
            <a:r>
              <a:rPr sz="1200" b="0" i="0">
                <a:solidFill>
                  <a:srgbClr val="44403D"/>
                </a:solidFill>
                <a:latin typeface="Helvetica"/>
              </a:rPr>
              <a:t>Same product, smaller bill, first 3 months free</a:t>
            </a:r>
          </a:p>
        </p:txBody>
      </p:sp>
      <p:sp>
        <p:nvSpPr>
          <p:cNvPr id="41" name="Rounded Rectangle 40"/>
          <p:cNvSpPr/>
          <p:nvPr/>
        </p:nvSpPr>
        <p:spPr>
          <a:xfrm>
            <a:off x="731520" y="5120640"/>
            <a:ext cx="11430000" cy="9144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257800"/>
            <a:ext cx="10058400" cy="365760"/>
          </a:xfrm>
          <a:prstGeom prst="rect">
            <a:avLst/>
          </a:prstGeom>
          <a:noFill/>
        </p:spPr>
        <p:txBody>
          <a:bodyPr wrap="square">
            <a:spAutoFit/>
          </a:bodyPr>
          <a:lstStyle/>
          <a:p>
            <a:pPr algn="l"/>
            <a:r>
              <a:rPr sz="1500" b="1" i="0">
                <a:solidFill>
                  <a:srgbClr val="0F766E"/>
                </a:solidFill>
                <a:latin typeface="Helvetica"/>
              </a:rPr>
              <a:t>One-time setup: RM 1,000</a:t>
            </a:r>
          </a:p>
        </p:txBody>
      </p:sp>
      <p:sp>
        <p:nvSpPr>
          <p:cNvPr id="43" name="TextBox 42"/>
          <p:cNvSpPr txBox="1"/>
          <p:nvPr/>
        </p:nvSpPr>
        <p:spPr>
          <a:xfrm>
            <a:off x="914400" y="5623560"/>
            <a:ext cx="10058400" cy="365760"/>
          </a:xfrm>
          <a:prstGeom prst="rect">
            <a:avLst/>
          </a:prstGeom>
          <a:noFill/>
        </p:spPr>
        <p:txBody>
          <a:bodyPr wrap="square">
            <a:spAutoFit/>
          </a:bodyPr>
          <a:lstStyle/>
          <a:p>
            <a:pPr algn="l"/>
            <a:r>
              <a:rPr sz="1100" b="0" i="0">
                <a:solidFill>
                  <a:srgbClr val="44403D"/>
                </a:solidFill>
                <a:latin typeface="Helvetica"/>
              </a:rPr>
              <a:t>Includes onboarding your staff, importing existing patients, customising templates, and training. Free fixes for the first 60 days — money-back guarantee if it doesn't help.</a:t>
            </a:r>
          </a:p>
        </p:txBody>
      </p:sp>
      <p:sp>
        <p:nvSpPr>
          <p:cNvPr id="44" name="TextBox 43"/>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45" name="TextBox 44"/>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25 / 22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548640"/>
          </a:xfrm>
          <a:prstGeom prst="rect">
            <a:avLst/>
          </a:prstGeom>
          <a:noFill/>
        </p:spPr>
        <p:txBody>
          <a:bodyPr wrap="square">
            <a:spAutoFit/>
          </a:bodyPr>
          <a:lstStyle/>
          <a:p>
            <a:pPr algn="l"/>
            <a:r>
              <a:rPr sz="2800" b="1" i="0">
                <a:solidFill>
                  <a:srgbClr val="1A1A1A"/>
                </a:solidFill>
                <a:latin typeface="Helvetica"/>
              </a:rPr>
              <a:t>What if it doesn't work for you?</a:t>
            </a:r>
          </a:p>
        </p:txBody>
      </p:sp>
      <p:sp>
        <p:nvSpPr>
          <p:cNvPr id="4" name="TextBox 3"/>
          <p:cNvSpPr txBox="1"/>
          <p:nvPr/>
        </p:nvSpPr>
        <p:spPr>
          <a:xfrm>
            <a:off x="731520" y="1097280"/>
            <a:ext cx="10698480" cy="457200"/>
          </a:xfrm>
          <a:prstGeom prst="rect">
            <a:avLst/>
          </a:prstGeom>
          <a:noFill/>
        </p:spPr>
        <p:txBody>
          <a:bodyPr wrap="square">
            <a:spAutoFit/>
          </a:bodyPr>
          <a:lstStyle/>
          <a:p>
            <a:pPr algn="l"/>
            <a:r>
              <a:rPr sz="1400" b="0" i="0">
                <a:solidFill>
                  <a:srgbClr val="78716C"/>
                </a:solidFill>
                <a:latin typeface="Helvetica"/>
              </a:rPr>
              <a:t>No commitments. No vendor lock-in. Walk away anytime.</a:t>
            </a:r>
          </a:p>
        </p:txBody>
      </p:sp>
      <p:sp>
        <p:nvSpPr>
          <p:cNvPr id="5" name="Rounded Rectangle 4"/>
          <p:cNvSpPr/>
          <p:nvPr/>
        </p:nvSpPr>
        <p:spPr>
          <a:xfrm>
            <a:off x="493776" y="2194560"/>
            <a:ext cx="2697480" cy="29260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6756" y="2468880"/>
            <a:ext cx="731520" cy="731520"/>
          </a:xfrm>
          <a:prstGeom prst="ellipse">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 y="2606040"/>
            <a:ext cx="2697480" cy="457200"/>
          </a:xfrm>
          <a:prstGeom prst="rect">
            <a:avLst/>
          </a:prstGeom>
          <a:noFill/>
        </p:spPr>
        <p:txBody>
          <a:bodyPr wrap="square">
            <a:spAutoFit/>
          </a:bodyPr>
          <a:lstStyle/>
          <a:p>
            <a:pPr algn="ctr"/>
            <a:r>
              <a:rPr sz="2800" b="1" i="0">
                <a:solidFill>
                  <a:srgbClr val="059669"/>
                </a:solidFill>
                <a:latin typeface="Helvetica"/>
              </a:rPr>
              <a:t>✓</a:t>
            </a:r>
          </a:p>
        </p:txBody>
      </p:sp>
      <p:sp>
        <p:nvSpPr>
          <p:cNvPr id="8" name="TextBox 7"/>
          <p:cNvSpPr txBox="1"/>
          <p:nvPr/>
        </p:nvSpPr>
        <p:spPr>
          <a:xfrm>
            <a:off x="676656" y="3474720"/>
            <a:ext cx="2331720" cy="457200"/>
          </a:xfrm>
          <a:prstGeom prst="rect">
            <a:avLst/>
          </a:prstGeom>
          <a:noFill/>
        </p:spPr>
        <p:txBody>
          <a:bodyPr wrap="square">
            <a:spAutoFit/>
          </a:bodyPr>
          <a:lstStyle/>
          <a:p>
            <a:pPr algn="ctr"/>
            <a:r>
              <a:rPr sz="1400" b="1" i="0">
                <a:solidFill>
                  <a:srgbClr val="0F766E"/>
                </a:solidFill>
                <a:latin typeface="Helvetica"/>
              </a:rPr>
              <a:t>60-day money-back</a:t>
            </a:r>
          </a:p>
        </p:txBody>
      </p:sp>
      <p:sp>
        <p:nvSpPr>
          <p:cNvPr id="9" name="TextBox 8"/>
          <p:cNvSpPr txBox="1"/>
          <p:nvPr/>
        </p:nvSpPr>
        <p:spPr>
          <a:xfrm>
            <a:off x="676656" y="4023360"/>
            <a:ext cx="2331720" cy="1005840"/>
          </a:xfrm>
          <a:prstGeom prst="rect">
            <a:avLst/>
          </a:prstGeom>
          <a:noFill/>
        </p:spPr>
        <p:txBody>
          <a:bodyPr wrap="square">
            <a:spAutoFit/>
          </a:bodyPr>
          <a:lstStyle/>
          <a:p>
            <a:pPr algn="ctr"/>
            <a:r>
              <a:rPr sz="1100" b="0" i="0">
                <a:solidFill>
                  <a:srgbClr val="44403D"/>
                </a:solidFill>
                <a:latin typeface="Helvetica"/>
              </a:rPr>
              <a:t>Setup fee is fully refunded if you decide it doesn't help in the first 60 days. No questions asked.</a:t>
            </a:r>
          </a:p>
        </p:txBody>
      </p:sp>
      <p:sp>
        <p:nvSpPr>
          <p:cNvPr id="10" name="Rounded Rectangle 9"/>
          <p:cNvSpPr/>
          <p:nvPr/>
        </p:nvSpPr>
        <p:spPr>
          <a:xfrm>
            <a:off x="3328416" y="2194560"/>
            <a:ext cx="2697480" cy="29260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311396" y="2468880"/>
            <a:ext cx="731520" cy="731520"/>
          </a:xfrm>
          <a:prstGeom prst="ellipse">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28416" y="2606040"/>
            <a:ext cx="2697480" cy="457200"/>
          </a:xfrm>
          <a:prstGeom prst="rect">
            <a:avLst/>
          </a:prstGeom>
          <a:noFill/>
        </p:spPr>
        <p:txBody>
          <a:bodyPr wrap="square">
            <a:spAutoFit/>
          </a:bodyPr>
          <a:lstStyle/>
          <a:p>
            <a:pPr algn="ctr"/>
            <a:r>
              <a:rPr sz="2800" b="1" i="0">
                <a:solidFill>
                  <a:srgbClr val="059669"/>
                </a:solidFill>
                <a:latin typeface="Helvetica"/>
              </a:rPr>
              <a:t>✓</a:t>
            </a:r>
          </a:p>
        </p:txBody>
      </p:sp>
      <p:sp>
        <p:nvSpPr>
          <p:cNvPr id="13" name="TextBox 12"/>
          <p:cNvSpPr txBox="1"/>
          <p:nvPr/>
        </p:nvSpPr>
        <p:spPr>
          <a:xfrm>
            <a:off x="3511296" y="3474720"/>
            <a:ext cx="2331720" cy="457200"/>
          </a:xfrm>
          <a:prstGeom prst="rect">
            <a:avLst/>
          </a:prstGeom>
          <a:noFill/>
        </p:spPr>
        <p:txBody>
          <a:bodyPr wrap="square">
            <a:spAutoFit/>
          </a:bodyPr>
          <a:lstStyle/>
          <a:p>
            <a:pPr algn="ctr"/>
            <a:r>
              <a:rPr sz="1400" b="1" i="0">
                <a:solidFill>
                  <a:srgbClr val="0F766E"/>
                </a:solidFill>
                <a:latin typeface="Helvetica"/>
              </a:rPr>
              <a:t>Cancel anytime</a:t>
            </a:r>
          </a:p>
        </p:txBody>
      </p:sp>
      <p:sp>
        <p:nvSpPr>
          <p:cNvPr id="14" name="TextBox 13"/>
          <p:cNvSpPr txBox="1"/>
          <p:nvPr/>
        </p:nvSpPr>
        <p:spPr>
          <a:xfrm>
            <a:off x="3511296" y="4023360"/>
            <a:ext cx="2331720" cy="1005840"/>
          </a:xfrm>
          <a:prstGeom prst="rect">
            <a:avLst/>
          </a:prstGeom>
          <a:noFill/>
        </p:spPr>
        <p:txBody>
          <a:bodyPr wrap="square">
            <a:spAutoFit/>
          </a:bodyPr>
          <a:lstStyle/>
          <a:p>
            <a:pPr algn="ctr"/>
            <a:r>
              <a:rPr sz="1100" b="0" i="0">
                <a:solidFill>
                  <a:srgbClr val="44403D"/>
                </a:solidFill>
                <a:latin typeface="Helvetica"/>
              </a:rPr>
              <a:t>Monthly billing. Stop the month you want. No contracts, no termination fees.</a:t>
            </a:r>
          </a:p>
        </p:txBody>
      </p:sp>
      <p:sp>
        <p:nvSpPr>
          <p:cNvPr id="15" name="Rounded Rectangle 14"/>
          <p:cNvSpPr/>
          <p:nvPr/>
        </p:nvSpPr>
        <p:spPr>
          <a:xfrm>
            <a:off x="6163056" y="2194560"/>
            <a:ext cx="2697480" cy="29260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46036" y="2468880"/>
            <a:ext cx="731520" cy="731520"/>
          </a:xfrm>
          <a:prstGeom prst="ellipse">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3056" y="2606040"/>
            <a:ext cx="2697480" cy="457200"/>
          </a:xfrm>
          <a:prstGeom prst="rect">
            <a:avLst/>
          </a:prstGeom>
          <a:noFill/>
        </p:spPr>
        <p:txBody>
          <a:bodyPr wrap="square">
            <a:spAutoFit/>
          </a:bodyPr>
          <a:lstStyle/>
          <a:p>
            <a:pPr algn="ctr"/>
            <a:r>
              <a:rPr sz="2800" b="1" i="0">
                <a:solidFill>
                  <a:srgbClr val="059669"/>
                </a:solidFill>
                <a:latin typeface="Helvetica"/>
              </a:rPr>
              <a:t>✓</a:t>
            </a:r>
          </a:p>
        </p:txBody>
      </p:sp>
      <p:sp>
        <p:nvSpPr>
          <p:cNvPr id="18" name="TextBox 17"/>
          <p:cNvSpPr txBox="1"/>
          <p:nvPr/>
        </p:nvSpPr>
        <p:spPr>
          <a:xfrm>
            <a:off x="6345936" y="3474720"/>
            <a:ext cx="2331720" cy="457200"/>
          </a:xfrm>
          <a:prstGeom prst="rect">
            <a:avLst/>
          </a:prstGeom>
          <a:noFill/>
        </p:spPr>
        <p:txBody>
          <a:bodyPr wrap="square">
            <a:spAutoFit/>
          </a:bodyPr>
          <a:lstStyle/>
          <a:p>
            <a:pPr algn="ctr"/>
            <a:r>
              <a:rPr sz="1400" b="1" i="0">
                <a:solidFill>
                  <a:srgbClr val="0F766E"/>
                </a:solidFill>
                <a:latin typeface="Helvetica"/>
              </a:rPr>
              <a:t>Your data is yours</a:t>
            </a:r>
          </a:p>
        </p:txBody>
      </p:sp>
      <p:sp>
        <p:nvSpPr>
          <p:cNvPr id="19" name="TextBox 18"/>
          <p:cNvSpPr txBox="1"/>
          <p:nvPr/>
        </p:nvSpPr>
        <p:spPr>
          <a:xfrm>
            <a:off x="6345936" y="4023360"/>
            <a:ext cx="2331720" cy="1005840"/>
          </a:xfrm>
          <a:prstGeom prst="rect">
            <a:avLst/>
          </a:prstGeom>
          <a:noFill/>
        </p:spPr>
        <p:txBody>
          <a:bodyPr wrap="square">
            <a:spAutoFit/>
          </a:bodyPr>
          <a:lstStyle/>
          <a:p>
            <a:pPr algn="ctr"/>
            <a:r>
              <a:rPr sz="1100" b="0" i="0">
                <a:solidFill>
                  <a:srgbClr val="44403D"/>
                </a:solidFill>
                <a:latin typeface="Helvetica"/>
              </a:rPr>
              <a:t>We export your patient list and bookings as CSV any time you ask. Take it elsewhere — or print it. It's yours.</a:t>
            </a:r>
          </a:p>
        </p:txBody>
      </p:sp>
      <p:sp>
        <p:nvSpPr>
          <p:cNvPr id="20" name="Rounded Rectangle 19"/>
          <p:cNvSpPr/>
          <p:nvPr/>
        </p:nvSpPr>
        <p:spPr>
          <a:xfrm>
            <a:off x="8997696" y="2194560"/>
            <a:ext cx="2697480" cy="29260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80676" y="2468880"/>
            <a:ext cx="731520" cy="731520"/>
          </a:xfrm>
          <a:prstGeom prst="ellipse">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97696" y="2606040"/>
            <a:ext cx="2697480" cy="457200"/>
          </a:xfrm>
          <a:prstGeom prst="rect">
            <a:avLst/>
          </a:prstGeom>
          <a:noFill/>
        </p:spPr>
        <p:txBody>
          <a:bodyPr wrap="square">
            <a:spAutoFit/>
          </a:bodyPr>
          <a:lstStyle/>
          <a:p>
            <a:pPr algn="ctr"/>
            <a:r>
              <a:rPr sz="2800" b="1" i="0">
                <a:solidFill>
                  <a:srgbClr val="059669"/>
                </a:solidFill>
                <a:latin typeface="Helvetica"/>
              </a:rPr>
              <a:t>✓</a:t>
            </a:r>
          </a:p>
        </p:txBody>
      </p:sp>
      <p:sp>
        <p:nvSpPr>
          <p:cNvPr id="23" name="TextBox 22"/>
          <p:cNvSpPr txBox="1"/>
          <p:nvPr/>
        </p:nvSpPr>
        <p:spPr>
          <a:xfrm>
            <a:off x="9180576" y="3474720"/>
            <a:ext cx="2331720" cy="457200"/>
          </a:xfrm>
          <a:prstGeom prst="rect">
            <a:avLst/>
          </a:prstGeom>
          <a:noFill/>
        </p:spPr>
        <p:txBody>
          <a:bodyPr wrap="square">
            <a:spAutoFit/>
          </a:bodyPr>
          <a:lstStyle/>
          <a:p>
            <a:pPr algn="ctr"/>
            <a:r>
              <a:rPr sz="1400" b="1" i="0">
                <a:solidFill>
                  <a:srgbClr val="0F766E"/>
                </a:solidFill>
                <a:latin typeface="Helvetica"/>
              </a:rPr>
              <a:t>It works alongside what you have</a:t>
            </a:r>
          </a:p>
        </p:txBody>
      </p:sp>
      <p:sp>
        <p:nvSpPr>
          <p:cNvPr id="24" name="TextBox 23"/>
          <p:cNvSpPr txBox="1"/>
          <p:nvPr/>
        </p:nvSpPr>
        <p:spPr>
          <a:xfrm>
            <a:off x="9180576" y="4023360"/>
            <a:ext cx="2331720" cy="1005840"/>
          </a:xfrm>
          <a:prstGeom prst="rect">
            <a:avLst/>
          </a:prstGeom>
          <a:noFill/>
        </p:spPr>
        <p:txBody>
          <a:bodyPr wrap="square">
            <a:spAutoFit/>
          </a:bodyPr>
          <a:lstStyle/>
          <a:p>
            <a:pPr algn="ctr"/>
            <a:r>
              <a:rPr sz="1100" b="0" i="0">
                <a:solidFill>
                  <a:srgbClr val="44403D"/>
                </a:solidFill>
                <a:latin typeface="Helvetica"/>
              </a:rPr>
              <a:t>Doesn't replace your EMR or accounting. Use it for bookings only. Keep everything else.</a:t>
            </a:r>
          </a:p>
        </p:txBody>
      </p:sp>
      <p:sp>
        <p:nvSpPr>
          <p:cNvPr id="25" name="TextBox 24"/>
          <p:cNvSpPr txBox="1"/>
          <p:nvPr/>
        </p:nvSpPr>
        <p:spPr>
          <a:xfrm>
            <a:off x="731520" y="5486400"/>
            <a:ext cx="10698480" cy="548640"/>
          </a:xfrm>
          <a:prstGeom prst="rect">
            <a:avLst/>
          </a:prstGeom>
          <a:noFill/>
        </p:spPr>
        <p:txBody>
          <a:bodyPr wrap="square">
            <a:spAutoFit/>
          </a:bodyPr>
          <a:lstStyle/>
          <a:p>
            <a:pPr algn="ctr"/>
            <a:r>
              <a:rPr sz="1600" b="0" i="1">
                <a:solidFill>
                  <a:srgbClr val="44403D"/>
                </a:solidFill>
                <a:latin typeface="Helvetica"/>
              </a:rPr>
              <a:t>The decision isn't 'do I trust this system forever'.</a:t>
            </a:r>
          </a:p>
        </p:txBody>
      </p:sp>
      <p:sp>
        <p:nvSpPr>
          <p:cNvPr id="26" name="TextBox 25"/>
          <p:cNvSpPr txBox="1"/>
          <p:nvPr/>
        </p:nvSpPr>
        <p:spPr>
          <a:xfrm>
            <a:off x="731520" y="5852160"/>
            <a:ext cx="10698480" cy="548640"/>
          </a:xfrm>
          <a:prstGeom prst="rect">
            <a:avLst/>
          </a:prstGeom>
          <a:noFill/>
        </p:spPr>
        <p:txBody>
          <a:bodyPr wrap="square">
            <a:spAutoFit/>
          </a:bodyPr>
          <a:lstStyle/>
          <a:p>
            <a:pPr algn="ctr"/>
            <a:r>
              <a:rPr sz="1600" b="1" i="0">
                <a:solidFill>
                  <a:srgbClr val="0F766E"/>
                </a:solidFill>
                <a:latin typeface="Helvetica"/>
              </a:rPr>
              <a:t>It's 'do I want to try it for 60 days, knowing I can walk away with my data intact?'</a:t>
            </a:r>
          </a:p>
        </p:txBody>
      </p:sp>
      <p:sp>
        <p:nvSpPr>
          <p:cNvPr id="27" name="TextBox 26"/>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28" name="TextBox 27"/>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26 / 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88952" cy="6693408"/>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698480" cy="640080"/>
          </a:xfrm>
          <a:prstGeom prst="rect">
            <a:avLst/>
          </a:prstGeom>
          <a:noFill/>
        </p:spPr>
        <p:txBody>
          <a:bodyPr wrap="square">
            <a:spAutoFit/>
          </a:bodyPr>
          <a:lstStyle/>
          <a:p>
            <a:pPr algn="ctr"/>
            <a:r>
              <a:rPr sz="6400" b="1" i="0">
                <a:solidFill>
                  <a:srgbClr val="1A1A1A"/>
                </a:solidFill>
                <a:latin typeface="Helvetica"/>
              </a:rPr>
              <a:t>Questions?</a:t>
            </a:r>
          </a:p>
        </p:txBody>
      </p:sp>
      <p:sp>
        <p:nvSpPr>
          <p:cNvPr id="5" name="TextBox 4"/>
          <p:cNvSpPr txBox="1"/>
          <p:nvPr/>
        </p:nvSpPr>
        <p:spPr>
          <a:xfrm>
            <a:off x="731520" y="3291840"/>
            <a:ext cx="10698480" cy="457200"/>
          </a:xfrm>
          <a:prstGeom prst="rect">
            <a:avLst/>
          </a:prstGeom>
          <a:noFill/>
        </p:spPr>
        <p:txBody>
          <a:bodyPr wrap="square">
            <a:spAutoFit/>
          </a:bodyPr>
          <a:lstStyle/>
          <a:p>
            <a:pPr algn="ctr"/>
            <a:r>
              <a:rPr sz="2000" b="0" i="1">
                <a:solidFill>
                  <a:srgbClr val="78716C"/>
                </a:solidFill>
                <a:latin typeface="Helvetica"/>
              </a:rPr>
              <a:t>What would worry you about using this on Monday morning?</a:t>
            </a:r>
          </a:p>
        </p:txBody>
      </p:sp>
      <p:sp>
        <p:nvSpPr>
          <p:cNvPr id="6" name="TextBox 5"/>
          <p:cNvSpPr txBox="1"/>
          <p:nvPr/>
        </p:nvSpPr>
        <p:spPr>
          <a:xfrm>
            <a:off x="731520" y="4754880"/>
            <a:ext cx="10698480" cy="365760"/>
          </a:xfrm>
          <a:prstGeom prst="rect">
            <a:avLst/>
          </a:prstGeom>
          <a:noFill/>
        </p:spPr>
        <p:txBody>
          <a:bodyPr wrap="square">
            <a:spAutoFit/>
          </a:bodyPr>
          <a:lstStyle/>
          <a:p>
            <a:pPr algn="ctr"/>
            <a:r>
              <a:rPr sz="1400" b="0" i="0">
                <a:solidFill>
                  <a:srgbClr val="0F766E"/>
                </a:solidFill>
                <a:latin typeface="Helvetica"/>
              </a:rPr>
              <a:t>Or: tell me one thing you wish a clinic system did</a:t>
            </a:r>
          </a:p>
        </p:txBody>
      </p:sp>
      <p:sp>
        <p:nvSpPr>
          <p:cNvPr id="7" name="TextBox 6"/>
          <p:cNvSpPr txBox="1"/>
          <p:nvPr/>
        </p:nvSpPr>
        <p:spPr>
          <a:xfrm>
            <a:off x="731520" y="5212080"/>
            <a:ext cx="10698480" cy="365760"/>
          </a:xfrm>
          <a:prstGeom prst="rect">
            <a:avLst/>
          </a:prstGeom>
          <a:noFill/>
        </p:spPr>
        <p:txBody>
          <a:bodyPr wrap="square">
            <a:spAutoFit/>
          </a:bodyPr>
          <a:lstStyle/>
          <a:p>
            <a:pPr algn="ctr"/>
            <a:r>
              <a:rPr sz="1400" b="0" i="0">
                <a:solidFill>
                  <a:srgbClr val="0F766E"/>
                </a:solidFill>
                <a:latin typeface="Helvetica"/>
              </a:rPr>
              <a:t>that none of them currently do.</a:t>
            </a:r>
          </a:p>
        </p:txBody>
      </p:sp>
      <p:sp>
        <p:nvSpPr>
          <p:cNvPr id="8" name="TextBox 7"/>
          <p:cNvSpPr txBox="1"/>
          <p:nvPr/>
        </p:nvSpPr>
        <p:spPr>
          <a:xfrm>
            <a:off x="457200" y="6492240"/>
            <a:ext cx="5486400" cy="274320"/>
          </a:xfrm>
          <a:prstGeom prst="rect">
            <a:avLst/>
          </a:prstGeom>
          <a:noFill/>
        </p:spPr>
        <p:txBody>
          <a:bodyPr wrap="square">
            <a:spAutoFit/>
          </a:bodyPr>
          <a:lstStyle/>
          <a:p>
            <a:pPr algn="l"/>
            <a:r>
              <a:rPr sz="900" b="0" i="0">
                <a:solidFill>
                  <a:srgbClr val="78716C"/>
                </a:solidFill>
                <a:latin typeface="Helvetica"/>
              </a:rPr>
              <a:t>Goodcare Dental — Clinic Booking System</a:t>
            </a:r>
          </a:p>
        </p:txBody>
      </p:sp>
      <p:sp>
        <p:nvSpPr>
          <p:cNvPr id="9" name="TextBox 8"/>
          <p:cNvSpPr txBox="1"/>
          <p:nvPr/>
        </p:nvSpPr>
        <p:spPr>
          <a:xfrm>
            <a:off x="10817352" y="6492240"/>
            <a:ext cx="914400" cy="274320"/>
          </a:xfrm>
          <a:prstGeom prst="rect">
            <a:avLst/>
          </a:prstGeom>
          <a:noFill/>
        </p:spPr>
        <p:txBody>
          <a:bodyPr wrap="square">
            <a:spAutoFit/>
          </a:bodyPr>
          <a:lstStyle/>
          <a:p>
            <a:pPr algn="r"/>
            <a:r>
              <a:rPr sz="900" b="0" i="0">
                <a:solidFill>
                  <a:srgbClr val="78716C"/>
                </a:solidFill>
                <a:latin typeface="Helvetica"/>
              </a:rPr>
              <a:t>27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