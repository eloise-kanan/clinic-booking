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a 30-second framing: 'Today I want to walk you through how the system handles a real patient — from the moment they submit a booking online, to the day they walk into the clinic. Every step is something your team will use day-to-day.'</a:t>
            </a:r>
          </a:p>
          <a:p/>
          <a:p>
            <a:r>
              <a:t>Don't dive into tech. Keep it about what the patient sees and what the staff does.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of the demo. Nine steps. Most happen in seconds.</a:t>
            </a:r>
          </a:p>
          <a:p/>
          <a:p>
            <a:r>
              <a:t>Key point to land: 'The system never sends a message on its own. Every WhatsApp goes through your nurse's own phone, with the message pre-filled. So patients hear from a real person at your clinic, not a bot.'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only thing the patient ever uses. No login, no app to download.</a:t>
            </a:r>
          </a:p>
          <a:p/>
          <a:p>
            <a:r>
              <a:t>Walk through the form: 'Notice the slot picker only shows times when this doctor is actually available — if Dr. Lim is on leave that day, those dates are blocked. The treatment they pick determines how long the slot is — 30 min for scaling, 90 for root canal — so the calendar fills up cleanly.'</a:t>
            </a:r>
          </a:p>
          <a:p/>
          <a:p>
            <a:r>
              <a:t>Mention: 'Nationality dropdown sets the WhatsApp country code automatically — they only type the local number.'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patient submits, this row appears in the nurse's queue with a red badge in the side nav. No email, no SMS — the nurse just sees it the next time she opens the dashboard.</a:t>
            </a:r>
          </a:p>
          <a:p/>
          <a:p>
            <a:r>
              <a:t>Highlight the prior-visits badge: 'A returning patient is flagged so the nurse can personalise the message.'</a:t>
            </a:r>
          </a:p>
          <a:p/>
          <a:p>
            <a:r>
              <a:t>Mention the 24h auto-expire: 'If the nurse forgets, the system marks the request expired after 24 hours so it doesn't sit there forever.'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pivotal design choice. We don't pay Meta for the WhatsApp Business API. Instead, we use the wa.me deep-link standard — the message is pre-filled in the nurse's WhatsApp, she just hits Send. No setup, no per-message charges.</a:t>
            </a:r>
          </a:p>
          <a:p/>
          <a:p>
            <a:r>
              <a:t>Key point: 'Patients see a real human conversation from your clinic's number — not a bot, not an unfamiliar number. Trust is preserved.'</a:t>
            </a:r>
          </a:p>
          <a:p/>
          <a:p>
            <a:r>
              <a:t>Show the templates page: 'You can edit every template — Check, Confirmation, Reschedule, Cancellation, Reject, Reminder — and the change applies system-wide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no patient-facing app. The patient lives in WhatsApp like always. The nurse lives in the booking dashboard. The two systems talk through one wa.me link.</a:t>
            </a:r>
          </a:p>
          <a:p/>
          <a:p>
            <a:r>
              <a:t>Anticipate the question: 'What if the patient wants to change the time?' Answer: 'The nurse can reschedule the booking from the dashboard — one button — and the wa.me confirmation uses the new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click. The booking is now official.</a:t>
            </a:r>
          </a:p>
          <a:p/>
          <a:p>
            <a:r>
              <a:t>Two things happen behind the scenes: the unique-slot index in the database guarantees no double-booking is possible — even if two patients try at the exact same second, one gets the slot and the other sees 'try another time'. And every action is timestamped against who did it, so there's an audit trail you can review later.</a:t>
            </a:r>
          </a:p>
          <a:p/>
          <a:p>
            <a:r>
              <a:t>Demo the calendar view briefly: 'See how it shows up immediately on Dr. Lim's calendar — patient name, treatment, time slot proportional to its duration.'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Confirmation goes via WhatsApp. The patient now has their appointment in writing — doctor name, date, time. They can refer back to it any time.</a:t>
            </a:r>
          </a:p>
          <a:p/>
          <a:p>
            <a:r>
              <a:t>Highlight the tracking pills: 'On the bookings page you'll see green pills — Confirm sent, Reminder sent — with timestamps and the nurse's name. So if a patient ever calls saying 'I never got a confirmation', you can see exactly what happened.'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Reminders cut no-shows in half — that's industry data, not ours.</a:t>
            </a:r>
          </a:p>
          <a:p/>
          <a:p>
            <a:r>
              <a:t>The nurse can do this in 5 minutes the evening before: open Send Reminders, see tomorrow's list, tap each one. WhatsApp queues up, she hits send, moves to the next.</a:t>
            </a:r>
          </a:p>
          <a:p/>
          <a:p>
            <a:r>
              <a:t>Mention: 'You can re-send if you didn't reach them the first time. Each send is logged.'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receptionist actually does during the day. Patient walks in, she searches their IC, taps Attended, moves on.</a:t>
            </a:r>
          </a:p>
          <a:p/>
          <a:p>
            <a:r>
              <a:t>Why this matters: 'You can now see your no-show rate over time. If a particular patient no-shows 3 times in a row, you decide whether to require deposit for future bookings. Without this data, you'd never know.'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owner's safety net. Every meaningful action — approve, cancel, reset password, edit a template — is logged with the staff member's name, the time, and a snapshot of what changed.</a:t>
            </a:r>
          </a:p>
          <a:p/>
          <a:p>
            <a:r>
              <a:t>Two real uses: dispute resolution (patient says 'I cancelled, why was I charged?' — you can show the audit entry), and PDPA compliance (Malaysian Personal Data Protection Act requires you to demonstrate access controls and traceability).</a:t>
            </a:r>
          </a:p>
          <a:p/>
          <a:p>
            <a:r>
              <a:t>Even if a nurse leaves the clinic, her name stays on every action she did — we never delete history.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survey of features outside the patient lifecycle. Don't dwell — call out one or two the clinic seems most interested in. The doctor calendar and the leave/shift workflow usually land best with clinic owners because they see the value immediately.</a:t>
            </a:r>
          </a:p>
          <a:p/>
          <a:p>
            <a:r>
              <a:t>If they ask 'what else?' — pull up the duty calendar live and show them. It's a strong visual.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the boxes. Pause. Look at them. Wait for questions.</a:t>
            </a:r>
          </a:p>
          <a:p/>
          <a:p>
            <a:r>
              <a:t>Likely questions:</a:t>
            </a:r>
          </a:p>
          <a:p>
            <a:r>
              <a:t>- 'Can we change the colors?' Yes, Tailwind theme — tweak in 5 mins.</a:t>
            </a:r>
          </a:p>
          <a:p>
            <a:r>
              <a:t>- 'Does it work offline?' No, requires internet (Vercel hosted).</a:t>
            </a:r>
          </a:p>
          <a:p>
            <a:r>
              <a:t>- 'What if WhatsApp goes down?' The booking system still works; nurses just can't send messages until WhatsApp is back. Bookings, calendar, status changes all keep working.</a:t>
            </a:r>
          </a:p>
          <a:p>
            <a:r>
              <a:t>- 'Can patients book without WhatsApp?' Currently they need a WhatsApp number for the nurse to verify. We could add SMS later if needed.</a:t>
            </a:r>
          </a:p>
          <a:p>
            <a:r>
              <a:t>- 'Can we export everything?' Yes, CSV of patients + bookings any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88952" cy="6693408"/>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10058400" cy="457200"/>
          </a:xfrm>
          <a:prstGeom prst="rect">
            <a:avLst/>
          </a:prstGeom>
          <a:noFill/>
        </p:spPr>
        <p:txBody>
          <a:bodyPr wrap="square">
            <a:spAutoFit/>
          </a:bodyPr>
          <a:lstStyle/>
          <a:p>
            <a:pPr algn="l"/>
            <a:r>
              <a:rPr sz="2000" b="1">
                <a:solidFill>
                  <a:srgbClr val="0F766E"/>
                </a:solidFill>
                <a:latin typeface="Helvetica"/>
              </a:rPr>
              <a:t>Goodcare Dental</a:t>
            </a:r>
          </a:p>
        </p:txBody>
      </p:sp>
      <p:sp>
        <p:nvSpPr>
          <p:cNvPr id="5" name="TextBox 4"/>
          <p:cNvSpPr txBox="1"/>
          <p:nvPr/>
        </p:nvSpPr>
        <p:spPr>
          <a:xfrm>
            <a:off x="731520" y="2697480"/>
            <a:ext cx="10058400" cy="914400"/>
          </a:xfrm>
          <a:prstGeom prst="rect">
            <a:avLst/>
          </a:prstGeom>
          <a:noFill/>
        </p:spPr>
        <p:txBody>
          <a:bodyPr wrap="square">
            <a:spAutoFit/>
          </a:bodyPr>
          <a:lstStyle/>
          <a:p>
            <a:pPr algn="l"/>
            <a:r>
              <a:rPr sz="4400" b="1">
                <a:solidFill>
                  <a:srgbClr val="1A1A1A"/>
                </a:solidFill>
                <a:latin typeface="Helvetica"/>
              </a:rPr>
              <a:t>Online Booking System</a:t>
            </a:r>
          </a:p>
        </p:txBody>
      </p:sp>
      <p:sp>
        <p:nvSpPr>
          <p:cNvPr id="6" name="TextBox 5"/>
          <p:cNvSpPr txBox="1"/>
          <p:nvPr/>
        </p:nvSpPr>
        <p:spPr>
          <a:xfrm>
            <a:off x="731520" y="3657600"/>
            <a:ext cx="10058400" cy="548640"/>
          </a:xfrm>
          <a:prstGeom prst="rect">
            <a:avLst/>
          </a:prstGeom>
          <a:noFill/>
        </p:spPr>
        <p:txBody>
          <a:bodyPr wrap="square">
            <a:spAutoFit/>
          </a:bodyPr>
          <a:lstStyle/>
          <a:p>
            <a:pPr algn="l"/>
            <a:r>
              <a:rPr sz="1800" b="0">
                <a:solidFill>
                  <a:srgbClr val="78716C"/>
                </a:solidFill>
                <a:latin typeface="Helvetica"/>
              </a:rPr>
              <a:t>End-to-end walkthrough — from patient request to completed visit</a:t>
            </a:r>
          </a:p>
        </p:txBody>
      </p:sp>
      <p:sp>
        <p:nvSpPr>
          <p:cNvPr id="7" name="TextBox 6"/>
          <p:cNvSpPr txBox="1"/>
          <p:nvPr/>
        </p:nvSpPr>
        <p:spPr>
          <a:xfrm>
            <a:off x="731520" y="6035040"/>
            <a:ext cx="10058400" cy="365760"/>
          </a:xfrm>
          <a:prstGeom prst="rect">
            <a:avLst/>
          </a:prstGeom>
          <a:noFill/>
        </p:spPr>
        <p:txBody>
          <a:bodyPr wrap="square">
            <a:spAutoFit/>
          </a:bodyPr>
          <a:lstStyle/>
          <a:p>
            <a:pPr algn="l"/>
            <a:r>
              <a:rPr sz="1200" b="0">
                <a:solidFill>
                  <a:srgbClr val="78716C"/>
                </a:solidFill>
                <a:latin typeface="Helvetica"/>
              </a:rPr>
              <a:t>Demo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548640"/>
          </a:xfrm>
          <a:prstGeom prst="rect">
            <a:avLst/>
          </a:prstGeom>
          <a:noFill/>
        </p:spPr>
        <p:txBody>
          <a:bodyPr wrap="square">
            <a:spAutoFit/>
          </a:bodyPr>
          <a:lstStyle/>
          <a:p>
            <a:pPr algn="l"/>
            <a:r>
              <a:rPr sz="2800" b="1">
                <a:solidFill>
                  <a:srgbClr val="1A1A1A"/>
                </a:solidFill>
                <a:latin typeface="Helvetica"/>
              </a:rPr>
              <a:t>The patient lifecycle, in 9 steps</a:t>
            </a:r>
          </a:p>
        </p:txBody>
      </p:sp>
      <p:sp>
        <p:nvSpPr>
          <p:cNvPr id="4" name="Rounded Rectangle 3"/>
          <p:cNvSpPr/>
          <p:nvPr/>
        </p:nvSpPr>
        <p:spPr>
          <a:xfrm>
            <a:off x="694944" y="2286000"/>
            <a:ext cx="1143000" cy="15544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423160"/>
            <a:ext cx="1143000" cy="320040"/>
          </a:xfrm>
          <a:prstGeom prst="rect">
            <a:avLst/>
          </a:prstGeom>
          <a:noFill/>
        </p:spPr>
        <p:txBody>
          <a:bodyPr wrap="square">
            <a:spAutoFit/>
          </a:bodyPr>
          <a:lstStyle/>
          <a:p>
            <a:pPr algn="ctr"/>
            <a:r>
              <a:rPr sz="1800" b="1">
                <a:solidFill>
                  <a:srgbClr val="0D9488"/>
                </a:solidFill>
                <a:latin typeface="Helvetica"/>
              </a:rPr>
              <a:t>1</a:t>
            </a:r>
          </a:p>
        </p:txBody>
      </p:sp>
      <p:sp>
        <p:nvSpPr>
          <p:cNvPr id="6" name="TextBox 5"/>
          <p:cNvSpPr txBox="1"/>
          <p:nvPr/>
        </p:nvSpPr>
        <p:spPr>
          <a:xfrm>
            <a:off x="740664" y="2788920"/>
            <a:ext cx="1051560" cy="594360"/>
          </a:xfrm>
          <a:prstGeom prst="rect">
            <a:avLst/>
          </a:prstGeom>
          <a:noFill/>
        </p:spPr>
        <p:txBody>
          <a:bodyPr wrap="square">
            <a:spAutoFit/>
          </a:bodyPr>
          <a:lstStyle/>
          <a:p>
            <a:pPr algn="ctr"/>
            <a:r>
              <a:rPr sz="1100" b="1">
                <a:solidFill>
                  <a:srgbClr val="1A1A1A"/>
                </a:solidFill>
                <a:latin typeface="Helvetica"/>
              </a:rPr>
              <a:t>Patient submits</a:t>
            </a:r>
          </a:p>
        </p:txBody>
      </p:sp>
      <p:sp>
        <p:nvSpPr>
          <p:cNvPr id="7" name="TextBox 6"/>
          <p:cNvSpPr txBox="1"/>
          <p:nvPr/>
        </p:nvSpPr>
        <p:spPr>
          <a:xfrm>
            <a:off x="740664" y="3337560"/>
            <a:ext cx="1051560" cy="457200"/>
          </a:xfrm>
          <a:prstGeom prst="rect">
            <a:avLst/>
          </a:prstGeom>
          <a:noFill/>
        </p:spPr>
        <p:txBody>
          <a:bodyPr wrap="square">
            <a:spAutoFit/>
          </a:bodyPr>
          <a:lstStyle/>
          <a:p>
            <a:pPr algn="ctr"/>
            <a:r>
              <a:rPr sz="900" b="0">
                <a:solidFill>
                  <a:srgbClr val="78716C"/>
                </a:solidFill>
                <a:latin typeface="Helvetica"/>
              </a:rPr>
              <a:t>Online form</a:t>
            </a:r>
          </a:p>
        </p:txBody>
      </p:sp>
      <p:sp>
        <p:nvSpPr>
          <p:cNvPr id="8" name="Rounded Rectangle 7"/>
          <p:cNvSpPr/>
          <p:nvPr/>
        </p:nvSpPr>
        <p:spPr>
          <a:xfrm>
            <a:off x="1901952" y="2286000"/>
            <a:ext cx="1143000" cy="15544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01952" y="2423160"/>
            <a:ext cx="1143000" cy="320040"/>
          </a:xfrm>
          <a:prstGeom prst="rect">
            <a:avLst/>
          </a:prstGeom>
          <a:noFill/>
        </p:spPr>
        <p:txBody>
          <a:bodyPr wrap="square">
            <a:spAutoFit/>
          </a:bodyPr>
          <a:lstStyle/>
          <a:p>
            <a:pPr algn="ctr"/>
            <a:r>
              <a:rPr sz="1800" b="1">
                <a:solidFill>
                  <a:srgbClr val="0D9488"/>
                </a:solidFill>
                <a:latin typeface="Helvetica"/>
              </a:rPr>
              <a:t>2</a:t>
            </a:r>
          </a:p>
        </p:txBody>
      </p:sp>
      <p:sp>
        <p:nvSpPr>
          <p:cNvPr id="10" name="TextBox 9"/>
          <p:cNvSpPr txBox="1"/>
          <p:nvPr/>
        </p:nvSpPr>
        <p:spPr>
          <a:xfrm>
            <a:off x="1947672" y="2788920"/>
            <a:ext cx="1051560" cy="594360"/>
          </a:xfrm>
          <a:prstGeom prst="rect">
            <a:avLst/>
          </a:prstGeom>
          <a:noFill/>
        </p:spPr>
        <p:txBody>
          <a:bodyPr wrap="square">
            <a:spAutoFit/>
          </a:bodyPr>
          <a:lstStyle/>
          <a:p>
            <a:pPr algn="ctr"/>
            <a:r>
              <a:rPr sz="1100" b="1">
                <a:solidFill>
                  <a:srgbClr val="1A1A1A"/>
                </a:solidFill>
                <a:latin typeface="Helvetica"/>
              </a:rPr>
              <a:t>Nurse sees pending</a:t>
            </a:r>
          </a:p>
        </p:txBody>
      </p:sp>
      <p:sp>
        <p:nvSpPr>
          <p:cNvPr id="11" name="TextBox 10"/>
          <p:cNvSpPr txBox="1"/>
          <p:nvPr/>
        </p:nvSpPr>
        <p:spPr>
          <a:xfrm>
            <a:off x="1947672" y="3337560"/>
            <a:ext cx="1051560" cy="457200"/>
          </a:xfrm>
          <a:prstGeom prst="rect">
            <a:avLst/>
          </a:prstGeom>
          <a:noFill/>
        </p:spPr>
        <p:txBody>
          <a:bodyPr wrap="square">
            <a:spAutoFit/>
          </a:bodyPr>
          <a:lstStyle/>
          <a:p>
            <a:pPr algn="ctr"/>
            <a:r>
              <a:rPr sz="900" b="0">
                <a:solidFill>
                  <a:srgbClr val="78716C"/>
                </a:solidFill>
                <a:latin typeface="Helvetica"/>
              </a:rPr>
              <a:t>Notification</a:t>
            </a:r>
          </a:p>
        </p:txBody>
      </p:sp>
      <p:sp>
        <p:nvSpPr>
          <p:cNvPr id="12" name="Rounded Rectangle 11"/>
          <p:cNvSpPr/>
          <p:nvPr/>
        </p:nvSpPr>
        <p:spPr>
          <a:xfrm>
            <a:off x="3108960" y="2286000"/>
            <a:ext cx="1143000" cy="15544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8960" y="2423160"/>
            <a:ext cx="1143000" cy="320040"/>
          </a:xfrm>
          <a:prstGeom prst="rect">
            <a:avLst/>
          </a:prstGeom>
          <a:noFill/>
        </p:spPr>
        <p:txBody>
          <a:bodyPr wrap="square">
            <a:spAutoFit/>
          </a:bodyPr>
          <a:lstStyle/>
          <a:p>
            <a:pPr algn="ctr"/>
            <a:r>
              <a:rPr sz="1800" b="1">
                <a:solidFill>
                  <a:srgbClr val="0D9488"/>
                </a:solidFill>
                <a:latin typeface="Helvetica"/>
              </a:rPr>
              <a:t>3</a:t>
            </a:r>
          </a:p>
        </p:txBody>
      </p:sp>
      <p:sp>
        <p:nvSpPr>
          <p:cNvPr id="14" name="TextBox 13"/>
          <p:cNvSpPr txBox="1"/>
          <p:nvPr/>
        </p:nvSpPr>
        <p:spPr>
          <a:xfrm>
            <a:off x="3154680" y="2788920"/>
            <a:ext cx="1051560" cy="594360"/>
          </a:xfrm>
          <a:prstGeom prst="rect">
            <a:avLst/>
          </a:prstGeom>
          <a:noFill/>
        </p:spPr>
        <p:txBody>
          <a:bodyPr wrap="square">
            <a:spAutoFit/>
          </a:bodyPr>
          <a:lstStyle/>
          <a:p>
            <a:pPr algn="ctr"/>
            <a:r>
              <a:rPr sz="1100" b="1">
                <a:solidFill>
                  <a:srgbClr val="1A1A1A"/>
                </a:solidFill>
                <a:latin typeface="Helvetica"/>
              </a:rPr>
              <a:t>Check via WhatsApp</a:t>
            </a:r>
          </a:p>
        </p:txBody>
      </p:sp>
      <p:sp>
        <p:nvSpPr>
          <p:cNvPr id="15" name="TextBox 14"/>
          <p:cNvSpPr txBox="1"/>
          <p:nvPr/>
        </p:nvSpPr>
        <p:spPr>
          <a:xfrm>
            <a:off x="3154680" y="3337560"/>
            <a:ext cx="1051560" cy="457200"/>
          </a:xfrm>
          <a:prstGeom prst="rect">
            <a:avLst/>
          </a:prstGeom>
          <a:noFill/>
        </p:spPr>
        <p:txBody>
          <a:bodyPr wrap="square">
            <a:spAutoFit/>
          </a:bodyPr>
          <a:lstStyle/>
          <a:p>
            <a:pPr algn="ctr"/>
            <a:r>
              <a:rPr sz="900" b="0">
                <a:solidFill>
                  <a:srgbClr val="78716C"/>
                </a:solidFill>
                <a:latin typeface="Helvetica"/>
              </a:rPr>
              <a:t>Verify with patient</a:t>
            </a:r>
          </a:p>
        </p:txBody>
      </p:sp>
      <p:sp>
        <p:nvSpPr>
          <p:cNvPr id="16" name="Rounded Rectangle 15"/>
          <p:cNvSpPr/>
          <p:nvPr/>
        </p:nvSpPr>
        <p:spPr>
          <a:xfrm>
            <a:off x="4315968" y="2286000"/>
            <a:ext cx="1143000" cy="15544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15968" y="2423160"/>
            <a:ext cx="1143000" cy="320040"/>
          </a:xfrm>
          <a:prstGeom prst="rect">
            <a:avLst/>
          </a:prstGeom>
          <a:noFill/>
        </p:spPr>
        <p:txBody>
          <a:bodyPr wrap="square">
            <a:spAutoFit/>
          </a:bodyPr>
          <a:lstStyle/>
          <a:p>
            <a:pPr algn="ctr"/>
            <a:r>
              <a:rPr sz="1800" b="1">
                <a:solidFill>
                  <a:srgbClr val="0D9488"/>
                </a:solidFill>
                <a:latin typeface="Helvetica"/>
              </a:rPr>
              <a:t>4</a:t>
            </a:r>
          </a:p>
        </p:txBody>
      </p:sp>
      <p:sp>
        <p:nvSpPr>
          <p:cNvPr id="18" name="TextBox 17"/>
          <p:cNvSpPr txBox="1"/>
          <p:nvPr/>
        </p:nvSpPr>
        <p:spPr>
          <a:xfrm>
            <a:off x="4361688" y="2788920"/>
            <a:ext cx="1051560" cy="594360"/>
          </a:xfrm>
          <a:prstGeom prst="rect">
            <a:avLst/>
          </a:prstGeom>
          <a:noFill/>
        </p:spPr>
        <p:txBody>
          <a:bodyPr wrap="square">
            <a:spAutoFit/>
          </a:bodyPr>
          <a:lstStyle/>
          <a:p>
            <a:pPr algn="ctr"/>
            <a:r>
              <a:rPr sz="1100" b="1">
                <a:solidFill>
                  <a:srgbClr val="1A1A1A"/>
                </a:solidFill>
                <a:latin typeface="Helvetica"/>
              </a:rPr>
              <a:t>Patient confirms</a:t>
            </a:r>
          </a:p>
        </p:txBody>
      </p:sp>
      <p:sp>
        <p:nvSpPr>
          <p:cNvPr id="19" name="TextBox 18"/>
          <p:cNvSpPr txBox="1"/>
          <p:nvPr/>
        </p:nvSpPr>
        <p:spPr>
          <a:xfrm>
            <a:off x="4361688" y="3337560"/>
            <a:ext cx="1051560" cy="457200"/>
          </a:xfrm>
          <a:prstGeom prst="rect">
            <a:avLst/>
          </a:prstGeom>
          <a:noFill/>
        </p:spPr>
        <p:txBody>
          <a:bodyPr wrap="square">
            <a:spAutoFit/>
          </a:bodyPr>
          <a:lstStyle/>
          <a:p>
            <a:pPr algn="ctr"/>
            <a:r>
              <a:rPr sz="900" b="0">
                <a:solidFill>
                  <a:srgbClr val="78716C"/>
                </a:solidFill>
                <a:latin typeface="Helvetica"/>
              </a:rPr>
              <a:t>Reply YES</a:t>
            </a:r>
          </a:p>
        </p:txBody>
      </p:sp>
      <p:sp>
        <p:nvSpPr>
          <p:cNvPr id="20" name="Rounded Rectangle 19"/>
          <p:cNvSpPr/>
          <p:nvPr/>
        </p:nvSpPr>
        <p:spPr>
          <a:xfrm>
            <a:off x="5522976" y="2286000"/>
            <a:ext cx="1143000" cy="15544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22976" y="2423160"/>
            <a:ext cx="1143000" cy="320040"/>
          </a:xfrm>
          <a:prstGeom prst="rect">
            <a:avLst/>
          </a:prstGeom>
          <a:noFill/>
        </p:spPr>
        <p:txBody>
          <a:bodyPr wrap="square">
            <a:spAutoFit/>
          </a:bodyPr>
          <a:lstStyle/>
          <a:p>
            <a:pPr algn="ctr"/>
            <a:r>
              <a:rPr sz="1800" b="1">
                <a:solidFill>
                  <a:srgbClr val="0D9488"/>
                </a:solidFill>
                <a:latin typeface="Helvetica"/>
              </a:rPr>
              <a:t>5</a:t>
            </a:r>
          </a:p>
        </p:txBody>
      </p:sp>
      <p:sp>
        <p:nvSpPr>
          <p:cNvPr id="22" name="TextBox 21"/>
          <p:cNvSpPr txBox="1"/>
          <p:nvPr/>
        </p:nvSpPr>
        <p:spPr>
          <a:xfrm>
            <a:off x="5568696" y="2788920"/>
            <a:ext cx="1051560" cy="594360"/>
          </a:xfrm>
          <a:prstGeom prst="rect">
            <a:avLst/>
          </a:prstGeom>
          <a:noFill/>
        </p:spPr>
        <p:txBody>
          <a:bodyPr wrap="square">
            <a:spAutoFit/>
          </a:bodyPr>
          <a:lstStyle/>
          <a:p>
            <a:pPr algn="ctr"/>
            <a:r>
              <a:rPr sz="1100" b="1">
                <a:solidFill>
                  <a:srgbClr val="1A1A1A"/>
                </a:solidFill>
                <a:latin typeface="Helvetica"/>
              </a:rPr>
              <a:t>Nurse approves</a:t>
            </a:r>
          </a:p>
        </p:txBody>
      </p:sp>
      <p:sp>
        <p:nvSpPr>
          <p:cNvPr id="23" name="TextBox 22"/>
          <p:cNvSpPr txBox="1"/>
          <p:nvPr/>
        </p:nvSpPr>
        <p:spPr>
          <a:xfrm>
            <a:off x="5568696" y="3337560"/>
            <a:ext cx="1051560" cy="457200"/>
          </a:xfrm>
          <a:prstGeom prst="rect">
            <a:avLst/>
          </a:prstGeom>
          <a:noFill/>
        </p:spPr>
        <p:txBody>
          <a:bodyPr wrap="square">
            <a:spAutoFit/>
          </a:bodyPr>
          <a:lstStyle/>
          <a:p>
            <a:pPr algn="ctr"/>
            <a:r>
              <a:rPr sz="900" b="0">
                <a:solidFill>
                  <a:srgbClr val="78716C"/>
                </a:solidFill>
                <a:latin typeface="Helvetica"/>
              </a:rPr>
              <a:t>One click</a:t>
            </a:r>
          </a:p>
        </p:txBody>
      </p:sp>
      <p:sp>
        <p:nvSpPr>
          <p:cNvPr id="24" name="Rounded Rectangle 23"/>
          <p:cNvSpPr/>
          <p:nvPr/>
        </p:nvSpPr>
        <p:spPr>
          <a:xfrm>
            <a:off x="6729984" y="2286000"/>
            <a:ext cx="1143000" cy="15544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9984" y="2423160"/>
            <a:ext cx="1143000" cy="320040"/>
          </a:xfrm>
          <a:prstGeom prst="rect">
            <a:avLst/>
          </a:prstGeom>
          <a:noFill/>
        </p:spPr>
        <p:txBody>
          <a:bodyPr wrap="square">
            <a:spAutoFit/>
          </a:bodyPr>
          <a:lstStyle/>
          <a:p>
            <a:pPr algn="ctr"/>
            <a:r>
              <a:rPr sz="1800" b="1">
                <a:solidFill>
                  <a:srgbClr val="0D9488"/>
                </a:solidFill>
                <a:latin typeface="Helvetica"/>
              </a:rPr>
              <a:t>6</a:t>
            </a:r>
          </a:p>
        </p:txBody>
      </p:sp>
      <p:sp>
        <p:nvSpPr>
          <p:cNvPr id="26" name="TextBox 25"/>
          <p:cNvSpPr txBox="1"/>
          <p:nvPr/>
        </p:nvSpPr>
        <p:spPr>
          <a:xfrm>
            <a:off x="6775704" y="2788920"/>
            <a:ext cx="1051560" cy="594360"/>
          </a:xfrm>
          <a:prstGeom prst="rect">
            <a:avLst/>
          </a:prstGeom>
          <a:noFill/>
        </p:spPr>
        <p:txBody>
          <a:bodyPr wrap="square">
            <a:spAutoFit/>
          </a:bodyPr>
          <a:lstStyle/>
          <a:p>
            <a:pPr algn="ctr"/>
            <a:r>
              <a:rPr sz="1100" b="1">
                <a:solidFill>
                  <a:srgbClr val="1A1A1A"/>
                </a:solidFill>
                <a:latin typeface="Helvetica"/>
              </a:rPr>
              <a:t>Confirmation sent</a:t>
            </a:r>
          </a:p>
        </p:txBody>
      </p:sp>
      <p:sp>
        <p:nvSpPr>
          <p:cNvPr id="27" name="TextBox 26"/>
          <p:cNvSpPr txBox="1"/>
          <p:nvPr/>
        </p:nvSpPr>
        <p:spPr>
          <a:xfrm>
            <a:off x="6775704" y="3337560"/>
            <a:ext cx="1051560" cy="457200"/>
          </a:xfrm>
          <a:prstGeom prst="rect">
            <a:avLst/>
          </a:prstGeom>
          <a:noFill/>
        </p:spPr>
        <p:txBody>
          <a:bodyPr wrap="square">
            <a:spAutoFit/>
          </a:bodyPr>
          <a:lstStyle/>
          <a:p>
            <a:pPr algn="ctr"/>
            <a:r>
              <a:rPr sz="900" b="0">
                <a:solidFill>
                  <a:srgbClr val="78716C"/>
                </a:solidFill>
                <a:latin typeface="Helvetica"/>
              </a:rPr>
              <a:t>Auto-fills WhatsApp</a:t>
            </a:r>
          </a:p>
        </p:txBody>
      </p:sp>
      <p:sp>
        <p:nvSpPr>
          <p:cNvPr id="28" name="Rounded Rectangle 27"/>
          <p:cNvSpPr/>
          <p:nvPr/>
        </p:nvSpPr>
        <p:spPr>
          <a:xfrm>
            <a:off x="7936992" y="2286000"/>
            <a:ext cx="1143000" cy="15544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36992" y="2423160"/>
            <a:ext cx="1143000" cy="320040"/>
          </a:xfrm>
          <a:prstGeom prst="rect">
            <a:avLst/>
          </a:prstGeom>
          <a:noFill/>
        </p:spPr>
        <p:txBody>
          <a:bodyPr wrap="square">
            <a:spAutoFit/>
          </a:bodyPr>
          <a:lstStyle/>
          <a:p>
            <a:pPr algn="ctr"/>
            <a:r>
              <a:rPr sz="1800" b="1">
                <a:solidFill>
                  <a:srgbClr val="0D9488"/>
                </a:solidFill>
                <a:latin typeface="Helvetica"/>
              </a:rPr>
              <a:t>7</a:t>
            </a:r>
          </a:p>
        </p:txBody>
      </p:sp>
      <p:sp>
        <p:nvSpPr>
          <p:cNvPr id="30" name="TextBox 29"/>
          <p:cNvSpPr txBox="1"/>
          <p:nvPr/>
        </p:nvSpPr>
        <p:spPr>
          <a:xfrm>
            <a:off x="7982712" y="2788920"/>
            <a:ext cx="1051560" cy="594360"/>
          </a:xfrm>
          <a:prstGeom prst="rect">
            <a:avLst/>
          </a:prstGeom>
          <a:noFill/>
        </p:spPr>
        <p:txBody>
          <a:bodyPr wrap="square">
            <a:spAutoFit/>
          </a:bodyPr>
          <a:lstStyle/>
          <a:p>
            <a:pPr algn="ctr"/>
            <a:r>
              <a:rPr sz="1100" b="1">
                <a:solidFill>
                  <a:srgbClr val="1A1A1A"/>
                </a:solidFill>
                <a:latin typeface="Helvetica"/>
              </a:rPr>
              <a:t>Day-before reminder</a:t>
            </a:r>
          </a:p>
        </p:txBody>
      </p:sp>
      <p:sp>
        <p:nvSpPr>
          <p:cNvPr id="31" name="TextBox 30"/>
          <p:cNvSpPr txBox="1"/>
          <p:nvPr/>
        </p:nvSpPr>
        <p:spPr>
          <a:xfrm>
            <a:off x="7982712" y="3337560"/>
            <a:ext cx="1051560" cy="457200"/>
          </a:xfrm>
          <a:prstGeom prst="rect">
            <a:avLst/>
          </a:prstGeom>
          <a:noFill/>
        </p:spPr>
        <p:txBody>
          <a:bodyPr wrap="square">
            <a:spAutoFit/>
          </a:bodyPr>
          <a:lstStyle/>
          <a:p>
            <a:pPr algn="ctr"/>
            <a:r>
              <a:rPr sz="900" b="0">
                <a:solidFill>
                  <a:srgbClr val="78716C"/>
                </a:solidFill>
                <a:latin typeface="Helvetica"/>
              </a:rPr>
              <a:t>Auto-fills WhatsApp</a:t>
            </a:r>
          </a:p>
        </p:txBody>
      </p:sp>
      <p:sp>
        <p:nvSpPr>
          <p:cNvPr id="32" name="Rounded Rectangle 31"/>
          <p:cNvSpPr/>
          <p:nvPr/>
        </p:nvSpPr>
        <p:spPr>
          <a:xfrm>
            <a:off x="9144000" y="2286000"/>
            <a:ext cx="1143000" cy="15544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0" y="2423160"/>
            <a:ext cx="1143000" cy="320040"/>
          </a:xfrm>
          <a:prstGeom prst="rect">
            <a:avLst/>
          </a:prstGeom>
          <a:noFill/>
        </p:spPr>
        <p:txBody>
          <a:bodyPr wrap="square">
            <a:spAutoFit/>
          </a:bodyPr>
          <a:lstStyle/>
          <a:p>
            <a:pPr algn="ctr"/>
            <a:r>
              <a:rPr sz="1800" b="1">
                <a:solidFill>
                  <a:srgbClr val="0D9488"/>
                </a:solidFill>
                <a:latin typeface="Helvetica"/>
              </a:rPr>
              <a:t>8</a:t>
            </a:r>
          </a:p>
        </p:txBody>
      </p:sp>
      <p:sp>
        <p:nvSpPr>
          <p:cNvPr id="34" name="TextBox 33"/>
          <p:cNvSpPr txBox="1"/>
          <p:nvPr/>
        </p:nvSpPr>
        <p:spPr>
          <a:xfrm>
            <a:off x="9189720" y="2788920"/>
            <a:ext cx="1051560" cy="594360"/>
          </a:xfrm>
          <a:prstGeom prst="rect">
            <a:avLst/>
          </a:prstGeom>
          <a:noFill/>
        </p:spPr>
        <p:txBody>
          <a:bodyPr wrap="square">
            <a:spAutoFit/>
          </a:bodyPr>
          <a:lstStyle/>
          <a:p>
            <a:pPr algn="ctr"/>
            <a:r>
              <a:rPr sz="1100" b="1">
                <a:solidFill>
                  <a:srgbClr val="1A1A1A"/>
                </a:solidFill>
                <a:latin typeface="Helvetica"/>
              </a:rPr>
              <a:t>Patient attends</a:t>
            </a:r>
          </a:p>
        </p:txBody>
      </p:sp>
      <p:sp>
        <p:nvSpPr>
          <p:cNvPr id="35" name="TextBox 34"/>
          <p:cNvSpPr txBox="1"/>
          <p:nvPr/>
        </p:nvSpPr>
        <p:spPr>
          <a:xfrm>
            <a:off x="9189720" y="3337560"/>
            <a:ext cx="1051560" cy="457200"/>
          </a:xfrm>
          <a:prstGeom prst="rect">
            <a:avLst/>
          </a:prstGeom>
          <a:noFill/>
        </p:spPr>
        <p:txBody>
          <a:bodyPr wrap="square">
            <a:spAutoFit/>
          </a:bodyPr>
          <a:lstStyle/>
          <a:p>
            <a:pPr algn="ctr"/>
            <a:r>
              <a:rPr sz="900" b="0">
                <a:solidFill>
                  <a:srgbClr val="78716C"/>
                </a:solidFill>
                <a:latin typeface="Helvetica"/>
              </a:rPr>
              <a:t>Mark as attended</a:t>
            </a:r>
          </a:p>
        </p:txBody>
      </p:sp>
      <p:sp>
        <p:nvSpPr>
          <p:cNvPr id="36" name="Rounded Rectangle 35"/>
          <p:cNvSpPr/>
          <p:nvPr/>
        </p:nvSpPr>
        <p:spPr>
          <a:xfrm>
            <a:off x="10351008" y="2286000"/>
            <a:ext cx="1143000" cy="15544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51008" y="2423160"/>
            <a:ext cx="1143000" cy="320040"/>
          </a:xfrm>
          <a:prstGeom prst="rect">
            <a:avLst/>
          </a:prstGeom>
          <a:noFill/>
        </p:spPr>
        <p:txBody>
          <a:bodyPr wrap="square">
            <a:spAutoFit/>
          </a:bodyPr>
          <a:lstStyle/>
          <a:p>
            <a:pPr algn="ctr"/>
            <a:r>
              <a:rPr sz="1800" b="1">
                <a:solidFill>
                  <a:srgbClr val="0D9488"/>
                </a:solidFill>
                <a:latin typeface="Helvetica"/>
              </a:rPr>
              <a:t>9</a:t>
            </a:r>
          </a:p>
        </p:txBody>
      </p:sp>
      <p:sp>
        <p:nvSpPr>
          <p:cNvPr id="38" name="TextBox 37"/>
          <p:cNvSpPr txBox="1"/>
          <p:nvPr/>
        </p:nvSpPr>
        <p:spPr>
          <a:xfrm>
            <a:off x="10396728" y="2788920"/>
            <a:ext cx="1051560" cy="594360"/>
          </a:xfrm>
          <a:prstGeom prst="rect">
            <a:avLst/>
          </a:prstGeom>
          <a:noFill/>
        </p:spPr>
        <p:txBody>
          <a:bodyPr wrap="square">
            <a:spAutoFit/>
          </a:bodyPr>
          <a:lstStyle/>
          <a:p>
            <a:pPr algn="ctr"/>
            <a:r>
              <a:rPr sz="1100" b="1">
                <a:solidFill>
                  <a:srgbClr val="1A1A1A"/>
                </a:solidFill>
                <a:latin typeface="Helvetica"/>
              </a:rPr>
              <a:t>Audit trail</a:t>
            </a:r>
          </a:p>
        </p:txBody>
      </p:sp>
      <p:sp>
        <p:nvSpPr>
          <p:cNvPr id="39" name="TextBox 38"/>
          <p:cNvSpPr txBox="1"/>
          <p:nvPr/>
        </p:nvSpPr>
        <p:spPr>
          <a:xfrm>
            <a:off x="10396728" y="3337560"/>
            <a:ext cx="1051560" cy="457200"/>
          </a:xfrm>
          <a:prstGeom prst="rect">
            <a:avLst/>
          </a:prstGeom>
          <a:noFill/>
        </p:spPr>
        <p:txBody>
          <a:bodyPr wrap="square">
            <a:spAutoFit/>
          </a:bodyPr>
          <a:lstStyle/>
          <a:p>
            <a:pPr algn="ctr"/>
            <a:r>
              <a:rPr sz="900" b="0">
                <a:solidFill>
                  <a:srgbClr val="78716C"/>
                </a:solidFill>
                <a:latin typeface="Helvetica"/>
              </a:rPr>
              <a:t>Owner reviews</a:t>
            </a:r>
          </a:p>
        </p:txBody>
      </p:sp>
      <p:sp>
        <p:nvSpPr>
          <p:cNvPr id="40" name="TextBox 39"/>
          <p:cNvSpPr txBox="1"/>
          <p:nvPr/>
        </p:nvSpPr>
        <p:spPr>
          <a:xfrm>
            <a:off x="731520" y="4572000"/>
            <a:ext cx="10698480" cy="365760"/>
          </a:xfrm>
          <a:prstGeom prst="rect">
            <a:avLst/>
          </a:prstGeom>
          <a:noFill/>
        </p:spPr>
        <p:txBody>
          <a:bodyPr wrap="square">
            <a:spAutoFit/>
          </a:bodyPr>
          <a:lstStyle/>
          <a:p>
            <a:pPr algn="ctr"/>
            <a:r>
              <a:rPr sz="1400" b="0">
                <a:solidFill>
                  <a:srgbClr val="78716C"/>
                </a:solidFill>
                <a:latin typeface="Helvetica"/>
              </a:rPr>
              <a:t>Each step takes seconds. We'll go through them one at a time.</a:t>
            </a:r>
          </a:p>
        </p:txBody>
      </p:sp>
      <p:sp>
        <p:nvSpPr>
          <p:cNvPr id="41" name="TextBox 40"/>
          <p:cNvSpPr txBox="1"/>
          <p:nvPr/>
        </p:nvSpPr>
        <p:spPr>
          <a:xfrm>
            <a:off x="731520" y="5212080"/>
            <a:ext cx="10698480" cy="365760"/>
          </a:xfrm>
          <a:prstGeom prst="rect">
            <a:avLst/>
          </a:prstGeom>
          <a:noFill/>
        </p:spPr>
        <p:txBody>
          <a:bodyPr wrap="square">
            <a:spAutoFit/>
          </a:bodyPr>
          <a:lstStyle/>
          <a:p>
            <a:pPr algn="ctr"/>
            <a:r>
              <a:rPr sz="1200" b="0">
                <a:solidFill>
                  <a:srgbClr val="1A1A1A"/>
                </a:solidFill>
                <a:latin typeface="Helvetica"/>
              </a:rPr>
              <a:t>Nothing is automated where judgement matters. The nurse always controls when a patient is contacted, approved, or marked as attended.</a:t>
            </a:r>
          </a:p>
        </p:txBody>
      </p:sp>
      <p:sp>
        <p:nvSpPr>
          <p:cNvPr id="42" name="TextBox 41"/>
          <p:cNvSpPr txBox="1"/>
          <p:nvPr/>
        </p:nvSpPr>
        <p:spPr>
          <a:xfrm>
            <a:off x="457200" y="6492240"/>
            <a:ext cx="5486400" cy="274320"/>
          </a:xfrm>
          <a:prstGeom prst="rect">
            <a:avLst/>
          </a:prstGeom>
          <a:noFill/>
        </p:spPr>
        <p:txBody>
          <a:bodyPr wrap="square">
            <a:spAutoFit/>
          </a:bodyPr>
          <a:lstStyle/>
          <a:p>
            <a:pPr algn="l"/>
            <a:r>
              <a:rPr sz="900" b="0">
                <a:solidFill>
                  <a:srgbClr val="78716C"/>
                </a:solidFill>
                <a:latin typeface="Helvetica"/>
              </a:rPr>
              <a:t>Goodcare Dental — Booking System Walkthrough</a:t>
            </a:r>
          </a:p>
        </p:txBody>
      </p:sp>
      <p:sp>
        <p:nvSpPr>
          <p:cNvPr id="43" name="TextBox 42"/>
          <p:cNvSpPr txBox="1"/>
          <p:nvPr/>
        </p:nvSpPr>
        <p:spPr>
          <a:xfrm>
            <a:off x="10817352" y="6492240"/>
            <a:ext cx="914400" cy="274320"/>
          </a:xfrm>
          <a:prstGeom prst="rect">
            <a:avLst/>
          </a:prstGeom>
          <a:noFill/>
        </p:spPr>
        <p:txBody>
          <a:bodyPr wrap="square">
            <a:spAutoFit/>
          </a:bodyPr>
          <a:lstStyle/>
          <a:p>
            <a:pPr algn="r"/>
            <a:r>
              <a:rPr sz="900" b="0">
                <a:solidFill>
                  <a:srgbClr val="78716C"/>
                </a:solidFill>
                <a:latin typeface="Helvetica"/>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1280160" cy="29260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tIns="0" bIns="0"/>
          <a:lstStyle/>
          <a:p>
            <a:pPr algn="ctr"/>
            <a:r>
              <a:rPr sz="900" b="1">
                <a:solidFill>
                  <a:srgbClr val="FFFFFF"/>
                </a:solidFill>
                <a:latin typeface="Helvetica"/>
              </a:rPr>
              <a:t>STEP 1 OF 9</a:t>
            </a:r>
          </a:p>
        </p:txBody>
      </p:sp>
      <p:sp>
        <p:nvSpPr>
          <p:cNvPr id="4" name="TextBox 3"/>
          <p:cNvSpPr txBox="1"/>
          <p:nvPr/>
        </p:nvSpPr>
        <p:spPr>
          <a:xfrm>
            <a:off x="731520" y="914400"/>
            <a:ext cx="10058400" cy="640080"/>
          </a:xfrm>
          <a:prstGeom prst="rect">
            <a:avLst/>
          </a:prstGeom>
          <a:noFill/>
        </p:spPr>
        <p:txBody>
          <a:bodyPr wrap="square">
            <a:spAutoFit/>
          </a:bodyPr>
          <a:lstStyle/>
          <a:p>
            <a:pPr algn="l"/>
            <a:r>
              <a:rPr sz="2800" b="1">
                <a:solidFill>
                  <a:srgbClr val="1A1A1A"/>
                </a:solidFill>
                <a:latin typeface="Helvetica"/>
              </a:rPr>
              <a:t>Patient submits a booking</a:t>
            </a:r>
          </a:p>
        </p:txBody>
      </p:sp>
      <p:sp>
        <p:nvSpPr>
          <p:cNvPr id="5" name="TextBox 4"/>
          <p:cNvSpPr txBox="1"/>
          <p:nvPr/>
        </p:nvSpPr>
        <p:spPr>
          <a:xfrm>
            <a:off x="731520" y="1554480"/>
            <a:ext cx="10058400" cy="457200"/>
          </a:xfrm>
          <a:prstGeom prst="rect">
            <a:avLst/>
          </a:prstGeom>
          <a:noFill/>
        </p:spPr>
        <p:txBody>
          <a:bodyPr wrap="square">
            <a:spAutoFit/>
          </a:bodyPr>
          <a:lstStyle/>
          <a:p>
            <a:pPr algn="l"/>
            <a:r>
              <a:rPr sz="1400" b="0">
                <a:solidFill>
                  <a:srgbClr val="78716C"/>
                </a:solidFill>
                <a:latin typeface="Helvetica"/>
              </a:rPr>
              <a:t>Public form at /book — patient has the URL from the clinic's website, WhatsApp, or QR code.</a:t>
            </a:r>
          </a:p>
        </p:txBody>
      </p:sp>
      <p:sp>
        <p:nvSpPr>
          <p:cNvPr id="6" name="TextBox 5"/>
          <p:cNvSpPr txBox="1"/>
          <p:nvPr/>
        </p:nvSpPr>
        <p:spPr>
          <a:xfrm>
            <a:off x="731520" y="2331720"/>
            <a:ext cx="5029200" cy="365760"/>
          </a:xfrm>
          <a:prstGeom prst="rect">
            <a:avLst/>
          </a:prstGeom>
          <a:noFill/>
        </p:spPr>
        <p:txBody>
          <a:bodyPr wrap="square">
            <a:spAutoFit/>
          </a:bodyPr>
          <a:lstStyle/>
          <a:p>
            <a:pPr algn="l"/>
            <a:r>
              <a:rPr sz="1200" b="1">
                <a:solidFill>
                  <a:srgbClr val="0F766E"/>
                </a:solidFill>
                <a:latin typeface="Helvetica"/>
              </a:rPr>
              <a:t>What's on the screen</a:t>
            </a:r>
          </a:p>
        </p:txBody>
      </p:sp>
      <p:sp>
        <p:nvSpPr>
          <p:cNvPr id="7" name="TextBox 6"/>
          <p:cNvSpPr txBox="1"/>
          <p:nvPr/>
        </p:nvSpPr>
        <p:spPr>
          <a:xfrm>
            <a:off x="731520" y="2697480"/>
            <a:ext cx="5029200" cy="3200400"/>
          </a:xfrm>
          <a:prstGeom prst="rect">
            <a:avLst/>
          </a:prstGeom>
          <a:noFill/>
        </p:spPr>
        <p:txBody>
          <a:bodyPr wrap="square">
            <a:spAutoFit/>
          </a:bodyPr>
          <a:lstStyle/>
          <a:p>
            <a:pPr algn="l">
              <a:spcAft>
                <a:spcPts val="800"/>
              </a:spcAft>
            </a:pPr>
            <a:r>
              <a:rPr sz="1300" b="1">
                <a:solidFill>
                  <a:srgbClr val="0D9488"/>
                </a:solidFill>
              </a:rPr>
              <a:t>● </a:t>
            </a:r>
            <a:r>
              <a:rPr sz="1300">
                <a:solidFill>
                  <a:srgbClr val="1A1A1A"/>
                </a:solidFill>
                <a:latin typeface="Helvetica"/>
              </a:rPr>
              <a:t>Picks Booking / Reschedule / Cancel at the top</a:t>
            </a:r>
          </a:p>
          <a:p>
            <a:pPr algn="l">
              <a:spcAft>
                <a:spcPts val="800"/>
              </a:spcAft>
            </a:pPr>
            <a:r>
              <a:rPr sz="1300" b="1">
                <a:solidFill>
                  <a:srgbClr val="0D9488"/>
                </a:solidFill>
              </a:rPr>
              <a:t>● </a:t>
            </a:r>
            <a:r>
              <a:rPr sz="1300">
                <a:solidFill>
                  <a:srgbClr val="1A1A1A"/>
                </a:solidFill>
                <a:latin typeface="Helvetica"/>
              </a:rPr>
              <a:t>Fills name, nationality, IC or passport, WhatsApp</a:t>
            </a:r>
          </a:p>
          <a:p>
            <a:pPr algn="l">
              <a:spcAft>
                <a:spcPts val="800"/>
              </a:spcAft>
            </a:pPr>
            <a:r>
              <a:rPr sz="1300" b="1">
                <a:solidFill>
                  <a:srgbClr val="0D9488"/>
                </a:solidFill>
              </a:rPr>
              <a:t>● </a:t>
            </a:r>
            <a:r>
              <a:rPr sz="1300">
                <a:solidFill>
                  <a:srgbClr val="1A1A1A"/>
                </a:solidFill>
                <a:latin typeface="Helvetica"/>
              </a:rPr>
              <a:t>Selects treatment (Scaling, Root canal, Whitening, Wisdom tooth, or Others)</a:t>
            </a:r>
          </a:p>
          <a:p>
            <a:pPr algn="l">
              <a:spcAft>
                <a:spcPts val="800"/>
              </a:spcAft>
            </a:pPr>
            <a:r>
              <a:rPr sz="1300" b="1">
                <a:solidFill>
                  <a:srgbClr val="0D9488"/>
                </a:solidFill>
              </a:rPr>
              <a:t>● </a:t>
            </a:r>
            <a:r>
              <a:rPr sz="1300">
                <a:solidFill>
                  <a:srgbClr val="1A1A1A"/>
                </a:solidFill>
                <a:latin typeface="Helvetica"/>
              </a:rPr>
              <a:t>Chooses doctor and date — only available slots are shown</a:t>
            </a:r>
          </a:p>
          <a:p>
            <a:pPr algn="l">
              <a:spcAft>
                <a:spcPts val="800"/>
              </a:spcAft>
            </a:pPr>
            <a:r>
              <a:rPr sz="1300" b="1">
                <a:solidFill>
                  <a:srgbClr val="0D9488"/>
                </a:solidFill>
              </a:rPr>
              <a:t>● </a:t>
            </a:r>
            <a:r>
              <a:rPr sz="1300">
                <a:solidFill>
                  <a:srgbClr val="1A1A1A"/>
                </a:solidFill>
                <a:latin typeface="Helvetica"/>
              </a:rPr>
              <a:t>Submits. Sees: 'Request received. Nurse will contact you within 24h.'</a:t>
            </a:r>
          </a:p>
        </p:txBody>
      </p:sp>
      <p:sp>
        <p:nvSpPr>
          <p:cNvPr id="8" name="TextBox 7"/>
          <p:cNvSpPr txBox="1"/>
          <p:nvPr/>
        </p:nvSpPr>
        <p:spPr>
          <a:xfrm>
            <a:off x="6126480" y="2331720"/>
            <a:ext cx="5486400" cy="365760"/>
          </a:xfrm>
          <a:prstGeom prst="rect">
            <a:avLst/>
          </a:prstGeom>
          <a:noFill/>
        </p:spPr>
        <p:txBody>
          <a:bodyPr wrap="square">
            <a:spAutoFit/>
          </a:bodyPr>
          <a:lstStyle/>
          <a:p>
            <a:pPr algn="l"/>
            <a:r>
              <a:rPr sz="1200" b="1">
                <a:solidFill>
                  <a:srgbClr val="0F766E"/>
                </a:solidFill>
                <a:latin typeface="Helvetica"/>
              </a:rPr>
              <a:t>Live view</a:t>
            </a:r>
          </a:p>
        </p:txBody>
      </p:sp>
      <p:sp>
        <p:nvSpPr>
          <p:cNvPr id="9" name="Rectangle 8"/>
          <p:cNvSpPr/>
          <p:nvPr/>
        </p:nvSpPr>
        <p:spPr>
          <a:xfrm>
            <a:off x="6126480" y="2697480"/>
            <a:ext cx="548640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Screenshot of /book — desktop ]</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a:solidFill>
                  <a:srgbClr val="78716C"/>
                </a:solidFill>
                <a:latin typeface="Helvetica"/>
              </a:rPr>
              <a:t>Goodcare Dental — Booking System Walkthrough</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a:solidFill>
                  <a:srgbClr val="78716C"/>
                </a:solidFill>
                <a:latin typeface="Helvetica"/>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1280160" cy="29260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tIns="0" bIns="0"/>
          <a:lstStyle/>
          <a:p>
            <a:pPr algn="ctr"/>
            <a:r>
              <a:rPr sz="900" b="1">
                <a:solidFill>
                  <a:srgbClr val="FFFFFF"/>
                </a:solidFill>
                <a:latin typeface="Helvetica"/>
              </a:rPr>
              <a:t>STEP 2 OF 9</a:t>
            </a:r>
          </a:p>
        </p:txBody>
      </p:sp>
      <p:sp>
        <p:nvSpPr>
          <p:cNvPr id="4" name="TextBox 3"/>
          <p:cNvSpPr txBox="1"/>
          <p:nvPr/>
        </p:nvSpPr>
        <p:spPr>
          <a:xfrm>
            <a:off x="731520" y="914400"/>
            <a:ext cx="10058400" cy="640080"/>
          </a:xfrm>
          <a:prstGeom prst="rect">
            <a:avLst/>
          </a:prstGeom>
          <a:noFill/>
        </p:spPr>
        <p:txBody>
          <a:bodyPr wrap="square">
            <a:spAutoFit/>
          </a:bodyPr>
          <a:lstStyle/>
          <a:p>
            <a:pPr algn="l"/>
            <a:r>
              <a:rPr sz="2800" b="1">
                <a:solidFill>
                  <a:srgbClr val="1A1A1A"/>
                </a:solidFill>
                <a:latin typeface="Helvetica"/>
              </a:rPr>
              <a:t>Nurse sees the pending request</a:t>
            </a:r>
          </a:p>
        </p:txBody>
      </p:sp>
      <p:sp>
        <p:nvSpPr>
          <p:cNvPr id="5" name="TextBox 4"/>
          <p:cNvSpPr txBox="1"/>
          <p:nvPr/>
        </p:nvSpPr>
        <p:spPr>
          <a:xfrm>
            <a:off x="731520" y="1554480"/>
            <a:ext cx="10058400" cy="457200"/>
          </a:xfrm>
          <a:prstGeom prst="rect">
            <a:avLst/>
          </a:prstGeom>
          <a:noFill/>
        </p:spPr>
        <p:txBody>
          <a:bodyPr wrap="square">
            <a:spAutoFit/>
          </a:bodyPr>
          <a:lstStyle/>
          <a:p>
            <a:pPr algn="l"/>
            <a:r>
              <a:rPr sz="1400" b="0">
                <a:solidFill>
                  <a:srgbClr val="78716C"/>
                </a:solidFill>
                <a:latin typeface="Helvetica"/>
              </a:rPr>
              <a:t>Nurse logs into /nurse — the Pending queue is the first screen, with a live count badge.</a:t>
            </a:r>
          </a:p>
        </p:txBody>
      </p:sp>
      <p:sp>
        <p:nvSpPr>
          <p:cNvPr id="6" name="TextBox 5"/>
          <p:cNvSpPr txBox="1"/>
          <p:nvPr/>
        </p:nvSpPr>
        <p:spPr>
          <a:xfrm>
            <a:off x="731520" y="2331720"/>
            <a:ext cx="5029200" cy="365760"/>
          </a:xfrm>
          <a:prstGeom prst="rect">
            <a:avLst/>
          </a:prstGeom>
          <a:noFill/>
        </p:spPr>
        <p:txBody>
          <a:bodyPr wrap="square">
            <a:spAutoFit/>
          </a:bodyPr>
          <a:lstStyle/>
          <a:p>
            <a:pPr algn="l"/>
            <a:r>
              <a:rPr sz="1200" b="1">
                <a:solidFill>
                  <a:srgbClr val="0F766E"/>
                </a:solidFill>
                <a:latin typeface="Helvetica"/>
              </a:rPr>
              <a:t>What's on the screen</a:t>
            </a:r>
          </a:p>
        </p:txBody>
      </p:sp>
      <p:sp>
        <p:nvSpPr>
          <p:cNvPr id="7" name="TextBox 6"/>
          <p:cNvSpPr txBox="1"/>
          <p:nvPr/>
        </p:nvSpPr>
        <p:spPr>
          <a:xfrm>
            <a:off x="731520" y="2697480"/>
            <a:ext cx="5029200" cy="3200400"/>
          </a:xfrm>
          <a:prstGeom prst="rect">
            <a:avLst/>
          </a:prstGeom>
          <a:noFill/>
        </p:spPr>
        <p:txBody>
          <a:bodyPr wrap="square">
            <a:spAutoFit/>
          </a:bodyPr>
          <a:lstStyle/>
          <a:p>
            <a:pPr algn="l">
              <a:spcAft>
                <a:spcPts val="800"/>
              </a:spcAft>
            </a:pPr>
            <a:r>
              <a:rPr sz="1300" b="1">
                <a:solidFill>
                  <a:srgbClr val="0D9488"/>
                </a:solidFill>
              </a:rPr>
              <a:t>● </a:t>
            </a:r>
            <a:r>
              <a:rPr sz="1300">
                <a:solidFill>
                  <a:srgbClr val="1A1A1A"/>
                </a:solidFill>
                <a:latin typeface="Helvetica"/>
              </a:rPr>
              <a:t>Queue card shows: patient name, WhatsApp number, doctor, slot, treatment reason</a:t>
            </a:r>
          </a:p>
          <a:p>
            <a:pPr algn="l">
              <a:spcAft>
                <a:spcPts val="800"/>
              </a:spcAft>
            </a:pPr>
            <a:r>
              <a:rPr sz="1300" b="1">
                <a:solidFill>
                  <a:srgbClr val="0D9488"/>
                </a:solidFill>
              </a:rPr>
              <a:t>● </a:t>
            </a:r>
            <a:r>
              <a:rPr sz="1300">
                <a:solidFill>
                  <a:srgbClr val="1A1A1A"/>
                </a:solidFill>
                <a:latin typeface="Helvetica"/>
              </a:rPr>
              <a:t>First-time patient and 'returning patient · 3 prior visits' badges</a:t>
            </a:r>
          </a:p>
          <a:p>
            <a:pPr algn="l">
              <a:spcAft>
                <a:spcPts val="800"/>
              </a:spcAft>
            </a:pPr>
            <a:r>
              <a:rPr sz="1300" b="1">
                <a:solidFill>
                  <a:srgbClr val="0D9488"/>
                </a:solidFill>
              </a:rPr>
              <a:t>● </a:t>
            </a:r>
            <a:r>
              <a:rPr sz="1300">
                <a:solidFill>
                  <a:srgbClr val="1A1A1A"/>
                </a:solidFill>
                <a:latin typeface="Helvetica"/>
              </a:rPr>
              <a:t>WhatsApp send buttons pre-filled with the right template</a:t>
            </a:r>
          </a:p>
          <a:p>
            <a:pPr algn="l">
              <a:spcAft>
                <a:spcPts val="800"/>
              </a:spcAft>
            </a:pPr>
            <a:r>
              <a:rPr sz="1300" b="1">
                <a:solidFill>
                  <a:srgbClr val="0D9488"/>
                </a:solidFill>
              </a:rPr>
              <a:t>● </a:t>
            </a:r>
            <a:r>
              <a:rPr sz="1300">
                <a:solidFill>
                  <a:srgbClr val="1A1A1A"/>
                </a:solidFill>
                <a:latin typeface="Helvetica"/>
              </a:rPr>
              <a:t>Approve / Reject buttons inline</a:t>
            </a:r>
          </a:p>
          <a:p>
            <a:pPr algn="l">
              <a:spcAft>
                <a:spcPts val="800"/>
              </a:spcAft>
            </a:pPr>
            <a:r>
              <a:rPr sz="1300" b="1">
                <a:solidFill>
                  <a:srgbClr val="0D9488"/>
                </a:solidFill>
              </a:rPr>
              <a:t>● </a:t>
            </a:r>
            <a:r>
              <a:rPr sz="1300">
                <a:solidFill>
                  <a:srgbClr val="1A1A1A"/>
                </a:solidFill>
                <a:latin typeface="Helvetica"/>
              </a:rPr>
              <a:t>Auto-expires after 24h if no action — flag in the system</a:t>
            </a:r>
          </a:p>
        </p:txBody>
      </p:sp>
      <p:sp>
        <p:nvSpPr>
          <p:cNvPr id="8" name="TextBox 7"/>
          <p:cNvSpPr txBox="1"/>
          <p:nvPr/>
        </p:nvSpPr>
        <p:spPr>
          <a:xfrm>
            <a:off x="6126480" y="2331720"/>
            <a:ext cx="5486400" cy="365760"/>
          </a:xfrm>
          <a:prstGeom prst="rect">
            <a:avLst/>
          </a:prstGeom>
          <a:noFill/>
        </p:spPr>
        <p:txBody>
          <a:bodyPr wrap="square">
            <a:spAutoFit/>
          </a:bodyPr>
          <a:lstStyle/>
          <a:p>
            <a:pPr algn="l"/>
            <a:r>
              <a:rPr sz="1200" b="1">
                <a:solidFill>
                  <a:srgbClr val="0F766E"/>
                </a:solidFill>
                <a:latin typeface="Helvetica"/>
              </a:rPr>
              <a:t>Live view</a:t>
            </a:r>
          </a:p>
        </p:txBody>
      </p:sp>
      <p:sp>
        <p:nvSpPr>
          <p:cNvPr id="9" name="Rectangle 8"/>
          <p:cNvSpPr/>
          <p:nvPr/>
        </p:nvSpPr>
        <p:spPr>
          <a:xfrm>
            <a:off x="6126480" y="2697480"/>
            <a:ext cx="548640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Screenshot of /nurse — Pending queue ]</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a:solidFill>
                  <a:srgbClr val="78716C"/>
                </a:solidFill>
                <a:latin typeface="Helvetica"/>
              </a:rPr>
              <a:t>Goodcare Dental — Booking System Walkthrough</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a:solidFill>
                  <a:srgbClr val="78716C"/>
                </a:solidFill>
                <a:latin typeface="Helvetica"/>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1280160" cy="29260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tIns="0" bIns="0"/>
          <a:lstStyle/>
          <a:p>
            <a:pPr algn="ctr"/>
            <a:r>
              <a:rPr sz="900" b="1">
                <a:solidFill>
                  <a:srgbClr val="FFFFFF"/>
                </a:solidFill>
                <a:latin typeface="Helvetica"/>
              </a:rPr>
              <a:t>STEP 3 OF 9</a:t>
            </a:r>
          </a:p>
        </p:txBody>
      </p:sp>
      <p:sp>
        <p:nvSpPr>
          <p:cNvPr id="4" name="TextBox 3"/>
          <p:cNvSpPr txBox="1"/>
          <p:nvPr/>
        </p:nvSpPr>
        <p:spPr>
          <a:xfrm>
            <a:off x="731520" y="914400"/>
            <a:ext cx="10058400" cy="640080"/>
          </a:xfrm>
          <a:prstGeom prst="rect">
            <a:avLst/>
          </a:prstGeom>
          <a:noFill/>
        </p:spPr>
        <p:txBody>
          <a:bodyPr wrap="square">
            <a:spAutoFit/>
          </a:bodyPr>
          <a:lstStyle/>
          <a:p>
            <a:pPr algn="l"/>
            <a:r>
              <a:rPr sz="2800" b="1">
                <a:solidFill>
                  <a:srgbClr val="1A1A1A"/>
                </a:solidFill>
                <a:latin typeface="Helvetica"/>
              </a:rPr>
              <a:t>Nurse verifies with the patient via WhatsApp</a:t>
            </a:r>
          </a:p>
        </p:txBody>
      </p:sp>
      <p:sp>
        <p:nvSpPr>
          <p:cNvPr id="5" name="TextBox 4"/>
          <p:cNvSpPr txBox="1"/>
          <p:nvPr/>
        </p:nvSpPr>
        <p:spPr>
          <a:xfrm>
            <a:off x="731520" y="1554480"/>
            <a:ext cx="10058400" cy="457200"/>
          </a:xfrm>
          <a:prstGeom prst="rect">
            <a:avLst/>
          </a:prstGeom>
          <a:noFill/>
        </p:spPr>
        <p:txBody>
          <a:bodyPr wrap="square">
            <a:spAutoFit/>
          </a:bodyPr>
          <a:lstStyle/>
          <a:p>
            <a:pPr algn="l"/>
            <a:r>
              <a:rPr sz="1400" b="0">
                <a:solidFill>
                  <a:srgbClr val="78716C"/>
                </a:solidFill>
                <a:latin typeface="Helvetica"/>
              </a:rPr>
              <a:t>Nurse taps 'Check with patient'. Her own WhatsApp opens with the verification message pre-filled.</a:t>
            </a:r>
          </a:p>
        </p:txBody>
      </p:sp>
      <p:sp>
        <p:nvSpPr>
          <p:cNvPr id="6" name="TextBox 5"/>
          <p:cNvSpPr txBox="1"/>
          <p:nvPr/>
        </p:nvSpPr>
        <p:spPr>
          <a:xfrm>
            <a:off x="731520" y="2331720"/>
            <a:ext cx="5029200" cy="365760"/>
          </a:xfrm>
          <a:prstGeom prst="rect">
            <a:avLst/>
          </a:prstGeom>
          <a:noFill/>
        </p:spPr>
        <p:txBody>
          <a:bodyPr wrap="square">
            <a:spAutoFit/>
          </a:bodyPr>
          <a:lstStyle/>
          <a:p>
            <a:pPr algn="l"/>
            <a:r>
              <a:rPr sz="1200" b="1">
                <a:solidFill>
                  <a:srgbClr val="0F766E"/>
                </a:solidFill>
                <a:latin typeface="Helvetica"/>
              </a:rPr>
              <a:t>What's on the screen</a:t>
            </a:r>
          </a:p>
        </p:txBody>
      </p:sp>
      <p:sp>
        <p:nvSpPr>
          <p:cNvPr id="7" name="TextBox 6"/>
          <p:cNvSpPr txBox="1"/>
          <p:nvPr/>
        </p:nvSpPr>
        <p:spPr>
          <a:xfrm>
            <a:off x="731520" y="2697480"/>
            <a:ext cx="5029200" cy="3200400"/>
          </a:xfrm>
          <a:prstGeom prst="rect">
            <a:avLst/>
          </a:prstGeom>
          <a:noFill/>
        </p:spPr>
        <p:txBody>
          <a:bodyPr wrap="square">
            <a:spAutoFit/>
          </a:bodyPr>
          <a:lstStyle/>
          <a:p>
            <a:pPr algn="l">
              <a:spcAft>
                <a:spcPts val="800"/>
              </a:spcAft>
            </a:pPr>
            <a:r>
              <a:rPr sz="1300" b="1">
                <a:solidFill>
                  <a:srgbClr val="0D9488"/>
                </a:solidFill>
              </a:rPr>
              <a:t>● </a:t>
            </a:r>
            <a:r>
              <a:rPr sz="1300">
                <a:solidFill>
                  <a:srgbClr val="1A1A1A"/>
                </a:solidFill>
                <a:latin typeface="Helvetica"/>
              </a:rPr>
              <a:t>Tap opens wa.me link — message is already typed</a:t>
            </a:r>
          </a:p>
          <a:p>
            <a:pPr algn="l">
              <a:spcAft>
                <a:spcPts val="800"/>
              </a:spcAft>
            </a:pPr>
            <a:r>
              <a:rPr sz="1300" b="1">
                <a:solidFill>
                  <a:srgbClr val="0D9488"/>
                </a:solidFill>
              </a:rPr>
              <a:t>● </a:t>
            </a:r>
            <a:r>
              <a:rPr sz="1300">
                <a:solidFill>
                  <a:srgbClr val="1A1A1A"/>
                </a:solidFill>
                <a:latin typeface="Helvetica"/>
              </a:rPr>
              <a:t>Goes from her clinic-issued WhatsApp account, not the system's</a:t>
            </a:r>
          </a:p>
          <a:p>
            <a:pPr algn="l">
              <a:spcAft>
                <a:spcPts val="800"/>
              </a:spcAft>
            </a:pPr>
            <a:r>
              <a:rPr sz="1300" b="1">
                <a:solidFill>
                  <a:srgbClr val="0D9488"/>
                </a:solidFill>
              </a:rPr>
              <a:t>● </a:t>
            </a:r>
            <a:r>
              <a:rPr sz="1300">
                <a:solidFill>
                  <a:srgbClr val="1A1A1A"/>
                </a:solidFill>
                <a:latin typeface="Helvetica"/>
              </a:rPr>
              <a:t>Template is editable per clinic (Settings → WhatsApp templates)</a:t>
            </a:r>
          </a:p>
          <a:p>
            <a:pPr algn="l">
              <a:spcAft>
                <a:spcPts val="800"/>
              </a:spcAft>
            </a:pPr>
            <a:r>
              <a:rPr sz="1300" b="1">
                <a:solidFill>
                  <a:srgbClr val="0D9488"/>
                </a:solidFill>
              </a:rPr>
              <a:t>● </a:t>
            </a:r>
            <a:r>
              <a:rPr sz="1300">
                <a:solidFill>
                  <a:srgbClr val="1A1A1A"/>
                </a:solidFill>
                <a:latin typeface="Helvetica"/>
              </a:rPr>
              <a:t>System records the click: who sent, when</a:t>
            </a:r>
          </a:p>
          <a:p>
            <a:pPr algn="l">
              <a:spcAft>
                <a:spcPts val="800"/>
              </a:spcAft>
            </a:pPr>
            <a:r>
              <a:rPr sz="1300" b="1">
                <a:solidFill>
                  <a:srgbClr val="0D9488"/>
                </a:solidFill>
              </a:rPr>
              <a:t>● </a:t>
            </a:r>
            <a:r>
              <a:rPr sz="1300">
                <a:solidFill>
                  <a:srgbClr val="1A1A1A"/>
                </a:solidFill>
                <a:latin typeface="Helvetica"/>
              </a:rPr>
              <a:t>No per-message API cost — uses her existing WhatsApp</a:t>
            </a:r>
          </a:p>
        </p:txBody>
      </p:sp>
      <p:sp>
        <p:nvSpPr>
          <p:cNvPr id="8" name="TextBox 7"/>
          <p:cNvSpPr txBox="1"/>
          <p:nvPr/>
        </p:nvSpPr>
        <p:spPr>
          <a:xfrm>
            <a:off x="6126480" y="2331720"/>
            <a:ext cx="5486400" cy="365760"/>
          </a:xfrm>
          <a:prstGeom prst="rect">
            <a:avLst/>
          </a:prstGeom>
          <a:noFill/>
        </p:spPr>
        <p:txBody>
          <a:bodyPr wrap="square">
            <a:spAutoFit/>
          </a:bodyPr>
          <a:lstStyle/>
          <a:p>
            <a:pPr algn="l"/>
            <a:r>
              <a:rPr sz="1200" b="1">
                <a:solidFill>
                  <a:srgbClr val="0F766E"/>
                </a:solidFill>
                <a:latin typeface="Helvetica"/>
              </a:rPr>
              <a:t>Live view</a:t>
            </a:r>
          </a:p>
        </p:txBody>
      </p:sp>
      <p:sp>
        <p:nvSpPr>
          <p:cNvPr id="9" name="Rectangle 8"/>
          <p:cNvSpPr/>
          <p:nvPr/>
        </p:nvSpPr>
        <p:spPr>
          <a:xfrm>
            <a:off x="6126480" y="2697480"/>
            <a:ext cx="548640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Screenshot of WhatsApp template (mobile mockup) ]</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a:solidFill>
                  <a:srgbClr val="78716C"/>
                </a:solidFill>
                <a:latin typeface="Helvetica"/>
              </a:rPr>
              <a:t>Goodcare Dental — Booking System Walkthrough</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a:solidFill>
                  <a:srgbClr val="78716C"/>
                </a:solidFill>
                <a:latin typeface="Helvetica"/>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1280160" cy="29260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tIns="0" bIns="0"/>
          <a:lstStyle/>
          <a:p>
            <a:pPr algn="ctr"/>
            <a:r>
              <a:rPr sz="900" b="1">
                <a:solidFill>
                  <a:srgbClr val="FFFFFF"/>
                </a:solidFill>
                <a:latin typeface="Helvetica"/>
              </a:rPr>
              <a:t>STEP 4 OF 9</a:t>
            </a:r>
          </a:p>
        </p:txBody>
      </p:sp>
      <p:sp>
        <p:nvSpPr>
          <p:cNvPr id="4" name="TextBox 3"/>
          <p:cNvSpPr txBox="1"/>
          <p:nvPr/>
        </p:nvSpPr>
        <p:spPr>
          <a:xfrm>
            <a:off x="731520" y="914400"/>
            <a:ext cx="10058400" cy="640080"/>
          </a:xfrm>
          <a:prstGeom prst="rect">
            <a:avLst/>
          </a:prstGeom>
          <a:noFill/>
        </p:spPr>
        <p:txBody>
          <a:bodyPr wrap="square">
            <a:spAutoFit/>
          </a:bodyPr>
          <a:lstStyle/>
          <a:p>
            <a:pPr algn="l"/>
            <a:r>
              <a:rPr sz="2800" b="1">
                <a:solidFill>
                  <a:srgbClr val="1A1A1A"/>
                </a:solidFill>
                <a:latin typeface="Helvetica"/>
              </a:rPr>
              <a:t>Patient replies — the conversation is normal WhatsApp</a:t>
            </a:r>
          </a:p>
        </p:txBody>
      </p:sp>
      <p:sp>
        <p:nvSpPr>
          <p:cNvPr id="5" name="TextBox 4"/>
          <p:cNvSpPr txBox="1"/>
          <p:nvPr/>
        </p:nvSpPr>
        <p:spPr>
          <a:xfrm>
            <a:off x="731520" y="1554480"/>
            <a:ext cx="10058400" cy="457200"/>
          </a:xfrm>
          <a:prstGeom prst="rect">
            <a:avLst/>
          </a:prstGeom>
          <a:noFill/>
        </p:spPr>
        <p:txBody>
          <a:bodyPr wrap="square">
            <a:spAutoFit/>
          </a:bodyPr>
          <a:lstStyle/>
          <a:p>
            <a:pPr algn="l"/>
            <a:r>
              <a:rPr sz="1400" b="0">
                <a:solidFill>
                  <a:srgbClr val="78716C"/>
                </a:solidFill>
                <a:latin typeface="Helvetica"/>
              </a:rPr>
              <a:t>Patient replies 'YES' (or asks for changes) to the nurse's message — entirely outside the app.</a:t>
            </a:r>
          </a:p>
        </p:txBody>
      </p:sp>
      <p:sp>
        <p:nvSpPr>
          <p:cNvPr id="6" name="TextBox 5"/>
          <p:cNvSpPr txBox="1"/>
          <p:nvPr/>
        </p:nvSpPr>
        <p:spPr>
          <a:xfrm>
            <a:off x="731520" y="2331720"/>
            <a:ext cx="5029200" cy="365760"/>
          </a:xfrm>
          <a:prstGeom prst="rect">
            <a:avLst/>
          </a:prstGeom>
          <a:noFill/>
        </p:spPr>
        <p:txBody>
          <a:bodyPr wrap="square">
            <a:spAutoFit/>
          </a:bodyPr>
          <a:lstStyle/>
          <a:p>
            <a:pPr algn="l"/>
            <a:r>
              <a:rPr sz="1200" b="1">
                <a:solidFill>
                  <a:srgbClr val="0F766E"/>
                </a:solidFill>
                <a:latin typeface="Helvetica"/>
              </a:rPr>
              <a:t>What's on the screen</a:t>
            </a:r>
          </a:p>
        </p:txBody>
      </p:sp>
      <p:sp>
        <p:nvSpPr>
          <p:cNvPr id="7" name="TextBox 6"/>
          <p:cNvSpPr txBox="1"/>
          <p:nvPr/>
        </p:nvSpPr>
        <p:spPr>
          <a:xfrm>
            <a:off x="731520" y="2697480"/>
            <a:ext cx="5029200" cy="3200400"/>
          </a:xfrm>
          <a:prstGeom prst="rect">
            <a:avLst/>
          </a:prstGeom>
          <a:noFill/>
        </p:spPr>
        <p:txBody>
          <a:bodyPr wrap="square">
            <a:spAutoFit/>
          </a:bodyPr>
          <a:lstStyle/>
          <a:p>
            <a:pPr algn="l">
              <a:spcAft>
                <a:spcPts val="800"/>
              </a:spcAft>
            </a:pPr>
            <a:r>
              <a:rPr sz="1300" b="1">
                <a:solidFill>
                  <a:srgbClr val="0D9488"/>
                </a:solidFill>
              </a:rPr>
              <a:t>● </a:t>
            </a:r>
            <a:r>
              <a:rPr sz="1300">
                <a:solidFill>
                  <a:srgbClr val="1A1A1A"/>
                </a:solidFill>
                <a:latin typeface="Helvetica"/>
              </a:rPr>
              <a:t>No special patient-side software</a:t>
            </a:r>
          </a:p>
          <a:p>
            <a:pPr algn="l">
              <a:spcAft>
                <a:spcPts val="800"/>
              </a:spcAft>
            </a:pPr>
            <a:r>
              <a:rPr sz="1300" b="1">
                <a:solidFill>
                  <a:srgbClr val="0D9488"/>
                </a:solidFill>
              </a:rPr>
              <a:t>● </a:t>
            </a:r>
            <a:r>
              <a:rPr sz="1300">
                <a:solidFill>
                  <a:srgbClr val="1A1A1A"/>
                </a:solidFill>
                <a:latin typeface="Helvetica"/>
              </a:rPr>
              <a:t>Conversation history lives in WhatsApp — what nurses already know</a:t>
            </a:r>
          </a:p>
          <a:p>
            <a:pPr algn="l">
              <a:spcAft>
                <a:spcPts val="800"/>
              </a:spcAft>
            </a:pPr>
            <a:r>
              <a:rPr sz="1300" b="1">
                <a:solidFill>
                  <a:srgbClr val="0D9488"/>
                </a:solidFill>
              </a:rPr>
              <a:t>● </a:t>
            </a:r>
            <a:r>
              <a:rPr sz="1300">
                <a:solidFill>
                  <a:srgbClr val="1A1A1A"/>
                </a:solidFill>
                <a:latin typeface="Helvetica"/>
              </a:rPr>
              <a:t>If patient asks to change time/doctor, nurse can update the booking in the dashboard</a:t>
            </a:r>
          </a:p>
          <a:p>
            <a:pPr algn="l">
              <a:spcAft>
                <a:spcPts val="800"/>
              </a:spcAft>
            </a:pPr>
            <a:r>
              <a:rPr sz="1300" b="1">
                <a:solidFill>
                  <a:srgbClr val="0D9488"/>
                </a:solidFill>
              </a:rPr>
              <a:t>● </a:t>
            </a:r>
            <a:r>
              <a:rPr sz="1300">
                <a:solidFill>
                  <a:srgbClr val="1A1A1A"/>
                </a:solidFill>
                <a:latin typeface="Helvetica"/>
              </a:rPr>
              <a:t>If patient never replies, nurse can resend or eventually reject</a:t>
            </a:r>
          </a:p>
        </p:txBody>
      </p:sp>
      <p:sp>
        <p:nvSpPr>
          <p:cNvPr id="8" name="TextBox 7"/>
          <p:cNvSpPr txBox="1"/>
          <p:nvPr/>
        </p:nvSpPr>
        <p:spPr>
          <a:xfrm>
            <a:off x="6126480" y="2331720"/>
            <a:ext cx="5486400" cy="365760"/>
          </a:xfrm>
          <a:prstGeom prst="rect">
            <a:avLst/>
          </a:prstGeom>
          <a:noFill/>
        </p:spPr>
        <p:txBody>
          <a:bodyPr wrap="square">
            <a:spAutoFit/>
          </a:bodyPr>
          <a:lstStyle/>
          <a:p>
            <a:pPr algn="l"/>
            <a:r>
              <a:rPr sz="1200" b="1">
                <a:solidFill>
                  <a:srgbClr val="0F766E"/>
                </a:solidFill>
                <a:latin typeface="Helvetica"/>
              </a:rPr>
              <a:t>Live view</a:t>
            </a:r>
          </a:p>
        </p:txBody>
      </p:sp>
      <p:sp>
        <p:nvSpPr>
          <p:cNvPr id="9" name="Rectangle 8"/>
          <p:cNvSpPr/>
          <p:nvPr/>
        </p:nvSpPr>
        <p:spPr>
          <a:xfrm>
            <a:off x="6126480" y="2697480"/>
            <a:ext cx="548640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Mockup: WhatsApp chat thread ]</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a:solidFill>
                  <a:srgbClr val="78716C"/>
                </a:solidFill>
                <a:latin typeface="Helvetica"/>
              </a:rPr>
              <a:t>Goodcare Dental — Booking System Walkthrough</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a:solidFill>
                  <a:srgbClr val="78716C"/>
                </a:solidFill>
                <a:latin typeface="Helvetica"/>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1280160" cy="29260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tIns="0" bIns="0"/>
          <a:lstStyle/>
          <a:p>
            <a:pPr algn="ctr"/>
            <a:r>
              <a:rPr sz="900" b="1">
                <a:solidFill>
                  <a:srgbClr val="FFFFFF"/>
                </a:solidFill>
                <a:latin typeface="Helvetica"/>
              </a:rPr>
              <a:t>STEP 5 OF 9</a:t>
            </a:r>
          </a:p>
        </p:txBody>
      </p:sp>
      <p:sp>
        <p:nvSpPr>
          <p:cNvPr id="4" name="TextBox 3"/>
          <p:cNvSpPr txBox="1"/>
          <p:nvPr/>
        </p:nvSpPr>
        <p:spPr>
          <a:xfrm>
            <a:off x="731520" y="914400"/>
            <a:ext cx="10058400" cy="640080"/>
          </a:xfrm>
          <a:prstGeom prst="rect">
            <a:avLst/>
          </a:prstGeom>
          <a:noFill/>
        </p:spPr>
        <p:txBody>
          <a:bodyPr wrap="square">
            <a:spAutoFit/>
          </a:bodyPr>
          <a:lstStyle/>
          <a:p>
            <a:pPr algn="l"/>
            <a:r>
              <a:rPr sz="2800" b="1">
                <a:solidFill>
                  <a:srgbClr val="1A1A1A"/>
                </a:solidFill>
                <a:latin typeface="Helvetica"/>
              </a:rPr>
              <a:t>Nurse approves the booking</a:t>
            </a:r>
          </a:p>
        </p:txBody>
      </p:sp>
      <p:sp>
        <p:nvSpPr>
          <p:cNvPr id="5" name="TextBox 4"/>
          <p:cNvSpPr txBox="1"/>
          <p:nvPr/>
        </p:nvSpPr>
        <p:spPr>
          <a:xfrm>
            <a:off x="731520" y="1554480"/>
            <a:ext cx="10058400" cy="457200"/>
          </a:xfrm>
          <a:prstGeom prst="rect">
            <a:avLst/>
          </a:prstGeom>
          <a:noFill/>
        </p:spPr>
        <p:txBody>
          <a:bodyPr wrap="square">
            <a:spAutoFit/>
          </a:bodyPr>
          <a:lstStyle/>
          <a:p>
            <a:pPr algn="l"/>
            <a:r>
              <a:rPr sz="1400" b="0">
                <a:solidFill>
                  <a:srgbClr val="78716C"/>
                </a:solidFill>
                <a:latin typeface="Helvetica"/>
              </a:rPr>
              <a:t>Nurse clicks Approve in the Pending queue — booking flips to 'Confirmed'.</a:t>
            </a:r>
          </a:p>
        </p:txBody>
      </p:sp>
      <p:sp>
        <p:nvSpPr>
          <p:cNvPr id="6" name="TextBox 5"/>
          <p:cNvSpPr txBox="1"/>
          <p:nvPr/>
        </p:nvSpPr>
        <p:spPr>
          <a:xfrm>
            <a:off x="731520" y="2331720"/>
            <a:ext cx="5029200" cy="365760"/>
          </a:xfrm>
          <a:prstGeom prst="rect">
            <a:avLst/>
          </a:prstGeom>
          <a:noFill/>
        </p:spPr>
        <p:txBody>
          <a:bodyPr wrap="square">
            <a:spAutoFit/>
          </a:bodyPr>
          <a:lstStyle/>
          <a:p>
            <a:pPr algn="l"/>
            <a:r>
              <a:rPr sz="1200" b="1">
                <a:solidFill>
                  <a:srgbClr val="0F766E"/>
                </a:solidFill>
                <a:latin typeface="Helvetica"/>
              </a:rPr>
              <a:t>What's on the screen</a:t>
            </a:r>
          </a:p>
        </p:txBody>
      </p:sp>
      <p:sp>
        <p:nvSpPr>
          <p:cNvPr id="7" name="TextBox 6"/>
          <p:cNvSpPr txBox="1"/>
          <p:nvPr/>
        </p:nvSpPr>
        <p:spPr>
          <a:xfrm>
            <a:off x="731520" y="2697480"/>
            <a:ext cx="5029200" cy="3200400"/>
          </a:xfrm>
          <a:prstGeom prst="rect">
            <a:avLst/>
          </a:prstGeom>
          <a:noFill/>
        </p:spPr>
        <p:txBody>
          <a:bodyPr wrap="square">
            <a:spAutoFit/>
          </a:bodyPr>
          <a:lstStyle/>
          <a:p>
            <a:pPr algn="l">
              <a:spcAft>
                <a:spcPts val="800"/>
              </a:spcAft>
            </a:pPr>
            <a:r>
              <a:rPr sz="1300" b="1">
                <a:solidFill>
                  <a:srgbClr val="0D9488"/>
                </a:solidFill>
              </a:rPr>
              <a:t>● </a:t>
            </a:r>
            <a:r>
              <a:rPr sz="1300">
                <a:solidFill>
                  <a:srgbClr val="1A1A1A"/>
                </a:solidFill>
                <a:latin typeface="Helvetica"/>
              </a:rPr>
              <a:t>Status changes from 'pending' to 'confirmed'</a:t>
            </a:r>
          </a:p>
          <a:p>
            <a:pPr algn="l">
              <a:spcAft>
                <a:spcPts val="800"/>
              </a:spcAft>
            </a:pPr>
            <a:r>
              <a:rPr sz="1300" b="1">
                <a:solidFill>
                  <a:srgbClr val="0D9488"/>
                </a:solidFill>
              </a:rPr>
              <a:t>● </a:t>
            </a:r>
            <a:r>
              <a:rPr sz="1300">
                <a:solidFill>
                  <a:srgbClr val="1A1A1A"/>
                </a:solidFill>
                <a:latin typeface="Helvetica"/>
              </a:rPr>
              <a:t>Doctor's calendar shows the booking as a green block</a:t>
            </a:r>
          </a:p>
          <a:p>
            <a:pPr algn="l">
              <a:spcAft>
                <a:spcPts val="800"/>
              </a:spcAft>
            </a:pPr>
            <a:r>
              <a:rPr sz="1300" b="1">
                <a:solidFill>
                  <a:srgbClr val="0D9488"/>
                </a:solidFill>
              </a:rPr>
              <a:t>● </a:t>
            </a:r>
            <a:r>
              <a:rPr sz="1300">
                <a:solidFill>
                  <a:srgbClr val="1A1A1A"/>
                </a:solidFill>
                <a:latin typeface="Helvetica"/>
              </a:rPr>
              <a:t>Slot is locked — no other patient can book this time</a:t>
            </a:r>
          </a:p>
          <a:p>
            <a:pPr algn="l">
              <a:spcAft>
                <a:spcPts val="800"/>
              </a:spcAft>
            </a:pPr>
            <a:r>
              <a:rPr sz="1300" b="1">
                <a:solidFill>
                  <a:srgbClr val="0D9488"/>
                </a:solidFill>
              </a:rPr>
              <a:t>● </a:t>
            </a:r>
            <a:r>
              <a:rPr sz="1300">
                <a:solidFill>
                  <a:srgbClr val="1A1A1A"/>
                </a:solidFill>
                <a:latin typeface="Helvetica"/>
              </a:rPr>
              <a:t>Audit log records: who approved, when</a:t>
            </a:r>
          </a:p>
          <a:p>
            <a:pPr algn="l">
              <a:spcAft>
                <a:spcPts val="800"/>
              </a:spcAft>
            </a:pPr>
            <a:r>
              <a:rPr sz="1300" b="1">
                <a:solidFill>
                  <a:srgbClr val="0D9488"/>
                </a:solidFill>
              </a:rPr>
              <a:t>● </a:t>
            </a:r>
            <a:r>
              <a:rPr sz="1300">
                <a:solidFill>
                  <a:srgbClr val="1A1A1A"/>
                </a:solidFill>
                <a:latin typeface="Helvetica"/>
              </a:rPr>
              <a:t>If it was a reschedule request, the original booking is auto-cancelled</a:t>
            </a:r>
          </a:p>
        </p:txBody>
      </p:sp>
      <p:sp>
        <p:nvSpPr>
          <p:cNvPr id="8" name="TextBox 7"/>
          <p:cNvSpPr txBox="1"/>
          <p:nvPr/>
        </p:nvSpPr>
        <p:spPr>
          <a:xfrm>
            <a:off x="6126480" y="2331720"/>
            <a:ext cx="5486400" cy="365760"/>
          </a:xfrm>
          <a:prstGeom prst="rect">
            <a:avLst/>
          </a:prstGeom>
          <a:noFill/>
        </p:spPr>
        <p:txBody>
          <a:bodyPr wrap="square">
            <a:spAutoFit/>
          </a:bodyPr>
          <a:lstStyle/>
          <a:p>
            <a:pPr algn="l"/>
            <a:r>
              <a:rPr sz="1200" b="1">
                <a:solidFill>
                  <a:srgbClr val="0F766E"/>
                </a:solidFill>
                <a:latin typeface="Helvetica"/>
              </a:rPr>
              <a:t>Live view</a:t>
            </a:r>
          </a:p>
        </p:txBody>
      </p:sp>
      <p:sp>
        <p:nvSpPr>
          <p:cNvPr id="9" name="Rectangle 8"/>
          <p:cNvSpPr/>
          <p:nvPr/>
        </p:nvSpPr>
        <p:spPr>
          <a:xfrm>
            <a:off x="6126480" y="2697480"/>
            <a:ext cx="548640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Screenshot: Approve action + confirmed booking on calendar ]</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a:solidFill>
                  <a:srgbClr val="78716C"/>
                </a:solidFill>
                <a:latin typeface="Helvetica"/>
              </a:rPr>
              <a:t>Goodcare Dental — Booking System Walkthrough</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a:solidFill>
                  <a:srgbClr val="78716C"/>
                </a:solidFill>
                <a:latin typeface="Helvetica"/>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1280160" cy="29260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tIns="0" bIns="0"/>
          <a:lstStyle/>
          <a:p>
            <a:pPr algn="ctr"/>
            <a:r>
              <a:rPr sz="900" b="1">
                <a:solidFill>
                  <a:srgbClr val="FFFFFF"/>
                </a:solidFill>
                <a:latin typeface="Helvetica"/>
              </a:rPr>
              <a:t>STEP 6 OF 9</a:t>
            </a:r>
          </a:p>
        </p:txBody>
      </p:sp>
      <p:sp>
        <p:nvSpPr>
          <p:cNvPr id="4" name="TextBox 3"/>
          <p:cNvSpPr txBox="1"/>
          <p:nvPr/>
        </p:nvSpPr>
        <p:spPr>
          <a:xfrm>
            <a:off x="731520" y="914400"/>
            <a:ext cx="10058400" cy="640080"/>
          </a:xfrm>
          <a:prstGeom prst="rect">
            <a:avLst/>
          </a:prstGeom>
          <a:noFill/>
        </p:spPr>
        <p:txBody>
          <a:bodyPr wrap="square">
            <a:spAutoFit/>
          </a:bodyPr>
          <a:lstStyle/>
          <a:p>
            <a:pPr algn="l"/>
            <a:r>
              <a:rPr sz="2800" b="1">
                <a:solidFill>
                  <a:srgbClr val="1A1A1A"/>
                </a:solidFill>
                <a:latin typeface="Helvetica"/>
              </a:rPr>
              <a:t>Confirmation message sent</a:t>
            </a:r>
          </a:p>
        </p:txBody>
      </p:sp>
      <p:sp>
        <p:nvSpPr>
          <p:cNvPr id="5" name="TextBox 4"/>
          <p:cNvSpPr txBox="1"/>
          <p:nvPr/>
        </p:nvSpPr>
        <p:spPr>
          <a:xfrm>
            <a:off x="731520" y="1554480"/>
            <a:ext cx="10058400" cy="457200"/>
          </a:xfrm>
          <a:prstGeom prst="rect">
            <a:avLst/>
          </a:prstGeom>
          <a:noFill/>
        </p:spPr>
        <p:txBody>
          <a:bodyPr wrap="square">
            <a:spAutoFit/>
          </a:bodyPr>
          <a:lstStyle/>
          <a:p>
            <a:pPr algn="l"/>
            <a:r>
              <a:rPr sz="1400" b="0">
                <a:solidFill>
                  <a:srgbClr val="78716C"/>
                </a:solidFill>
                <a:latin typeface="Helvetica"/>
              </a:rPr>
              <a:t>Nurse clicks 'Send confirmation' — WhatsApp opens with the confirmation template, she sends it.</a:t>
            </a:r>
          </a:p>
        </p:txBody>
      </p:sp>
      <p:sp>
        <p:nvSpPr>
          <p:cNvPr id="6" name="TextBox 5"/>
          <p:cNvSpPr txBox="1"/>
          <p:nvPr/>
        </p:nvSpPr>
        <p:spPr>
          <a:xfrm>
            <a:off x="731520" y="2331720"/>
            <a:ext cx="5029200" cy="365760"/>
          </a:xfrm>
          <a:prstGeom prst="rect">
            <a:avLst/>
          </a:prstGeom>
          <a:noFill/>
        </p:spPr>
        <p:txBody>
          <a:bodyPr wrap="square">
            <a:spAutoFit/>
          </a:bodyPr>
          <a:lstStyle/>
          <a:p>
            <a:pPr algn="l"/>
            <a:r>
              <a:rPr sz="1200" b="1">
                <a:solidFill>
                  <a:srgbClr val="0F766E"/>
                </a:solidFill>
                <a:latin typeface="Helvetica"/>
              </a:rPr>
              <a:t>What's on the screen</a:t>
            </a:r>
          </a:p>
        </p:txBody>
      </p:sp>
      <p:sp>
        <p:nvSpPr>
          <p:cNvPr id="7" name="TextBox 6"/>
          <p:cNvSpPr txBox="1"/>
          <p:nvPr/>
        </p:nvSpPr>
        <p:spPr>
          <a:xfrm>
            <a:off x="731520" y="2697480"/>
            <a:ext cx="5029200" cy="3200400"/>
          </a:xfrm>
          <a:prstGeom prst="rect">
            <a:avLst/>
          </a:prstGeom>
          <a:noFill/>
        </p:spPr>
        <p:txBody>
          <a:bodyPr wrap="square">
            <a:spAutoFit/>
          </a:bodyPr>
          <a:lstStyle/>
          <a:p>
            <a:pPr algn="l">
              <a:spcAft>
                <a:spcPts val="800"/>
              </a:spcAft>
            </a:pPr>
            <a:r>
              <a:rPr sz="1300" b="1">
                <a:solidFill>
                  <a:srgbClr val="0D9488"/>
                </a:solidFill>
              </a:rPr>
              <a:t>● </a:t>
            </a:r>
            <a:r>
              <a:rPr sz="1300">
                <a:solidFill>
                  <a:srgbClr val="1A1A1A"/>
                </a:solidFill>
                <a:latin typeface="Helvetica"/>
              </a:rPr>
              <a:t>WhatsApp opens with confirmation template pre-filled</a:t>
            </a:r>
          </a:p>
          <a:p>
            <a:pPr algn="l">
              <a:spcAft>
                <a:spcPts val="800"/>
              </a:spcAft>
            </a:pPr>
            <a:r>
              <a:rPr sz="1300" b="1">
                <a:solidFill>
                  <a:srgbClr val="0D9488"/>
                </a:solidFill>
              </a:rPr>
              <a:t>● </a:t>
            </a:r>
            <a:r>
              <a:rPr sz="1300">
                <a:solidFill>
                  <a:srgbClr val="1A1A1A"/>
                </a:solidFill>
                <a:latin typeface="Helvetica"/>
              </a:rPr>
              <a:t>Message ends with the clinic's name and arrival instructions</a:t>
            </a:r>
          </a:p>
          <a:p>
            <a:pPr algn="l">
              <a:spcAft>
                <a:spcPts val="800"/>
              </a:spcAft>
            </a:pPr>
            <a:r>
              <a:rPr sz="1300" b="1">
                <a:solidFill>
                  <a:srgbClr val="0D9488"/>
                </a:solidFill>
              </a:rPr>
              <a:t>● </a:t>
            </a:r>
            <a:r>
              <a:rPr sz="1300">
                <a:solidFill>
                  <a:srgbClr val="1A1A1A"/>
                </a:solidFill>
                <a:latin typeface="Helvetica"/>
              </a:rPr>
              <a:t>Send tracking: '✓ Confirmation sent by [nurse], 2:43 PM' shows on the booking row</a:t>
            </a:r>
          </a:p>
          <a:p>
            <a:pPr algn="l">
              <a:spcAft>
                <a:spcPts val="800"/>
              </a:spcAft>
            </a:pPr>
            <a:r>
              <a:rPr sz="1300" b="1">
                <a:solidFill>
                  <a:srgbClr val="0D9488"/>
                </a:solidFill>
              </a:rPr>
              <a:t>● </a:t>
            </a:r>
            <a:r>
              <a:rPr sz="1300">
                <a:solidFill>
                  <a:srgbClr val="1A1A1A"/>
                </a:solidFill>
                <a:latin typeface="Helvetica"/>
              </a:rPr>
              <a:t>If the nurse forgets to send, the booking row keeps showing 'Send confirmation'</a:t>
            </a:r>
          </a:p>
          <a:p>
            <a:pPr algn="l">
              <a:spcAft>
                <a:spcPts val="800"/>
              </a:spcAft>
            </a:pPr>
            <a:r>
              <a:rPr sz="1300" b="1">
                <a:solidFill>
                  <a:srgbClr val="0D9488"/>
                </a:solidFill>
              </a:rPr>
              <a:t>● </a:t>
            </a:r>
            <a:r>
              <a:rPr sz="1300">
                <a:solidFill>
                  <a:srgbClr val="1A1A1A"/>
                </a:solidFill>
                <a:latin typeface="Helvetica"/>
              </a:rPr>
              <a:t>Patient now has a written record of their appointment</a:t>
            </a:r>
          </a:p>
        </p:txBody>
      </p:sp>
      <p:sp>
        <p:nvSpPr>
          <p:cNvPr id="8" name="TextBox 7"/>
          <p:cNvSpPr txBox="1"/>
          <p:nvPr/>
        </p:nvSpPr>
        <p:spPr>
          <a:xfrm>
            <a:off x="6126480" y="2331720"/>
            <a:ext cx="5486400" cy="365760"/>
          </a:xfrm>
          <a:prstGeom prst="rect">
            <a:avLst/>
          </a:prstGeom>
          <a:noFill/>
        </p:spPr>
        <p:txBody>
          <a:bodyPr wrap="square">
            <a:spAutoFit/>
          </a:bodyPr>
          <a:lstStyle/>
          <a:p>
            <a:pPr algn="l"/>
            <a:r>
              <a:rPr sz="1200" b="1">
                <a:solidFill>
                  <a:srgbClr val="0F766E"/>
                </a:solidFill>
                <a:latin typeface="Helvetica"/>
              </a:rPr>
              <a:t>Live view</a:t>
            </a:r>
          </a:p>
        </p:txBody>
      </p:sp>
      <p:sp>
        <p:nvSpPr>
          <p:cNvPr id="9" name="Rectangle 8"/>
          <p:cNvSpPr/>
          <p:nvPr/>
        </p:nvSpPr>
        <p:spPr>
          <a:xfrm>
            <a:off x="6126480" y="2697480"/>
            <a:ext cx="548640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Mockup: confirmation WhatsApp message ]</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a:solidFill>
                  <a:srgbClr val="78716C"/>
                </a:solidFill>
                <a:latin typeface="Helvetica"/>
              </a:rPr>
              <a:t>Goodcare Dental — Booking System Walkthrough</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a:solidFill>
                  <a:srgbClr val="78716C"/>
                </a:solidFill>
                <a:latin typeface="Helvetica"/>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1280160" cy="29260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tIns="0" bIns="0"/>
          <a:lstStyle/>
          <a:p>
            <a:pPr algn="ctr"/>
            <a:r>
              <a:rPr sz="900" b="1">
                <a:solidFill>
                  <a:srgbClr val="FFFFFF"/>
                </a:solidFill>
                <a:latin typeface="Helvetica"/>
              </a:rPr>
              <a:t>STEP 7 OF 9</a:t>
            </a:r>
          </a:p>
        </p:txBody>
      </p:sp>
      <p:sp>
        <p:nvSpPr>
          <p:cNvPr id="4" name="TextBox 3"/>
          <p:cNvSpPr txBox="1"/>
          <p:nvPr/>
        </p:nvSpPr>
        <p:spPr>
          <a:xfrm>
            <a:off x="731520" y="914400"/>
            <a:ext cx="10058400" cy="640080"/>
          </a:xfrm>
          <a:prstGeom prst="rect">
            <a:avLst/>
          </a:prstGeom>
          <a:noFill/>
        </p:spPr>
        <p:txBody>
          <a:bodyPr wrap="square">
            <a:spAutoFit/>
          </a:bodyPr>
          <a:lstStyle/>
          <a:p>
            <a:pPr algn="l"/>
            <a:r>
              <a:rPr sz="2800" b="1">
                <a:solidFill>
                  <a:srgbClr val="1A1A1A"/>
                </a:solidFill>
                <a:latin typeface="Helvetica"/>
              </a:rPr>
              <a:t>The day before — reminder</a:t>
            </a:r>
          </a:p>
        </p:txBody>
      </p:sp>
      <p:sp>
        <p:nvSpPr>
          <p:cNvPr id="5" name="TextBox 4"/>
          <p:cNvSpPr txBox="1"/>
          <p:nvPr/>
        </p:nvSpPr>
        <p:spPr>
          <a:xfrm>
            <a:off x="731520" y="1554480"/>
            <a:ext cx="10058400" cy="457200"/>
          </a:xfrm>
          <a:prstGeom prst="rect">
            <a:avLst/>
          </a:prstGeom>
          <a:noFill/>
        </p:spPr>
        <p:txBody>
          <a:bodyPr wrap="square">
            <a:spAutoFit/>
          </a:bodyPr>
          <a:lstStyle/>
          <a:p>
            <a:pPr algn="l"/>
            <a:r>
              <a:rPr sz="1400" b="0">
                <a:solidFill>
                  <a:srgbClr val="78716C"/>
                </a:solidFill>
                <a:latin typeface="Helvetica"/>
              </a:rPr>
              <a:t>Nurse opens 'Send reminders' tab (or the bookings table). Tomorrow's confirmed appointments are listed.</a:t>
            </a:r>
          </a:p>
        </p:txBody>
      </p:sp>
      <p:sp>
        <p:nvSpPr>
          <p:cNvPr id="6" name="TextBox 5"/>
          <p:cNvSpPr txBox="1"/>
          <p:nvPr/>
        </p:nvSpPr>
        <p:spPr>
          <a:xfrm>
            <a:off x="731520" y="2331720"/>
            <a:ext cx="5029200" cy="365760"/>
          </a:xfrm>
          <a:prstGeom prst="rect">
            <a:avLst/>
          </a:prstGeom>
          <a:noFill/>
        </p:spPr>
        <p:txBody>
          <a:bodyPr wrap="square">
            <a:spAutoFit/>
          </a:bodyPr>
          <a:lstStyle/>
          <a:p>
            <a:pPr algn="l"/>
            <a:r>
              <a:rPr sz="1200" b="1">
                <a:solidFill>
                  <a:srgbClr val="0F766E"/>
                </a:solidFill>
                <a:latin typeface="Helvetica"/>
              </a:rPr>
              <a:t>What's on the screen</a:t>
            </a:r>
          </a:p>
        </p:txBody>
      </p:sp>
      <p:sp>
        <p:nvSpPr>
          <p:cNvPr id="7" name="TextBox 6"/>
          <p:cNvSpPr txBox="1"/>
          <p:nvPr/>
        </p:nvSpPr>
        <p:spPr>
          <a:xfrm>
            <a:off x="731520" y="2697480"/>
            <a:ext cx="5029200" cy="3200400"/>
          </a:xfrm>
          <a:prstGeom prst="rect">
            <a:avLst/>
          </a:prstGeom>
          <a:noFill/>
        </p:spPr>
        <p:txBody>
          <a:bodyPr wrap="square">
            <a:spAutoFit/>
          </a:bodyPr>
          <a:lstStyle/>
          <a:p>
            <a:pPr algn="l">
              <a:spcAft>
                <a:spcPts val="800"/>
              </a:spcAft>
            </a:pPr>
            <a:r>
              <a:rPr sz="1300" b="1">
                <a:solidFill>
                  <a:srgbClr val="0D9488"/>
                </a:solidFill>
              </a:rPr>
              <a:t>● </a:t>
            </a:r>
            <a:r>
              <a:rPr sz="1300">
                <a:solidFill>
                  <a:srgbClr val="1A1A1A"/>
                </a:solidFill>
                <a:latin typeface="Helvetica"/>
              </a:rPr>
              <a:t>Each row: patient, time, doctor, treatment</a:t>
            </a:r>
          </a:p>
          <a:p>
            <a:pPr algn="l">
              <a:spcAft>
                <a:spcPts val="800"/>
              </a:spcAft>
            </a:pPr>
            <a:r>
              <a:rPr sz="1300" b="1">
                <a:solidFill>
                  <a:srgbClr val="0D9488"/>
                </a:solidFill>
              </a:rPr>
              <a:t>● </a:t>
            </a:r>
            <a:r>
              <a:rPr sz="1300">
                <a:solidFill>
                  <a:srgbClr val="1A1A1A"/>
                </a:solidFill>
                <a:latin typeface="Helvetica"/>
              </a:rPr>
              <a:t>'Send reminder' button → wa.me opens with reminder template</a:t>
            </a:r>
          </a:p>
          <a:p>
            <a:pPr algn="l">
              <a:spcAft>
                <a:spcPts val="800"/>
              </a:spcAft>
            </a:pPr>
            <a:r>
              <a:rPr sz="1300" b="1">
                <a:solidFill>
                  <a:srgbClr val="0D9488"/>
                </a:solidFill>
              </a:rPr>
              <a:t>● </a:t>
            </a:r>
            <a:r>
              <a:rPr sz="1300">
                <a:solidFill>
                  <a:srgbClr val="1A1A1A"/>
                </a:solidFill>
                <a:latin typeface="Helvetica"/>
              </a:rPr>
              <a:t>Already sent? Pill shows '✓ Reminder sent by [nurse], 5:02 PM'</a:t>
            </a:r>
          </a:p>
          <a:p>
            <a:pPr algn="l">
              <a:spcAft>
                <a:spcPts val="800"/>
              </a:spcAft>
            </a:pPr>
            <a:r>
              <a:rPr sz="1300" b="1">
                <a:solidFill>
                  <a:srgbClr val="0D9488"/>
                </a:solidFill>
              </a:rPr>
              <a:t>● </a:t>
            </a:r>
            <a:r>
              <a:rPr sz="1300">
                <a:solidFill>
                  <a:srgbClr val="1A1A1A"/>
                </a:solidFill>
                <a:latin typeface="Helvetica"/>
              </a:rPr>
              <a:t>Bulk-send by working through the list</a:t>
            </a:r>
          </a:p>
          <a:p>
            <a:pPr algn="l">
              <a:spcAft>
                <a:spcPts val="800"/>
              </a:spcAft>
            </a:pPr>
            <a:r>
              <a:rPr sz="1300" b="1">
                <a:solidFill>
                  <a:srgbClr val="0D9488"/>
                </a:solidFill>
              </a:rPr>
              <a:t>● </a:t>
            </a:r>
            <a:r>
              <a:rPr sz="1300">
                <a:solidFill>
                  <a:srgbClr val="1A1A1A"/>
                </a:solidFill>
                <a:latin typeface="Helvetica"/>
              </a:rPr>
              <a:t>Reminder template editable in Settings → WhatsApp templates</a:t>
            </a:r>
          </a:p>
        </p:txBody>
      </p:sp>
      <p:sp>
        <p:nvSpPr>
          <p:cNvPr id="8" name="TextBox 7"/>
          <p:cNvSpPr txBox="1"/>
          <p:nvPr/>
        </p:nvSpPr>
        <p:spPr>
          <a:xfrm>
            <a:off x="6126480" y="2331720"/>
            <a:ext cx="5486400" cy="365760"/>
          </a:xfrm>
          <a:prstGeom prst="rect">
            <a:avLst/>
          </a:prstGeom>
          <a:noFill/>
        </p:spPr>
        <p:txBody>
          <a:bodyPr wrap="square">
            <a:spAutoFit/>
          </a:bodyPr>
          <a:lstStyle/>
          <a:p>
            <a:pPr algn="l"/>
            <a:r>
              <a:rPr sz="1200" b="1">
                <a:solidFill>
                  <a:srgbClr val="0F766E"/>
                </a:solidFill>
                <a:latin typeface="Helvetica"/>
              </a:rPr>
              <a:t>Live view</a:t>
            </a:r>
          </a:p>
        </p:txBody>
      </p:sp>
      <p:sp>
        <p:nvSpPr>
          <p:cNvPr id="9" name="Rectangle 8"/>
          <p:cNvSpPr/>
          <p:nvPr/>
        </p:nvSpPr>
        <p:spPr>
          <a:xfrm>
            <a:off x="6126480" y="2697480"/>
            <a:ext cx="548640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Screenshot: Send reminders page or bookings table reminder buttons ]</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a:solidFill>
                  <a:srgbClr val="78716C"/>
                </a:solidFill>
                <a:latin typeface="Helvetica"/>
              </a:rPr>
              <a:t>Goodcare Dental — Booking System Walkthrough</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a:solidFill>
                  <a:srgbClr val="78716C"/>
                </a:solidFill>
                <a:latin typeface="Helvetica"/>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1280160" cy="29260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tIns="0" bIns="0"/>
          <a:lstStyle/>
          <a:p>
            <a:pPr algn="ctr"/>
            <a:r>
              <a:rPr sz="900" b="1">
                <a:solidFill>
                  <a:srgbClr val="FFFFFF"/>
                </a:solidFill>
                <a:latin typeface="Helvetica"/>
              </a:rPr>
              <a:t>STEP 8 OF 9</a:t>
            </a:r>
          </a:p>
        </p:txBody>
      </p:sp>
      <p:sp>
        <p:nvSpPr>
          <p:cNvPr id="4" name="TextBox 3"/>
          <p:cNvSpPr txBox="1"/>
          <p:nvPr/>
        </p:nvSpPr>
        <p:spPr>
          <a:xfrm>
            <a:off x="731520" y="914400"/>
            <a:ext cx="10058400" cy="640080"/>
          </a:xfrm>
          <a:prstGeom prst="rect">
            <a:avLst/>
          </a:prstGeom>
          <a:noFill/>
        </p:spPr>
        <p:txBody>
          <a:bodyPr wrap="square">
            <a:spAutoFit/>
          </a:bodyPr>
          <a:lstStyle/>
          <a:p>
            <a:pPr algn="l"/>
            <a:r>
              <a:rPr sz="2800" b="1">
                <a:solidFill>
                  <a:srgbClr val="1A1A1A"/>
                </a:solidFill>
                <a:latin typeface="Helvetica"/>
              </a:rPr>
              <a:t>Appointment day — patient arrives</a:t>
            </a:r>
          </a:p>
        </p:txBody>
      </p:sp>
      <p:sp>
        <p:nvSpPr>
          <p:cNvPr id="5" name="TextBox 4"/>
          <p:cNvSpPr txBox="1"/>
          <p:nvPr/>
        </p:nvSpPr>
        <p:spPr>
          <a:xfrm>
            <a:off x="731520" y="1554480"/>
            <a:ext cx="10058400" cy="457200"/>
          </a:xfrm>
          <a:prstGeom prst="rect">
            <a:avLst/>
          </a:prstGeom>
          <a:noFill/>
        </p:spPr>
        <p:txBody>
          <a:bodyPr wrap="square">
            <a:spAutoFit/>
          </a:bodyPr>
          <a:lstStyle/>
          <a:p>
            <a:pPr algn="l"/>
            <a:r>
              <a:rPr sz="1400" b="0">
                <a:solidFill>
                  <a:srgbClr val="78716C"/>
                </a:solidFill>
                <a:latin typeface="Helvetica"/>
              </a:rPr>
              <a:t>Nurse goes to All bookings → Today tab. As patients walk in, she taps '✓ Attended'. If someone doesn't come, she taps 'No-show'.</a:t>
            </a:r>
          </a:p>
        </p:txBody>
      </p:sp>
      <p:sp>
        <p:nvSpPr>
          <p:cNvPr id="6" name="TextBox 5"/>
          <p:cNvSpPr txBox="1"/>
          <p:nvPr/>
        </p:nvSpPr>
        <p:spPr>
          <a:xfrm>
            <a:off x="731520" y="2331720"/>
            <a:ext cx="5029200" cy="365760"/>
          </a:xfrm>
          <a:prstGeom prst="rect">
            <a:avLst/>
          </a:prstGeom>
          <a:noFill/>
        </p:spPr>
        <p:txBody>
          <a:bodyPr wrap="square">
            <a:spAutoFit/>
          </a:bodyPr>
          <a:lstStyle/>
          <a:p>
            <a:pPr algn="l"/>
            <a:r>
              <a:rPr sz="1200" b="1">
                <a:solidFill>
                  <a:srgbClr val="0F766E"/>
                </a:solidFill>
                <a:latin typeface="Helvetica"/>
              </a:rPr>
              <a:t>What's on the screen</a:t>
            </a:r>
          </a:p>
        </p:txBody>
      </p:sp>
      <p:sp>
        <p:nvSpPr>
          <p:cNvPr id="7" name="TextBox 6"/>
          <p:cNvSpPr txBox="1"/>
          <p:nvPr/>
        </p:nvSpPr>
        <p:spPr>
          <a:xfrm>
            <a:off x="731520" y="2697480"/>
            <a:ext cx="5029200" cy="3200400"/>
          </a:xfrm>
          <a:prstGeom prst="rect">
            <a:avLst/>
          </a:prstGeom>
          <a:noFill/>
        </p:spPr>
        <p:txBody>
          <a:bodyPr wrap="square">
            <a:spAutoFit/>
          </a:bodyPr>
          <a:lstStyle/>
          <a:p>
            <a:pPr algn="l">
              <a:spcAft>
                <a:spcPts val="800"/>
              </a:spcAft>
            </a:pPr>
            <a:r>
              <a:rPr sz="1300" b="1">
                <a:solidFill>
                  <a:srgbClr val="0D9488"/>
                </a:solidFill>
              </a:rPr>
              <a:t>● </a:t>
            </a:r>
            <a:r>
              <a:rPr sz="1300">
                <a:solidFill>
                  <a:srgbClr val="1A1A1A"/>
                </a:solidFill>
                <a:latin typeface="Helvetica"/>
              </a:rPr>
              <a:t>'Today' quick-filter shows just today's confirmed bookings</a:t>
            </a:r>
          </a:p>
          <a:p>
            <a:pPr algn="l">
              <a:spcAft>
                <a:spcPts val="800"/>
              </a:spcAft>
            </a:pPr>
            <a:r>
              <a:rPr sz="1300" b="1">
                <a:solidFill>
                  <a:srgbClr val="0D9488"/>
                </a:solidFill>
              </a:rPr>
              <a:t>● </a:t>
            </a:r>
            <a:r>
              <a:rPr sz="1300">
                <a:solidFill>
                  <a:srgbClr val="1A1A1A"/>
                </a:solidFill>
                <a:latin typeface="Helvetica"/>
              </a:rPr>
              <a:t>Search by IC or patient name when they walk in</a:t>
            </a:r>
          </a:p>
          <a:p>
            <a:pPr algn="l">
              <a:spcAft>
                <a:spcPts val="800"/>
              </a:spcAft>
            </a:pPr>
            <a:r>
              <a:rPr sz="1300" b="1">
                <a:solidFill>
                  <a:srgbClr val="0D9488"/>
                </a:solidFill>
              </a:rPr>
              <a:t>● </a:t>
            </a:r>
            <a:r>
              <a:rPr sz="1300">
                <a:solidFill>
                  <a:srgbClr val="1A1A1A"/>
                </a:solidFill>
                <a:latin typeface="Helvetica"/>
              </a:rPr>
              <a:t>✓ Attended: visit count goes up, patient flagged as completed</a:t>
            </a:r>
          </a:p>
          <a:p>
            <a:pPr algn="l">
              <a:spcAft>
                <a:spcPts val="800"/>
              </a:spcAft>
            </a:pPr>
            <a:r>
              <a:rPr sz="1300" b="1">
                <a:solidFill>
                  <a:srgbClr val="0D9488"/>
                </a:solidFill>
              </a:rPr>
              <a:t>● </a:t>
            </a:r>
            <a:r>
              <a:rPr sz="1300">
                <a:solidFill>
                  <a:srgbClr val="1A1A1A"/>
                </a:solidFill>
                <a:latin typeface="Helvetica"/>
              </a:rPr>
              <a:t>No-show: tracked separately — useful for spotting repeat offenders</a:t>
            </a:r>
          </a:p>
          <a:p>
            <a:pPr algn="l">
              <a:spcAft>
                <a:spcPts val="800"/>
              </a:spcAft>
            </a:pPr>
            <a:r>
              <a:rPr sz="1300" b="1">
                <a:solidFill>
                  <a:srgbClr val="0D9488"/>
                </a:solidFill>
              </a:rPr>
              <a:t>● </a:t>
            </a:r>
            <a:r>
              <a:rPr sz="1300">
                <a:solidFill>
                  <a:srgbClr val="1A1A1A"/>
                </a:solidFill>
                <a:latin typeface="Helvetica"/>
              </a:rPr>
              <a:t>Both states are reversible — Undo button in case of mistake</a:t>
            </a:r>
          </a:p>
        </p:txBody>
      </p:sp>
      <p:sp>
        <p:nvSpPr>
          <p:cNvPr id="8" name="TextBox 7"/>
          <p:cNvSpPr txBox="1"/>
          <p:nvPr/>
        </p:nvSpPr>
        <p:spPr>
          <a:xfrm>
            <a:off x="6126480" y="2331720"/>
            <a:ext cx="5486400" cy="365760"/>
          </a:xfrm>
          <a:prstGeom prst="rect">
            <a:avLst/>
          </a:prstGeom>
          <a:noFill/>
        </p:spPr>
        <p:txBody>
          <a:bodyPr wrap="square">
            <a:spAutoFit/>
          </a:bodyPr>
          <a:lstStyle/>
          <a:p>
            <a:pPr algn="l"/>
            <a:r>
              <a:rPr sz="1200" b="1">
                <a:solidFill>
                  <a:srgbClr val="0F766E"/>
                </a:solidFill>
                <a:latin typeface="Helvetica"/>
              </a:rPr>
              <a:t>Live view</a:t>
            </a:r>
          </a:p>
        </p:txBody>
      </p:sp>
      <p:sp>
        <p:nvSpPr>
          <p:cNvPr id="9" name="Rectangle 8"/>
          <p:cNvSpPr/>
          <p:nvPr/>
        </p:nvSpPr>
        <p:spPr>
          <a:xfrm>
            <a:off x="6126480" y="2697480"/>
            <a:ext cx="548640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Screenshot: Today's bookings with Attended/No-show actions ]</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a:solidFill>
                  <a:srgbClr val="78716C"/>
                </a:solidFill>
                <a:latin typeface="Helvetica"/>
              </a:rPr>
              <a:t>Goodcare Dental — Booking System Walkthrough</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a:solidFill>
                  <a:srgbClr val="78716C"/>
                </a:solidFill>
                <a:latin typeface="Helvetica"/>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02920"/>
            <a:ext cx="1280160" cy="292608"/>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lIns="25400" rIns="25400" tIns="0" bIns="0"/>
          <a:lstStyle/>
          <a:p>
            <a:pPr algn="ctr"/>
            <a:r>
              <a:rPr sz="900" b="1">
                <a:solidFill>
                  <a:srgbClr val="FFFFFF"/>
                </a:solidFill>
                <a:latin typeface="Helvetica"/>
              </a:rPr>
              <a:t>STEP 9 OF 9</a:t>
            </a:r>
          </a:p>
        </p:txBody>
      </p:sp>
      <p:sp>
        <p:nvSpPr>
          <p:cNvPr id="4" name="TextBox 3"/>
          <p:cNvSpPr txBox="1"/>
          <p:nvPr/>
        </p:nvSpPr>
        <p:spPr>
          <a:xfrm>
            <a:off x="731520" y="914400"/>
            <a:ext cx="10058400" cy="640080"/>
          </a:xfrm>
          <a:prstGeom prst="rect">
            <a:avLst/>
          </a:prstGeom>
          <a:noFill/>
        </p:spPr>
        <p:txBody>
          <a:bodyPr wrap="square">
            <a:spAutoFit/>
          </a:bodyPr>
          <a:lstStyle/>
          <a:p>
            <a:pPr algn="l"/>
            <a:r>
              <a:rPr sz="2800" b="1">
                <a:solidFill>
                  <a:srgbClr val="1A1A1A"/>
                </a:solidFill>
                <a:latin typeface="Helvetica"/>
              </a:rPr>
              <a:t>Owner reviews the audit log</a:t>
            </a:r>
          </a:p>
        </p:txBody>
      </p:sp>
      <p:sp>
        <p:nvSpPr>
          <p:cNvPr id="5" name="TextBox 4"/>
          <p:cNvSpPr txBox="1"/>
          <p:nvPr/>
        </p:nvSpPr>
        <p:spPr>
          <a:xfrm>
            <a:off x="731520" y="1554480"/>
            <a:ext cx="10058400" cy="457200"/>
          </a:xfrm>
          <a:prstGeom prst="rect">
            <a:avLst/>
          </a:prstGeom>
          <a:noFill/>
        </p:spPr>
        <p:txBody>
          <a:bodyPr wrap="square">
            <a:spAutoFit/>
          </a:bodyPr>
          <a:lstStyle/>
          <a:p>
            <a:pPr algn="l"/>
            <a:r>
              <a:rPr sz="1400" b="0">
                <a:solidFill>
                  <a:srgbClr val="78716C"/>
                </a:solidFill>
                <a:latin typeface="Helvetica"/>
              </a:rPr>
              <a:t>Owner navigates to Settings → Audit log. Sees every action logged with timestamp, actor, and details.</a:t>
            </a:r>
          </a:p>
        </p:txBody>
      </p:sp>
      <p:sp>
        <p:nvSpPr>
          <p:cNvPr id="6" name="TextBox 5"/>
          <p:cNvSpPr txBox="1"/>
          <p:nvPr/>
        </p:nvSpPr>
        <p:spPr>
          <a:xfrm>
            <a:off x="731520" y="2331720"/>
            <a:ext cx="5029200" cy="365760"/>
          </a:xfrm>
          <a:prstGeom prst="rect">
            <a:avLst/>
          </a:prstGeom>
          <a:noFill/>
        </p:spPr>
        <p:txBody>
          <a:bodyPr wrap="square">
            <a:spAutoFit/>
          </a:bodyPr>
          <a:lstStyle/>
          <a:p>
            <a:pPr algn="l"/>
            <a:r>
              <a:rPr sz="1200" b="1">
                <a:solidFill>
                  <a:srgbClr val="0F766E"/>
                </a:solidFill>
                <a:latin typeface="Helvetica"/>
              </a:rPr>
              <a:t>What's on the screen</a:t>
            </a:r>
          </a:p>
        </p:txBody>
      </p:sp>
      <p:sp>
        <p:nvSpPr>
          <p:cNvPr id="7" name="TextBox 6"/>
          <p:cNvSpPr txBox="1"/>
          <p:nvPr/>
        </p:nvSpPr>
        <p:spPr>
          <a:xfrm>
            <a:off x="731520" y="2697480"/>
            <a:ext cx="5029200" cy="3200400"/>
          </a:xfrm>
          <a:prstGeom prst="rect">
            <a:avLst/>
          </a:prstGeom>
          <a:noFill/>
        </p:spPr>
        <p:txBody>
          <a:bodyPr wrap="square">
            <a:spAutoFit/>
          </a:bodyPr>
          <a:lstStyle/>
          <a:p>
            <a:pPr algn="l">
              <a:spcAft>
                <a:spcPts val="800"/>
              </a:spcAft>
            </a:pPr>
            <a:r>
              <a:rPr sz="1300" b="1">
                <a:solidFill>
                  <a:srgbClr val="0D9488"/>
                </a:solidFill>
              </a:rPr>
              <a:t>● </a:t>
            </a:r>
            <a:r>
              <a:rPr sz="1300">
                <a:solidFill>
                  <a:srgbClr val="1A1A1A"/>
                </a:solidFill>
                <a:latin typeface="Helvetica"/>
              </a:rPr>
              <a:t>Every approve / reject / cancel / override / password reset is logged</a:t>
            </a:r>
          </a:p>
          <a:p>
            <a:pPr algn="l">
              <a:spcAft>
                <a:spcPts val="800"/>
              </a:spcAft>
            </a:pPr>
            <a:r>
              <a:rPr sz="1300" b="1">
                <a:solidFill>
                  <a:srgbClr val="0D9488"/>
                </a:solidFill>
              </a:rPr>
              <a:t>● </a:t>
            </a:r>
            <a:r>
              <a:rPr sz="1300">
                <a:solidFill>
                  <a:srgbClr val="1A1A1A"/>
                </a:solidFill>
                <a:latin typeface="Helvetica"/>
              </a:rPr>
              <a:t>Filter by action type, actor, entity type</a:t>
            </a:r>
          </a:p>
          <a:p>
            <a:pPr algn="l">
              <a:spcAft>
                <a:spcPts val="800"/>
              </a:spcAft>
            </a:pPr>
            <a:r>
              <a:rPr sz="1300" b="1">
                <a:solidFill>
                  <a:srgbClr val="0D9488"/>
                </a:solidFill>
              </a:rPr>
              <a:t>● </a:t>
            </a:r>
            <a:r>
              <a:rPr sz="1300">
                <a:solidFill>
                  <a:srgbClr val="1A1A1A"/>
                </a:solidFill>
                <a:latin typeface="Helvetica"/>
              </a:rPr>
              <a:t>Click 'Show details' for the before/after JSON of any action</a:t>
            </a:r>
          </a:p>
          <a:p>
            <a:pPr algn="l">
              <a:spcAft>
                <a:spcPts val="800"/>
              </a:spcAft>
            </a:pPr>
            <a:r>
              <a:rPr sz="1300" b="1">
                <a:solidFill>
                  <a:srgbClr val="0D9488"/>
                </a:solidFill>
              </a:rPr>
              <a:t>● </a:t>
            </a:r>
            <a:r>
              <a:rPr sz="1300">
                <a:solidFill>
                  <a:srgbClr val="1A1A1A"/>
                </a:solidFill>
                <a:latin typeface="Helvetica"/>
              </a:rPr>
              <a:t>Used for: dispute resolution, accountability, compliance evidence</a:t>
            </a:r>
          </a:p>
          <a:p>
            <a:pPr algn="l">
              <a:spcAft>
                <a:spcPts val="800"/>
              </a:spcAft>
            </a:pPr>
            <a:r>
              <a:rPr sz="1300" b="1">
                <a:solidFill>
                  <a:srgbClr val="0D9488"/>
                </a:solidFill>
              </a:rPr>
              <a:t>● </a:t>
            </a:r>
            <a:r>
              <a:rPr sz="1300">
                <a:solidFill>
                  <a:srgbClr val="1A1A1A"/>
                </a:solidFill>
                <a:latin typeface="Helvetica"/>
              </a:rPr>
              <a:t>Required for PDPA — clinic can show 'who accessed what' if asked</a:t>
            </a:r>
          </a:p>
        </p:txBody>
      </p:sp>
      <p:sp>
        <p:nvSpPr>
          <p:cNvPr id="8" name="TextBox 7"/>
          <p:cNvSpPr txBox="1"/>
          <p:nvPr/>
        </p:nvSpPr>
        <p:spPr>
          <a:xfrm>
            <a:off x="6126480" y="2331720"/>
            <a:ext cx="5486400" cy="365760"/>
          </a:xfrm>
          <a:prstGeom prst="rect">
            <a:avLst/>
          </a:prstGeom>
          <a:noFill/>
        </p:spPr>
        <p:txBody>
          <a:bodyPr wrap="square">
            <a:spAutoFit/>
          </a:bodyPr>
          <a:lstStyle/>
          <a:p>
            <a:pPr algn="l"/>
            <a:r>
              <a:rPr sz="1200" b="1">
                <a:solidFill>
                  <a:srgbClr val="0F766E"/>
                </a:solidFill>
                <a:latin typeface="Helvetica"/>
              </a:rPr>
              <a:t>Live view</a:t>
            </a:r>
          </a:p>
        </p:txBody>
      </p:sp>
      <p:sp>
        <p:nvSpPr>
          <p:cNvPr id="9" name="Rectangle 8"/>
          <p:cNvSpPr/>
          <p:nvPr/>
        </p:nvSpPr>
        <p:spPr>
          <a:xfrm>
            <a:off x="6126480" y="2697480"/>
            <a:ext cx="5486400" cy="3383280"/>
          </a:xfrm>
          <a:prstGeom prst="rect">
            <a:avLst/>
          </a:prstGeom>
          <a:solidFill>
            <a:srgbClr val="FAFAF7"/>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i="1">
                <a:solidFill>
                  <a:srgbClr val="78716C"/>
                </a:solidFill>
                <a:latin typeface="Helvetica"/>
              </a:rPr>
              <a:t>[ Screenshot: /owner/audit ]</a:t>
            </a:r>
          </a:p>
        </p:txBody>
      </p:sp>
      <p:sp>
        <p:nvSpPr>
          <p:cNvPr id="10" name="TextBox 9"/>
          <p:cNvSpPr txBox="1"/>
          <p:nvPr/>
        </p:nvSpPr>
        <p:spPr>
          <a:xfrm>
            <a:off x="457200" y="6492240"/>
            <a:ext cx="5486400" cy="274320"/>
          </a:xfrm>
          <a:prstGeom prst="rect">
            <a:avLst/>
          </a:prstGeom>
          <a:noFill/>
        </p:spPr>
        <p:txBody>
          <a:bodyPr wrap="square">
            <a:spAutoFit/>
          </a:bodyPr>
          <a:lstStyle/>
          <a:p>
            <a:pPr algn="l"/>
            <a:r>
              <a:rPr sz="900" b="0">
                <a:solidFill>
                  <a:srgbClr val="78716C"/>
                </a:solidFill>
                <a:latin typeface="Helvetica"/>
              </a:rPr>
              <a:t>Goodcare Dental — Booking System Walkthrough</a:t>
            </a:r>
          </a:p>
        </p:txBody>
      </p:sp>
      <p:sp>
        <p:nvSpPr>
          <p:cNvPr id="11" name="TextBox 10"/>
          <p:cNvSpPr txBox="1"/>
          <p:nvPr/>
        </p:nvSpPr>
        <p:spPr>
          <a:xfrm>
            <a:off x="10817352" y="6492240"/>
            <a:ext cx="914400" cy="274320"/>
          </a:xfrm>
          <a:prstGeom prst="rect">
            <a:avLst/>
          </a:prstGeom>
          <a:noFill/>
        </p:spPr>
        <p:txBody>
          <a:bodyPr wrap="square">
            <a:spAutoFit/>
          </a:bodyPr>
          <a:lstStyle/>
          <a:p>
            <a:pPr algn="r"/>
            <a:r>
              <a:rPr sz="900" b="0">
                <a:solidFill>
                  <a:srgbClr val="78716C"/>
                </a:solidFill>
                <a:latin typeface="Helvetica"/>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548640"/>
          </a:xfrm>
          <a:prstGeom prst="rect">
            <a:avLst/>
          </a:prstGeom>
          <a:noFill/>
        </p:spPr>
        <p:txBody>
          <a:bodyPr wrap="square">
            <a:spAutoFit/>
          </a:bodyPr>
          <a:lstStyle/>
          <a:p>
            <a:pPr algn="l"/>
            <a:r>
              <a:rPr sz="2800" b="1">
                <a:solidFill>
                  <a:srgbClr val="1A1A1A"/>
                </a:solidFill>
                <a:latin typeface="Helvetica"/>
              </a:rPr>
              <a:t>What else is in the system</a:t>
            </a:r>
          </a:p>
        </p:txBody>
      </p:sp>
      <p:sp>
        <p:nvSpPr>
          <p:cNvPr id="4" name="TextBox 3"/>
          <p:cNvSpPr txBox="1"/>
          <p:nvPr/>
        </p:nvSpPr>
        <p:spPr>
          <a:xfrm>
            <a:off x="731520" y="1097280"/>
            <a:ext cx="10058400" cy="365760"/>
          </a:xfrm>
          <a:prstGeom prst="rect">
            <a:avLst/>
          </a:prstGeom>
          <a:noFill/>
        </p:spPr>
        <p:txBody>
          <a:bodyPr wrap="square">
            <a:spAutoFit/>
          </a:bodyPr>
          <a:lstStyle/>
          <a:p>
            <a:pPr algn="l"/>
            <a:r>
              <a:rPr sz="1400" b="0">
                <a:solidFill>
                  <a:srgbClr val="78716C"/>
                </a:solidFill>
                <a:latin typeface="Helvetica"/>
              </a:rPr>
              <a:t>Features the lifecycle didn't show</a:t>
            </a:r>
          </a:p>
        </p:txBody>
      </p:sp>
      <p:sp>
        <p:nvSpPr>
          <p:cNvPr id="5" name="Rounded Rectangle 4"/>
          <p:cNvSpPr/>
          <p:nvPr/>
        </p:nvSpPr>
        <p:spPr>
          <a:xfrm>
            <a:off x="731520" y="1828800"/>
            <a:ext cx="5394960" cy="1325880"/>
          </a:xfrm>
          <a:prstGeom prst="roundRect">
            <a:avLst/>
          </a:prstGeom>
          <a:solidFill>
            <a:srgbClr val="FFFFFF"/>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65960"/>
            <a:ext cx="4937760" cy="365760"/>
          </a:xfrm>
          <a:prstGeom prst="rect">
            <a:avLst/>
          </a:prstGeom>
          <a:noFill/>
        </p:spPr>
        <p:txBody>
          <a:bodyPr wrap="square">
            <a:spAutoFit/>
          </a:bodyPr>
          <a:lstStyle/>
          <a:p>
            <a:pPr algn="l"/>
            <a:r>
              <a:rPr sz="1400" b="1">
                <a:solidFill>
                  <a:srgbClr val="0F766E"/>
                </a:solidFill>
                <a:latin typeface="Helvetica"/>
              </a:rPr>
              <a:t>Doctor calendars</a:t>
            </a:r>
          </a:p>
        </p:txBody>
      </p:sp>
      <p:sp>
        <p:nvSpPr>
          <p:cNvPr id="7" name="TextBox 6"/>
          <p:cNvSpPr txBox="1"/>
          <p:nvPr/>
        </p:nvSpPr>
        <p:spPr>
          <a:xfrm>
            <a:off x="960120" y="2331720"/>
            <a:ext cx="4937760" cy="777240"/>
          </a:xfrm>
          <a:prstGeom prst="rect">
            <a:avLst/>
          </a:prstGeom>
          <a:noFill/>
        </p:spPr>
        <p:txBody>
          <a:bodyPr wrap="square">
            <a:spAutoFit/>
          </a:bodyPr>
          <a:lstStyle/>
          <a:p>
            <a:pPr algn="l"/>
            <a:r>
              <a:rPr sz="1100" b="0">
                <a:solidFill>
                  <a:srgbClr val="1A1A1A"/>
                </a:solidFill>
                <a:latin typeface="Helvetica"/>
              </a:rPr>
              <a:t>Each doctor sees only their own schedule. Block out time for lunch, MC, conferences.</a:t>
            </a:r>
          </a:p>
        </p:txBody>
      </p:sp>
      <p:sp>
        <p:nvSpPr>
          <p:cNvPr id="8" name="Rounded Rectangle 7"/>
          <p:cNvSpPr/>
          <p:nvPr/>
        </p:nvSpPr>
        <p:spPr>
          <a:xfrm>
            <a:off x="6309360" y="1828800"/>
            <a:ext cx="5394960" cy="1325880"/>
          </a:xfrm>
          <a:prstGeom prst="roundRect">
            <a:avLst/>
          </a:prstGeom>
          <a:solidFill>
            <a:srgbClr val="FFFFFF"/>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965960"/>
            <a:ext cx="4937760" cy="365760"/>
          </a:xfrm>
          <a:prstGeom prst="rect">
            <a:avLst/>
          </a:prstGeom>
          <a:noFill/>
        </p:spPr>
        <p:txBody>
          <a:bodyPr wrap="square">
            <a:spAutoFit/>
          </a:bodyPr>
          <a:lstStyle/>
          <a:p>
            <a:pPr algn="l"/>
            <a:r>
              <a:rPr sz="1400" b="1">
                <a:solidFill>
                  <a:srgbClr val="0F766E"/>
                </a:solidFill>
                <a:latin typeface="Helvetica"/>
              </a:rPr>
              <a:t>Duty calendar</a:t>
            </a:r>
          </a:p>
        </p:txBody>
      </p:sp>
      <p:sp>
        <p:nvSpPr>
          <p:cNvPr id="10" name="TextBox 9"/>
          <p:cNvSpPr txBox="1"/>
          <p:nvPr/>
        </p:nvSpPr>
        <p:spPr>
          <a:xfrm>
            <a:off x="6537960" y="2331720"/>
            <a:ext cx="4937760" cy="777240"/>
          </a:xfrm>
          <a:prstGeom prst="rect">
            <a:avLst/>
          </a:prstGeom>
          <a:noFill/>
        </p:spPr>
        <p:txBody>
          <a:bodyPr wrap="square">
            <a:spAutoFit/>
          </a:bodyPr>
          <a:lstStyle/>
          <a:p>
            <a:pPr algn="l"/>
            <a:r>
              <a:rPr sz="1100" b="0">
                <a:solidFill>
                  <a:srgbClr val="1A1A1A"/>
                </a:solidFill>
                <a:latin typeface="Helvetica"/>
              </a:rPr>
              <a:t>Month / week view of who's on duty. Approved leaves and custom shifts overlay clearly.</a:t>
            </a:r>
          </a:p>
        </p:txBody>
      </p:sp>
      <p:sp>
        <p:nvSpPr>
          <p:cNvPr id="11" name="Rounded Rectangle 10"/>
          <p:cNvSpPr/>
          <p:nvPr/>
        </p:nvSpPr>
        <p:spPr>
          <a:xfrm>
            <a:off x="731520" y="3337560"/>
            <a:ext cx="5394960" cy="1325880"/>
          </a:xfrm>
          <a:prstGeom prst="roundRect">
            <a:avLst/>
          </a:prstGeom>
          <a:solidFill>
            <a:srgbClr val="FFFFFF"/>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474720"/>
            <a:ext cx="4937760" cy="365760"/>
          </a:xfrm>
          <a:prstGeom prst="rect">
            <a:avLst/>
          </a:prstGeom>
          <a:noFill/>
        </p:spPr>
        <p:txBody>
          <a:bodyPr wrap="square">
            <a:spAutoFit/>
          </a:bodyPr>
          <a:lstStyle/>
          <a:p>
            <a:pPr algn="l"/>
            <a:r>
              <a:rPr sz="1400" b="1">
                <a:solidFill>
                  <a:srgbClr val="0F766E"/>
                </a:solidFill>
                <a:latin typeface="Helvetica"/>
              </a:rPr>
              <a:t>Leave + shift change requests</a:t>
            </a:r>
          </a:p>
        </p:txBody>
      </p:sp>
      <p:sp>
        <p:nvSpPr>
          <p:cNvPr id="13" name="TextBox 12"/>
          <p:cNvSpPr txBox="1"/>
          <p:nvPr/>
        </p:nvSpPr>
        <p:spPr>
          <a:xfrm>
            <a:off x="960120" y="3840480"/>
            <a:ext cx="4937760" cy="777240"/>
          </a:xfrm>
          <a:prstGeom prst="rect">
            <a:avLst/>
          </a:prstGeom>
          <a:noFill/>
        </p:spPr>
        <p:txBody>
          <a:bodyPr wrap="square">
            <a:spAutoFit/>
          </a:bodyPr>
          <a:lstStyle/>
          <a:p>
            <a:pPr algn="l"/>
            <a:r>
              <a:rPr sz="1100" b="0">
                <a:solidFill>
                  <a:srgbClr val="1A1A1A"/>
                </a:solidFill>
                <a:latin typeface="Helvetica"/>
              </a:rPr>
              <a:t>Nurse / doctor submits, owner approves. Approved leave automatically blocks the doctor's booking calendar.</a:t>
            </a:r>
          </a:p>
        </p:txBody>
      </p:sp>
      <p:sp>
        <p:nvSpPr>
          <p:cNvPr id="14" name="Rounded Rectangle 13"/>
          <p:cNvSpPr/>
          <p:nvPr/>
        </p:nvSpPr>
        <p:spPr>
          <a:xfrm>
            <a:off x="6309360" y="3337560"/>
            <a:ext cx="5394960" cy="1325880"/>
          </a:xfrm>
          <a:prstGeom prst="roundRect">
            <a:avLst/>
          </a:prstGeom>
          <a:solidFill>
            <a:srgbClr val="FFFFFF"/>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3474720"/>
            <a:ext cx="4937760" cy="365760"/>
          </a:xfrm>
          <a:prstGeom prst="rect">
            <a:avLst/>
          </a:prstGeom>
          <a:noFill/>
        </p:spPr>
        <p:txBody>
          <a:bodyPr wrap="square">
            <a:spAutoFit/>
          </a:bodyPr>
          <a:lstStyle/>
          <a:p>
            <a:pPr algn="l"/>
            <a:r>
              <a:rPr sz="1400" b="1">
                <a:solidFill>
                  <a:srgbClr val="0F766E"/>
                </a:solidFill>
                <a:latin typeface="Helvetica"/>
              </a:rPr>
              <a:t>Multi-role access</a:t>
            </a:r>
          </a:p>
        </p:txBody>
      </p:sp>
      <p:sp>
        <p:nvSpPr>
          <p:cNvPr id="16" name="TextBox 15"/>
          <p:cNvSpPr txBox="1"/>
          <p:nvPr/>
        </p:nvSpPr>
        <p:spPr>
          <a:xfrm>
            <a:off x="6537960" y="3840480"/>
            <a:ext cx="4937760" cy="777240"/>
          </a:xfrm>
          <a:prstGeom prst="rect">
            <a:avLst/>
          </a:prstGeom>
          <a:noFill/>
        </p:spPr>
        <p:txBody>
          <a:bodyPr wrap="square">
            <a:spAutoFit/>
          </a:bodyPr>
          <a:lstStyle/>
          <a:p>
            <a:pPr algn="l"/>
            <a:r>
              <a:rPr sz="1100" b="0">
                <a:solidFill>
                  <a:srgbClr val="1A1A1A"/>
                </a:solidFill>
                <a:latin typeface="Helvetica"/>
              </a:rPr>
              <a:t>Owner / nurse / doctor — each sees only what their role needs. Add or deactivate staff from the dashboard. Reset passwords.</a:t>
            </a:r>
          </a:p>
        </p:txBody>
      </p:sp>
      <p:sp>
        <p:nvSpPr>
          <p:cNvPr id="17" name="Rounded Rectangle 16"/>
          <p:cNvSpPr/>
          <p:nvPr/>
        </p:nvSpPr>
        <p:spPr>
          <a:xfrm>
            <a:off x="731520" y="4846320"/>
            <a:ext cx="5394960" cy="1325880"/>
          </a:xfrm>
          <a:prstGeom prst="roundRect">
            <a:avLst/>
          </a:prstGeom>
          <a:solidFill>
            <a:srgbClr val="FFFFFF"/>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983480"/>
            <a:ext cx="4937760" cy="365760"/>
          </a:xfrm>
          <a:prstGeom prst="rect">
            <a:avLst/>
          </a:prstGeom>
          <a:noFill/>
        </p:spPr>
        <p:txBody>
          <a:bodyPr wrap="square">
            <a:spAutoFit/>
          </a:bodyPr>
          <a:lstStyle/>
          <a:p>
            <a:pPr algn="l"/>
            <a:r>
              <a:rPr sz="1400" b="1">
                <a:solidFill>
                  <a:srgbClr val="0F766E"/>
                </a:solidFill>
                <a:latin typeface="Helvetica"/>
              </a:rPr>
              <a:t>WhatsApp templates</a:t>
            </a:r>
          </a:p>
        </p:txBody>
      </p:sp>
      <p:sp>
        <p:nvSpPr>
          <p:cNvPr id="19" name="TextBox 18"/>
          <p:cNvSpPr txBox="1"/>
          <p:nvPr/>
        </p:nvSpPr>
        <p:spPr>
          <a:xfrm>
            <a:off x="960120" y="5349240"/>
            <a:ext cx="4937760" cy="777240"/>
          </a:xfrm>
          <a:prstGeom prst="rect">
            <a:avLst/>
          </a:prstGeom>
          <a:noFill/>
        </p:spPr>
        <p:txBody>
          <a:bodyPr wrap="square">
            <a:spAutoFit/>
          </a:bodyPr>
          <a:lstStyle/>
          <a:p>
            <a:pPr algn="l"/>
            <a:r>
              <a:rPr sz="1100" b="0">
                <a:solidFill>
                  <a:srgbClr val="1A1A1A"/>
                </a:solidFill>
                <a:latin typeface="Helvetica"/>
              </a:rPr>
              <a:t>All 6 message templates editable per clinic, with placeholder reference and live preview.</a:t>
            </a:r>
          </a:p>
        </p:txBody>
      </p:sp>
      <p:sp>
        <p:nvSpPr>
          <p:cNvPr id="20" name="Rounded Rectangle 19"/>
          <p:cNvSpPr/>
          <p:nvPr/>
        </p:nvSpPr>
        <p:spPr>
          <a:xfrm>
            <a:off x="6309360" y="4846320"/>
            <a:ext cx="5394960" cy="1325880"/>
          </a:xfrm>
          <a:prstGeom prst="roundRect">
            <a:avLst/>
          </a:prstGeom>
          <a:solidFill>
            <a:srgbClr val="FFFFFF"/>
          </a:solidFill>
          <a:ln w="9525">
            <a:solidFill>
              <a:srgbClr val="7871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4983480"/>
            <a:ext cx="4937760" cy="365760"/>
          </a:xfrm>
          <a:prstGeom prst="rect">
            <a:avLst/>
          </a:prstGeom>
          <a:noFill/>
        </p:spPr>
        <p:txBody>
          <a:bodyPr wrap="square">
            <a:spAutoFit/>
          </a:bodyPr>
          <a:lstStyle/>
          <a:p>
            <a:pPr algn="l"/>
            <a:r>
              <a:rPr sz="1400" b="1">
                <a:solidFill>
                  <a:srgbClr val="0F766E"/>
                </a:solidFill>
                <a:latin typeface="Helvetica"/>
              </a:rPr>
              <a:t>Mobile-friendly</a:t>
            </a:r>
          </a:p>
        </p:txBody>
      </p:sp>
      <p:sp>
        <p:nvSpPr>
          <p:cNvPr id="22" name="TextBox 21"/>
          <p:cNvSpPr txBox="1"/>
          <p:nvPr/>
        </p:nvSpPr>
        <p:spPr>
          <a:xfrm>
            <a:off x="6537960" y="5349240"/>
            <a:ext cx="4937760" cy="777240"/>
          </a:xfrm>
          <a:prstGeom prst="rect">
            <a:avLst/>
          </a:prstGeom>
          <a:noFill/>
        </p:spPr>
        <p:txBody>
          <a:bodyPr wrap="square">
            <a:spAutoFit/>
          </a:bodyPr>
          <a:lstStyle/>
          <a:p>
            <a:pPr algn="l"/>
            <a:r>
              <a:rPr sz="1100" b="0">
                <a:solidFill>
                  <a:srgbClr val="1A1A1A"/>
                </a:solidFill>
                <a:latin typeface="Helvetica"/>
              </a:rPr>
              <a:t>Add to phone Home Screen for one-tap access. Calendar, queue, and reminders work on phone.</a:t>
            </a:r>
          </a:p>
        </p:txBody>
      </p:sp>
      <p:sp>
        <p:nvSpPr>
          <p:cNvPr id="23" name="TextBox 22"/>
          <p:cNvSpPr txBox="1"/>
          <p:nvPr/>
        </p:nvSpPr>
        <p:spPr>
          <a:xfrm>
            <a:off x="457200" y="6492240"/>
            <a:ext cx="5486400" cy="274320"/>
          </a:xfrm>
          <a:prstGeom prst="rect">
            <a:avLst/>
          </a:prstGeom>
          <a:noFill/>
        </p:spPr>
        <p:txBody>
          <a:bodyPr wrap="square">
            <a:spAutoFit/>
          </a:bodyPr>
          <a:lstStyle/>
          <a:p>
            <a:pPr algn="l"/>
            <a:r>
              <a:rPr sz="900" b="0">
                <a:solidFill>
                  <a:srgbClr val="78716C"/>
                </a:solidFill>
                <a:latin typeface="Helvetica"/>
              </a:rPr>
              <a:t>Goodcare Dental — Booking System Walkthrough</a:t>
            </a:r>
          </a:p>
        </p:txBody>
      </p:sp>
      <p:sp>
        <p:nvSpPr>
          <p:cNvPr id="24" name="TextBox 23"/>
          <p:cNvSpPr txBox="1"/>
          <p:nvPr/>
        </p:nvSpPr>
        <p:spPr>
          <a:xfrm>
            <a:off x="10817352" y="6492240"/>
            <a:ext cx="914400" cy="274320"/>
          </a:xfrm>
          <a:prstGeom prst="rect">
            <a:avLst/>
          </a:prstGeom>
          <a:noFill/>
        </p:spPr>
        <p:txBody>
          <a:bodyPr wrap="square">
            <a:spAutoFit/>
          </a:bodyPr>
          <a:lstStyle/>
          <a:p>
            <a:pPr algn="r"/>
            <a:r>
              <a:rPr sz="900" b="0">
                <a:solidFill>
                  <a:srgbClr val="78716C"/>
                </a:solidFill>
                <a:latin typeface="Helvetica"/>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6459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698480" cy="640080"/>
          </a:xfrm>
          <a:prstGeom prst="rect">
            <a:avLst/>
          </a:prstGeom>
          <a:noFill/>
        </p:spPr>
        <p:txBody>
          <a:bodyPr wrap="square">
            <a:spAutoFit/>
          </a:bodyPr>
          <a:lstStyle/>
          <a:p>
            <a:pPr algn="ctr"/>
            <a:r>
              <a:rPr sz="4400" b="1">
                <a:solidFill>
                  <a:srgbClr val="1A1A1A"/>
                </a:solidFill>
                <a:latin typeface="Helvetica"/>
              </a:rPr>
              <a:t>Q&amp;A</a:t>
            </a:r>
          </a:p>
        </p:txBody>
      </p:sp>
      <p:sp>
        <p:nvSpPr>
          <p:cNvPr id="4" name="TextBox 3"/>
          <p:cNvSpPr txBox="1"/>
          <p:nvPr/>
        </p:nvSpPr>
        <p:spPr>
          <a:xfrm>
            <a:off x="731520" y="2194560"/>
            <a:ext cx="10698480" cy="457200"/>
          </a:xfrm>
          <a:prstGeom prst="rect">
            <a:avLst/>
          </a:prstGeom>
          <a:noFill/>
        </p:spPr>
        <p:txBody>
          <a:bodyPr wrap="square">
            <a:spAutoFit/>
          </a:bodyPr>
          <a:lstStyle/>
          <a:p>
            <a:pPr algn="ctr"/>
            <a:r>
              <a:rPr sz="1800" b="0">
                <a:solidFill>
                  <a:srgbClr val="78716C"/>
                </a:solidFill>
                <a:latin typeface="Helvetica"/>
              </a:rPr>
              <a:t>What would you want to change for your clinic?</a:t>
            </a:r>
          </a:p>
        </p:txBody>
      </p:sp>
      <p:sp>
        <p:nvSpPr>
          <p:cNvPr id="5" name="Rounded Rectangle 4"/>
          <p:cNvSpPr/>
          <p:nvPr/>
        </p:nvSpPr>
        <p:spPr>
          <a:xfrm>
            <a:off x="608076" y="3657600"/>
            <a:ext cx="3474720" cy="20116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8076" y="3931920"/>
            <a:ext cx="3474720" cy="457200"/>
          </a:xfrm>
          <a:prstGeom prst="rect">
            <a:avLst/>
          </a:prstGeom>
          <a:noFill/>
        </p:spPr>
        <p:txBody>
          <a:bodyPr wrap="square">
            <a:spAutoFit/>
          </a:bodyPr>
          <a:lstStyle/>
          <a:p>
            <a:pPr algn="ctr"/>
            <a:r>
              <a:rPr sz="1800" b="1">
                <a:solidFill>
                  <a:srgbClr val="0F766E"/>
                </a:solidFill>
                <a:latin typeface="Helvetica"/>
              </a:rPr>
              <a:t>Cost</a:t>
            </a:r>
          </a:p>
        </p:txBody>
      </p:sp>
      <p:sp>
        <p:nvSpPr>
          <p:cNvPr id="7" name="TextBox 6"/>
          <p:cNvSpPr txBox="1"/>
          <p:nvPr/>
        </p:nvSpPr>
        <p:spPr>
          <a:xfrm>
            <a:off x="790956" y="4526280"/>
            <a:ext cx="3108960" cy="1097280"/>
          </a:xfrm>
          <a:prstGeom prst="rect">
            <a:avLst/>
          </a:prstGeom>
          <a:noFill/>
        </p:spPr>
        <p:txBody>
          <a:bodyPr wrap="square">
            <a:spAutoFit/>
          </a:bodyPr>
          <a:lstStyle/>
          <a:p>
            <a:pPr algn="ctr"/>
            <a:r>
              <a:rPr sz="1300" b="0">
                <a:solidFill>
                  <a:srgbClr val="1A1A1A"/>
                </a:solidFill>
                <a:latin typeface="Helvetica"/>
              </a:rPr>
              <a:t>Free for first 3 months, then RM 80/month
(less than one no-show).</a:t>
            </a:r>
          </a:p>
        </p:txBody>
      </p:sp>
      <p:sp>
        <p:nvSpPr>
          <p:cNvPr id="8" name="Rounded Rectangle 7"/>
          <p:cNvSpPr/>
          <p:nvPr/>
        </p:nvSpPr>
        <p:spPr>
          <a:xfrm>
            <a:off x="4357116" y="3657600"/>
            <a:ext cx="3474720" cy="20116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57116" y="3931920"/>
            <a:ext cx="3474720" cy="457200"/>
          </a:xfrm>
          <a:prstGeom prst="rect">
            <a:avLst/>
          </a:prstGeom>
          <a:noFill/>
        </p:spPr>
        <p:txBody>
          <a:bodyPr wrap="square">
            <a:spAutoFit/>
          </a:bodyPr>
          <a:lstStyle/>
          <a:p>
            <a:pPr algn="ctr"/>
            <a:r>
              <a:rPr sz="1800" b="1">
                <a:solidFill>
                  <a:srgbClr val="0F766E"/>
                </a:solidFill>
                <a:latin typeface="Helvetica"/>
              </a:rPr>
              <a:t>Setup</a:t>
            </a:r>
          </a:p>
        </p:txBody>
      </p:sp>
      <p:sp>
        <p:nvSpPr>
          <p:cNvPr id="10" name="TextBox 9"/>
          <p:cNvSpPr txBox="1"/>
          <p:nvPr/>
        </p:nvSpPr>
        <p:spPr>
          <a:xfrm>
            <a:off x="4539996" y="4526280"/>
            <a:ext cx="3108960" cy="1097280"/>
          </a:xfrm>
          <a:prstGeom prst="rect">
            <a:avLst/>
          </a:prstGeom>
          <a:noFill/>
        </p:spPr>
        <p:txBody>
          <a:bodyPr wrap="square">
            <a:spAutoFit/>
          </a:bodyPr>
          <a:lstStyle/>
          <a:p>
            <a:pPr algn="ctr"/>
            <a:r>
              <a:rPr sz="1300" b="0">
                <a:solidFill>
                  <a:srgbClr val="1A1A1A"/>
                </a:solidFill>
                <a:latin typeface="Helvetica"/>
              </a:rPr>
              <a:t>We migrate your existing patients
and doctor schedules in 1 day.</a:t>
            </a:r>
          </a:p>
        </p:txBody>
      </p:sp>
      <p:sp>
        <p:nvSpPr>
          <p:cNvPr id="11" name="Rounded Rectangle 10"/>
          <p:cNvSpPr/>
          <p:nvPr/>
        </p:nvSpPr>
        <p:spPr>
          <a:xfrm>
            <a:off x="8106156" y="3657600"/>
            <a:ext cx="3474720" cy="201168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06156" y="3931920"/>
            <a:ext cx="3474720" cy="457200"/>
          </a:xfrm>
          <a:prstGeom prst="rect">
            <a:avLst/>
          </a:prstGeom>
          <a:noFill/>
        </p:spPr>
        <p:txBody>
          <a:bodyPr wrap="square">
            <a:spAutoFit/>
          </a:bodyPr>
          <a:lstStyle/>
          <a:p>
            <a:pPr algn="ctr"/>
            <a:r>
              <a:rPr sz="1800" b="1">
                <a:solidFill>
                  <a:srgbClr val="0F766E"/>
                </a:solidFill>
                <a:latin typeface="Helvetica"/>
              </a:rPr>
              <a:t>Risk</a:t>
            </a:r>
          </a:p>
        </p:txBody>
      </p:sp>
      <p:sp>
        <p:nvSpPr>
          <p:cNvPr id="13" name="TextBox 12"/>
          <p:cNvSpPr txBox="1"/>
          <p:nvPr/>
        </p:nvSpPr>
        <p:spPr>
          <a:xfrm>
            <a:off x="8289036" y="4526280"/>
            <a:ext cx="3108960" cy="1097280"/>
          </a:xfrm>
          <a:prstGeom prst="rect">
            <a:avLst/>
          </a:prstGeom>
          <a:noFill/>
        </p:spPr>
        <p:txBody>
          <a:bodyPr wrap="square">
            <a:spAutoFit/>
          </a:bodyPr>
          <a:lstStyle/>
          <a:p>
            <a:pPr algn="ctr"/>
            <a:r>
              <a:rPr sz="1300" b="0">
                <a:solidFill>
                  <a:srgbClr val="1A1A1A"/>
                </a:solidFill>
                <a:latin typeface="Helvetica"/>
              </a:rPr>
              <a:t>Walk away anytime —
your data exports as CSV.</a:t>
            </a:r>
          </a:p>
        </p:txBody>
      </p:sp>
      <p:sp>
        <p:nvSpPr>
          <p:cNvPr id="14" name="TextBox 13"/>
          <p:cNvSpPr txBox="1"/>
          <p:nvPr/>
        </p:nvSpPr>
        <p:spPr>
          <a:xfrm>
            <a:off x="457200" y="6492240"/>
            <a:ext cx="5486400" cy="274320"/>
          </a:xfrm>
          <a:prstGeom prst="rect">
            <a:avLst/>
          </a:prstGeom>
          <a:noFill/>
        </p:spPr>
        <p:txBody>
          <a:bodyPr wrap="square">
            <a:spAutoFit/>
          </a:bodyPr>
          <a:lstStyle/>
          <a:p>
            <a:pPr algn="l"/>
            <a:r>
              <a:rPr sz="900" b="0">
                <a:solidFill>
                  <a:srgbClr val="78716C"/>
                </a:solidFill>
                <a:latin typeface="Helvetica"/>
              </a:rPr>
              <a:t>Goodcare Dental — Booking System Walkthrough</a:t>
            </a:r>
          </a:p>
        </p:txBody>
      </p:sp>
      <p:sp>
        <p:nvSpPr>
          <p:cNvPr id="15" name="TextBox 14"/>
          <p:cNvSpPr txBox="1"/>
          <p:nvPr/>
        </p:nvSpPr>
        <p:spPr>
          <a:xfrm>
            <a:off x="10817352" y="6492240"/>
            <a:ext cx="914400" cy="274320"/>
          </a:xfrm>
          <a:prstGeom prst="rect">
            <a:avLst/>
          </a:prstGeom>
          <a:noFill/>
        </p:spPr>
        <p:txBody>
          <a:bodyPr wrap="square">
            <a:spAutoFit/>
          </a:bodyPr>
          <a:lstStyle/>
          <a:p>
            <a:pPr algn="r"/>
            <a:r>
              <a:rPr sz="900" b="0">
                <a:solidFill>
                  <a:srgbClr val="78716C"/>
                </a:solidFill>
                <a:latin typeface="Helvetica"/>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